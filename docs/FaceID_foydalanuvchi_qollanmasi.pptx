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73975" y="0"/>
            <a:ext cx="10972" cy="6858000"/>
          </a:xfrm>
          <a:prstGeom prst="rect">
            <a:avLst/>
          </a:prstGeom>
          <a:solidFill>
            <a:srgbClr val="16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31175" y="1766216"/>
            <a:ext cx="3246120" cy="332556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279400" dist="76200" dir="5400000" rotWithShape="0">
              <a:srgbClr val="0B122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s01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191" y="1894232"/>
            <a:ext cx="2990087" cy="3069534"/>
          </a:xfrm>
          <a:prstGeom prst="roundRect">
            <a:avLst>
              <a:gd name="adj" fmla="val 1799"/>
            </a:avLst>
          </a:prstGeom>
          <a:ln w="6350">
            <a:solidFill>
              <a:srgbClr val="E3E8EF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713232" y="1371600"/>
            <a:ext cx="2788920" cy="365760"/>
          </a:xfrm>
          <a:prstGeom prst="roundRect">
            <a:avLst>
              <a:gd name="adj" fmla="val 50000"/>
            </a:avLst>
          </a:prstGeom>
          <a:solidFill>
            <a:srgbClr val="1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63040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6EE7B7"/>
                </a:solidFill>
                <a:latin typeface="Segoe UI"/>
              </a:rPr>
              <a:t>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84831"/>
            <a:ext cx="69494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FaceID · Davomat
platformasi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931920"/>
            <a:ext cx="1371600" cy="54864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4224528"/>
            <a:ext cx="6675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C3CFDE"/>
                </a:solidFill>
                <a:latin typeface="Segoe UI"/>
              </a:rPr>
              <a:t>Imtihon markazi operatori, viloyat vakili va markaz xodimi uchun
to'liq foydalanuvchi qo'llanmasi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5230368"/>
            <a:ext cx="1506931" cy="329184"/>
          </a:xfrm>
          <a:prstGeom prst="roundRect">
            <a:avLst>
              <a:gd name="adj" fmla="val 50000"/>
            </a:avLst>
          </a:prstGeom>
          <a:solidFill>
            <a:srgbClr val="16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5303520"/>
            <a:ext cx="15069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Desktop client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66467" y="5230368"/>
            <a:ext cx="1281988" cy="329184"/>
          </a:xfrm>
          <a:prstGeom prst="roundRect">
            <a:avLst>
              <a:gd name="adj" fmla="val 50000"/>
            </a:avLst>
          </a:prstGeom>
          <a:solidFill>
            <a:srgbClr val="16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66467" y="5303520"/>
            <a:ext cx="12819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67E8F9"/>
                </a:solidFill>
                <a:latin typeface="Segoe UI"/>
              </a:rPr>
              <a:t>Davomat bot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94760" y="5230368"/>
            <a:ext cx="1281988" cy="329184"/>
          </a:xfrm>
          <a:prstGeom prst="roundRect">
            <a:avLst>
              <a:gd name="adj" fmla="val 50000"/>
            </a:avLst>
          </a:prstGeom>
          <a:solidFill>
            <a:srgbClr val="16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60" y="5303520"/>
            <a:ext cx="12819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6EE7B7"/>
                </a:solidFill>
                <a:latin typeface="Segoe UI"/>
              </a:rPr>
              <a:t>Admin panel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8978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Bilim va malakalarni baholash agentligi   |   Ichki foydalanish uchun   |   2026-yil, sentabr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D8B5E"/>
                </a:solidFill>
                <a:latin typeface="Segoe UI"/>
              </a:rPr>
              <a:t>MUNDARIJA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Qo'llanma tarkibi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Qo'llanma uchta asosiy bo'limdan iborat. Avval o'z ish o'rningizga tegishli bo'limni o'qing.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3417722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65376"/>
            <a:ext cx="45720" cy="1673351"/>
          </a:xfrm>
          <a:prstGeom prst="rect">
            <a:avLst/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874520"/>
            <a:ext cx="300624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1938528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DD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048256"/>
            <a:ext cx="5120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D62D6"/>
                </a:solidFill>
                <a:latin typeface="Segoe U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578608"/>
            <a:ext cx="296052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0B1220"/>
                </a:solidFill>
                <a:latin typeface="Segoe UI"/>
              </a:rPr>
              <a:t>Desktop client (FaceID dasturi)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035808"/>
            <a:ext cx="296052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Imtihon markazidagi kompyuterda: ma'lumot yuklash, yuz orqali identifikatsiya, davomat, statistika va ro'yxatlar.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6986" y="1719072"/>
            <a:ext cx="3417722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6986" y="1865376"/>
            <a:ext cx="45720" cy="1673351"/>
          </a:xfrm>
          <a:prstGeom prst="rect">
            <a:avLst/>
          </a:prstGeom>
          <a:solidFill>
            <a:srgbClr val="0E8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4730" y="1874520"/>
            <a:ext cx="300624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24730" y="1938528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DC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24730" y="2048256"/>
            <a:ext cx="5120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87C4"/>
                </a:solidFill>
                <a:latin typeface="Segoe U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4730" y="2578608"/>
            <a:ext cx="296052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0B1220"/>
                </a:solidFill>
                <a:latin typeface="Segoe UI"/>
              </a:rPr>
              <a:t>Davomat bot (Telegram)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4730" y="3035808"/>
            <a:ext cx="296052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Telefon orqali: davomat statistikasi, kelmaganlar ro'yxati (Excel), Face ID tekshiruvi va chetlatish.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0740" y="1719072"/>
            <a:ext cx="3417722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60740" y="1865376"/>
            <a:ext cx="45720" cy="1673351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98484" y="1874520"/>
            <a:ext cx="300624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8484" y="1938528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DC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8484" y="2048256"/>
            <a:ext cx="5120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D8B5E"/>
                </a:solidFill>
                <a:latin typeface="Segoe U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8484" y="2578608"/>
            <a:ext cx="296052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0B1220"/>
                </a:solidFill>
                <a:latin typeface="Segoe UI"/>
              </a:rPr>
              <a:t>Admin panel (web)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8484" y="3035808"/>
            <a:ext cx="296052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Brauzerda: talabgorlar ro'yxati, filtrlar, hisobotlar, davomat, loglar va qo'shimcha xizmatlar.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3858768"/>
            <a:ext cx="5254599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4005072"/>
            <a:ext cx="45720" cy="713232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" y="4014215"/>
            <a:ext cx="48431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Umumiy tushuncha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" y="4325112"/>
            <a:ext cx="48431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Tizim nima qiladi, kim qaysi vositadan foydalanadi, asosiy atamalar va imtihon sessiyasining bosqichlari.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23863" y="3858768"/>
            <a:ext cx="5254599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23863" y="4005072"/>
            <a:ext cx="45720" cy="713232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61607" y="4014215"/>
            <a:ext cx="48431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Kundalik tartib va yordam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1607" y="4325112"/>
            <a:ext cx="48431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Imtihon kuni cheklisti, tez-tez uchraydigan holatlar va ularning yechimi, xavfsizlik qoidalari.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" y="5093208"/>
            <a:ext cx="10765231" cy="731520"/>
          </a:xfrm>
          <a:prstGeom prst="roundRect">
            <a:avLst>
              <a:gd name="adj" fmla="val 7000"/>
            </a:avLst>
          </a:prstGeom>
          <a:solidFill>
            <a:srgbClr val="DC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13232" y="5093208"/>
            <a:ext cx="54864" cy="731520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9264" y="522122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D8B5E"/>
                </a:solidFill>
                <a:latin typeface="Segoe UI"/>
              </a:rPr>
              <a:t>ESLATMA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" y="5458968"/>
            <a:ext cx="102623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0B1220"/>
                </a:solidFill>
                <a:latin typeface="Segoe UI"/>
              </a:rPr>
              <a:t>Qo'llanmadagi barcha tugma va bo'lim nomlari dasturdagi haqiqiy nomlar bilan bir xil, ekran suratlari esa real tizimdan olingan.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D8B5E"/>
                </a:solidFill>
                <a:latin typeface="Segoe UI"/>
              </a:rPr>
              <a:t>UMUMIY TUSHUNCHA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Tizim nima qiladi?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FaceID — imtihon sessiyalarida talabgorni yuzi orqali tanib, davomatni avtomatik yurituvchi platforma. Uchta vosita, bitta markaziy baza.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45920"/>
            <a:ext cx="5230368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92224"/>
            <a:ext cx="45720" cy="1581911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801368"/>
            <a:ext cx="4818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Admin panel (web)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" y="2249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3584" y="2157984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Talabgorlar ro'yxati va filtrlar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" y="25603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3584" y="2468879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Hisobotlar: Excel / PDF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" y="2871215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43584" y="2779775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Davomat real vaqtda — hududlar va binolar kesimida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" y="3182111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43584" y="3090671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Loglar va ma'lumotnomalar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703320"/>
            <a:ext cx="523036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849624"/>
            <a:ext cx="45720" cy="1124712"/>
          </a:xfrm>
          <a:prstGeom prst="rect">
            <a:avLst/>
          </a:prstGeom>
          <a:solidFill>
            <a:srgbClr val="0E8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3858768"/>
            <a:ext cx="4818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Davomat bot (Telegram)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4169663"/>
            <a:ext cx="481888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Telefonda, joyidagi xodim uchun: davomat statistikasi, kelmaganlar ro'yxati, Face ID tekshiruvi va chetlatish.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1645920"/>
            <a:ext cx="5239512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1792224"/>
            <a:ext cx="45720" cy="3182112"/>
          </a:xfrm>
          <a:prstGeom prst="rect">
            <a:avLst/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1801368"/>
            <a:ext cx="4828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Desktop client (imtihon markazi)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55664" y="2249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9984" y="2157984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Har bir binoning kirishida o'rnatilgan kompyuterda ishlaydi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55664" y="27249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9984" y="2633472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Web-kamera orqali talabgor yuzini identifikatsiya qiladi va davomatni belgilaydi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55664" y="32004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9984" y="3108960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Binoga kirishda va test jarayonida chetlatishni rasmiylashtiradi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55664" y="3675887"/>
            <a:ext cx="91440" cy="91440"/>
          </a:xfrm>
          <a:prstGeom prst="roundRect">
            <a:avLst>
              <a:gd name="adj" fmla="val 50000"/>
            </a:avLst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9984" y="358444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Viloyat va binolar kesimida kelgan/kelmaganlar statistikasi — real vaqtda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55664" y="4151376"/>
            <a:ext cx="91440" cy="91440"/>
          </a:xfrm>
          <a:prstGeom prst="roundRect">
            <a:avLst>
              <a:gd name="adj" fmla="val 50000"/>
            </a:avLst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9984" y="4059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Eski pasport ma'lumoti bo'lsa, yangi ID Card bo'yicha «bir-bir» tekshiruv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55664" y="4626864"/>
            <a:ext cx="91440" cy="91440"/>
          </a:xfrm>
          <a:prstGeom prst="roundRect">
            <a:avLst>
              <a:gd name="adj" fmla="val 50000"/>
            </a:avLst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9984" y="4535424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«Davomat» bo'limida guruh bo'yicha kelmaganlar soni va ro'yxati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3232" y="5486400"/>
            <a:ext cx="10765231" cy="658368"/>
          </a:xfrm>
          <a:prstGeom prst="roundRect">
            <a:avLst>
              <a:gd name="adj" fmla="val 7000"/>
            </a:avLst>
          </a:prstGeom>
          <a:solidFill>
            <a:srgbClr val="DC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3232" y="5486400"/>
            <a:ext cx="54864" cy="658368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9264" y="561441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D8B5E"/>
                </a:solidFill>
                <a:latin typeface="Segoe UI"/>
              </a:rPr>
              <a:t>MUHIM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" y="5852160"/>
            <a:ext cx="10262311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B1220"/>
                </a:solidFill>
                <a:latin typeface="Segoe UI"/>
              </a:rPr>
              <a:t>Hammasi bitta serverga ulanadi: desktopda yoki botda belgilangan davomat bir necha soniyada admin panelda ham ko'rinadi.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D8B5E"/>
                </a:solidFill>
                <a:latin typeface="Segoe UI"/>
              </a:rPr>
              <a:t>ROLLAR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Kim qaysi vositadan foydalanadi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Sizga kerak bo'lgan vosita ish o'rningizga bog'liq. Quyidagi jadvaldan o'zingizga mos qatorni toping.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1645920"/>
          <a:ext cx="10725912" cy="23957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80360"/>
                <a:gridCol w="2788920"/>
                <a:gridCol w="5056632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Rol</a:t>
                      </a:r>
                    </a:p>
                  </a:txBody>
                  <a:tcPr marL="137160" marR="91440" marT="45720" marB="45720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Asosiy vosita</a:t>
                      </a:r>
                    </a:p>
                  </a:txBody>
                  <a:tcPr marL="137160" marR="91440" marT="45720" marB="45720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Nima qiladi</a:t>
                      </a:r>
                    </a:p>
                  </a:txBody>
                  <a:tcPr marL="137160" marR="91440" marT="45720" marB="45720" anchor="ctr">
                    <a:solidFill>
                      <a:srgbClr val="0B122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0B1220"/>
                          </a:solidFill>
                          <a:latin typeface="Segoe UI"/>
                        </a:rPr>
                        <a:t>Imtihon markazi operatori</a:t>
                      </a:r>
                    </a:p>
                  </a:txBody>
                  <a:tcPr marL="13716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Desktop client (FaceID dasturi)</a:t>
                      </a:r>
                    </a:p>
                  </a:txBody>
                  <a:tcPr marL="13716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Kirishda ID karta va yuz tekshiruvi, davomatni belgilash, serverga yuborish</a:t>
                      </a:r>
                    </a:p>
                  </a:txBody>
                  <a:tcPr marL="137160" marR="91440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0B1220"/>
                          </a:solidFill>
                          <a:latin typeface="Segoe UI"/>
                        </a:rPr>
                        <a:t>Viloyat vakili / xodimi</a:t>
                      </a:r>
                    </a:p>
                  </a:txBody>
                  <a:tcPr marL="13716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Davomat bot (Telegram)</a:t>
                      </a:r>
                    </a:p>
                  </a:txBody>
                  <a:tcPr marL="13716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Joyida davomat statistikasi, kelmaganlar ro'yxati (Excel), Face ID, chetlatish</a:t>
                      </a:r>
                    </a:p>
                  </a:txBody>
                  <a:tcPr marL="137160" marR="91440" marT="45720" marB="45720" anchor="ctr">
                    <a:solidFill>
                      <a:srgbClr val="F8FAF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0B1220"/>
                          </a:solidFill>
                          <a:latin typeface="Segoe UI"/>
                        </a:rPr>
                        <a:t>Markaz xodimi, analitik</a:t>
                      </a:r>
                    </a:p>
                  </a:txBody>
                  <a:tcPr marL="13716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Admin panel (web)</a:t>
                      </a:r>
                    </a:p>
                  </a:txBody>
                  <a:tcPr marL="13716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Talabgorlarni qidirish va filtrlash, hisobotlarni yuklab olish, loglarni ko'rish</a:t>
                      </a:r>
                    </a:p>
                  </a:txBody>
                  <a:tcPr marL="13716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13232" y="4251960"/>
            <a:ext cx="10765231" cy="822960"/>
          </a:xfrm>
          <a:prstGeom prst="roundRect">
            <a:avLst>
              <a:gd name="adj" fmla="val 7000"/>
            </a:avLst>
          </a:prstGeom>
          <a:solidFill>
            <a:srgbClr val="DC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4251960"/>
            <a:ext cx="54864" cy="822960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437997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D8B5E"/>
                </a:solidFill>
                <a:latin typeface="Segoe UI"/>
              </a:rPr>
              <a:t>ESLATMA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4617720"/>
            <a:ext cx="102623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0B1220"/>
                </a:solidFill>
                <a:latin typeface="Segoe UI"/>
              </a:rPr>
              <a:t>Bir xodim bir nechta vositadan foydalanishi mumkin — masalan, viloyat vakili ham botdan, ham admin paneldan. Ruxsatlar har bir vosita uchun alohida beriladi.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5212080"/>
            <a:ext cx="10765231" cy="749808"/>
          </a:xfrm>
          <a:prstGeom prst="roundRect">
            <a:avLst>
              <a:gd name="adj" fmla="val 7000"/>
            </a:avLst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5212080"/>
            <a:ext cx="54864" cy="74980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534009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45309"/>
                </a:solidFill>
                <a:latin typeface="Segoe UI"/>
              </a:rPr>
              <a:t>KIRISH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5577840"/>
            <a:ext cx="10262311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0B1220"/>
                </a:solidFill>
                <a:latin typeface="Segoe UI"/>
              </a:rPr>
              <a:t>Har bir vositaga kirish shaxsiy: desktop va panel uchun login/parol, bot uchun esa sizning Telegram akkauntingiz.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D8B5E"/>
                </a:solidFill>
                <a:latin typeface="Segoe UI"/>
              </a:rPr>
              <a:t>LUG'AT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Asosiy atamalar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Bu so'zlar barcha ekranlarda uchraydi — ma'nosini bir marta tushunib olsangiz, qolgani oson.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627632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B1220"/>
                </a:solidFill>
                <a:latin typeface="Segoe UI"/>
              </a:rPr>
              <a:t>Talabgor — </a:t>
            </a:r>
            <a:r>
              <a:rPr sz="1200" b="0" i="0">
                <a:solidFill>
                  <a:srgbClr val="475569"/>
                </a:solidFill>
                <a:latin typeface="Segoe UI"/>
              </a:rPr>
              <a:t>imtihonga ro'yxatdan o'tgan shaxs; JShShIR bo'yicha aniqlanadi.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2677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176272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B1220"/>
                </a:solidFill>
                <a:latin typeface="Segoe UI"/>
              </a:rPr>
              <a:t>Test sessiyasi — </a:t>
            </a:r>
            <a:r>
              <a:rPr sz="1200" b="0" i="0">
                <a:solidFill>
                  <a:srgbClr val="475569"/>
                </a:solidFill>
                <a:latin typeface="Segoe UI"/>
              </a:rPr>
              <a:t>bitta imtihon tadbiri (masalan, CEFR-2026).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81635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724912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B1220"/>
                </a:solidFill>
                <a:latin typeface="Segoe UI"/>
              </a:rPr>
              <a:t>Smena — </a:t>
            </a:r>
            <a:r>
              <a:rPr sz="1200" b="0" i="0">
                <a:solidFill>
                  <a:srgbClr val="475569"/>
                </a:solidFill>
                <a:latin typeface="Segoe UI"/>
              </a:rPr>
              <a:t>imtihon kuni va vaqti: 1-smena, 2-smena.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36499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273552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B1220"/>
                </a:solidFill>
                <a:latin typeface="Segoe UI"/>
              </a:rPr>
              <a:t>Bino — </a:t>
            </a:r>
            <a:r>
              <a:rPr sz="1200" b="0" i="0">
                <a:solidFill>
                  <a:srgbClr val="475569"/>
                </a:solidFill>
                <a:latin typeface="Segoe UI"/>
              </a:rPr>
              <a:t>imtihon o'tkaziladigan joy; har bino bitta viloyatga tegishli.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9136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822192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B1220"/>
                </a:solidFill>
                <a:latin typeface="Segoe UI"/>
              </a:rPr>
              <a:t>Guruh va o'rin — </a:t>
            </a:r>
            <a:r>
              <a:rPr sz="1200" b="0" i="0">
                <a:solidFill>
                  <a:srgbClr val="475569"/>
                </a:solidFill>
                <a:latin typeface="Segoe UI"/>
              </a:rPr>
              <a:t>talabgorning guruh raqami va o'tirish joyi.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91072" y="17190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1627632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B1220"/>
                </a:solidFill>
                <a:latin typeface="Segoe UI"/>
              </a:rPr>
              <a:t>JShShIR (PINFL) — </a:t>
            </a:r>
            <a:r>
              <a:rPr sz="1200" b="0" i="0">
                <a:solidFill>
                  <a:srgbClr val="475569"/>
                </a:solidFill>
                <a:latin typeface="Segoe UI"/>
              </a:rPr>
              <a:t>14 xonali shaxsiy identifikatsiya raqami.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22677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2176272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B1220"/>
                </a:solidFill>
                <a:latin typeface="Segoe UI"/>
              </a:rPr>
              <a:t>Embedding — </a:t>
            </a:r>
            <a:r>
              <a:rPr sz="1200" b="0" i="0">
                <a:solidFill>
                  <a:srgbClr val="475569"/>
                </a:solidFill>
                <a:latin typeface="Segoe UI"/>
              </a:rPr>
              <a:t>yuzning raqamli "barmoq izi"; solishtirish shu asosda bo'ladi.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91072" y="281635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2724912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B1220"/>
                </a:solidFill>
                <a:latin typeface="Segoe UI"/>
              </a:rPr>
              <a:t>Keldi — </a:t>
            </a:r>
            <a:r>
              <a:rPr sz="1200" b="0" i="0">
                <a:solidFill>
                  <a:srgbClr val="475569"/>
                </a:solidFill>
                <a:latin typeface="Segoe UI"/>
              </a:rPr>
              <a:t>talabgor binoga kirgani belgisi; davomat shu belgidan yig'iladi.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91072" y="336499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3273552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B1220"/>
                </a:solidFill>
                <a:latin typeface="Segoe UI"/>
              </a:rPr>
              <a:t>Sync — </a:t>
            </a:r>
            <a:r>
              <a:rPr sz="1200" b="0" i="0">
                <a:solidFill>
                  <a:srgbClr val="475569"/>
                </a:solidFill>
                <a:latin typeface="Segoe UI"/>
              </a:rPr>
              <a:t>local ma'lumotni markaziy serverga yuborish.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2" y="39136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3822192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B1220"/>
                </a:solidFill>
                <a:latin typeface="Segoe UI"/>
              </a:rPr>
              <a:t>Chetlatish — </a:t>
            </a:r>
            <a:r>
              <a:rPr sz="1200" b="0" i="0">
                <a:solidFill>
                  <a:srgbClr val="475569"/>
                </a:solidFill>
                <a:latin typeface="Segoe UI"/>
              </a:rPr>
              <a:t>qoida buzilishi sababli imtihondan chetlatish, sababi bilan.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4617720"/>
            <a:ext cx="10765231" cy="777240"/>
          </a:xfrm>
          <a:prstGeom prst="roundRect">
            <a:avLst>
              <a:gd name="adj" fmla="val 7000"/>
            </a:avLst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3232" y="4617720"/>
            <a:ext cx="54864" cy="7772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" y="474573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45309"/>
                </a:solidFill>
                <a:latin typeface="Segoe UI"/>
              </a:rPr>
              <a:t>MASLAHAT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" y="4983480"/>
            <a:ext cx="1026231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0B1220"/>
                </a:solidFill>
                <a:latin typeface="Segoe UI"/>
              </a:rPr>
              <a:t>Talabgorni qidirishda eng ishonchli yo'l — JShShIR. Familiya bo'yicha qidiruvda bir xil ismlar ko'p chiqishi mumkin.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D8B5E"/>
                </a:solidFill>
                <a:latin typeface="Segoe UI"/>
              </a:rPr>
              <a:t>JARAYON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Imtihon sessiyasi qanday bosqichlardan o'tadi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Davomat faqat FAOL sessiyada olinadi. Desktop ham, bot ham faqat faol sessiyani ko'radi.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45920"/>
            <a:ext cx="1977481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645920"/>
            <a:ext cx="1977481" cy="548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18836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395728"/>
            <a:ext cx="157514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220"/>
                </a:solidFill>
                <a:latin typeface="Segoe UI"/>
              </a:rPr>
              <a:t>Yaratildi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688336"/>
            <a:ext cx="157514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Sessiya ochildi: test, sana va smenalar belgilandi.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10169" y="1645920"/>
            <a:ext cx="1977481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10169" y="1645920"/>
            <a:ext cx="1977481" cy="548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111337" y="18836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11337" y="1965960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1337" y="2395728"/>
            <a:ext cx="157514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220"/>
                </a:solidFill>
                <a:latin typeface="Segoe UI"/>
              </a:rPr>
              <a:t>Yuklanmoqda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11337" y="2688336"/>
            <a:ext cx="157514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Talabgorlar ro'yxati tashqi tizimlardan yuklanmoqda.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07106" y="1645920"/>
            <a:ext cx="1977481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07106" y="1645920"/>
            <a:ext cx="1977481" cy="548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308274" y="18836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8274" y="1965960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8274" y="2395728"/>
            <a:ext cx="157514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220"/>
                </a:solidFill>
                <a:latin typeface="Segoe UI"/>
              </a:rPr>
              <a:t>Embedding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8274" y="2688336"/>
            <a:ext cx="157514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Har bir talabgor rasmidan yuz shabloni olinmoqda.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04044" y="1645920"/>
            <a:ext cx="1977481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04044" y="1645920"/>
            <a:ext cx="1977481" cy="54864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505212" y="18836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DC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5212" y="1965960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D8B5E"/>
                </a:solidFill>
                <a:latin typeface="Segoe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05212" y="2395728"/>
            <a:ext cx="157514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220"/>
                </a:solidFill>
                <a:latin typeface="Segoe UI"/>
              </a:rPr>
              <a:t>Faol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05212" y="2688336"/>
            <a:ext cx="157514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Imtihon kuni: davomat olinadi, desktop va bot ishlaydi.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0981" y="1645920"/>
            <a:ext cx="1977481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0981" y="1645920"/>
            <a:ext cx="1977481" cy="548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02149" y="18836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02149" y="1965960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02149" y="2395728"/>
            <a:ext cx="157514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220"/>
                </a:solidFill>
                <a:latin typeface="Segoe UI"/>
              </a:rPr>
              <a:t>Yakunlandi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02149" y="2688336"/>
            <a:ext cx="157514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Sessiya yopildi, ma'lumot hisobot uchun qoladi.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3232" y="3611880"/>
            <a:ext cx="10765231" cy="777240"/>
          </a:xfrm>
          <a:prstGeom prst="roundRect">
            <a:avLst>
              <a:gd name="adj" fmla="val 7000"/>
            </a:avLst>
          </a:prstGeom>
          <a:solidFill>
            <a:srgbClr val="DC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3232" y="3611880"/>
            <a:ext cx="54864" cy="777240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9264" y="373989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D8B5E"/>
                </a:solidFill>
                <a:latin typeface="Segoe UI"/>
              </a:rPr>
              <a:t>MUHIM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" y="3977640"/>
            <a:ext cx="1026231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0B1220"/>
                </a:solidFill>
                <a:latin typeface="Segoe UI"/>
              </a:rPr>
              <a:t>Sessiya FAOL holatga o'tishi uchun barcha talabgor «tayyor» bo'lishi shart (rasmi va yuz shabloni bor). Shuning uchun rasm yuklash ishlari imtihondan oldin tugatiladi.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3232" y="4572000"/>
            <a:ext cx="10765231" cy="777240"/>
          </a:xfrm>
          <a:prstGeom prst="roundRect">
            <a:avLst>
              <a:gd name="adj" fmla="val 7000"/>
            </a:avLst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3232" y="4572000"/>
            <a:ext cx="54864" cy="7772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9264" y="470001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45309"/>
                </a:solidFill>
                <a:latin typeface="Segoe UI"/>
              </a:rPr>
              <a:t>TEZ-TEZ SO'RALADI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" y="4937760"/>
            <a:ext cx="1026231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0B1220"/>
                </a:solidFill>
                <a:latin typeface="Segoe UI"/>
              </a:rPr>
              <a:t>Dasturda yoki botda «faol test tadbiri yo'q» deb chiqsa — sessiya hali faollashtirilmagan yoki allaqachon yakunlangan. Bu xato emas; mas'ul xodimga murojaat qiling.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09360" y="0"/>
            <a:ext cx="10972" cy="6858000"/>
          </a:xfrm>
          <a:prstGeom prst="rect">
            <a:avLst/>
          </a:prstGeom>
          <a:solidFill>
            <a:srgbClr val="16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024128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0" b="1" i="0">
                <a:solidFill>
                  <a:srgbClr val="1A263A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" y="2697480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FFFFF"/>
                </a:solidFill>
                <a:latin typeface="Segoe UI"/>
              </a:rPr>
              <a:t>Desktop client
(FaceID dasturi)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" y="4160520"/>
            <a:ext cx="1097280" cy="45720"/>
          </a:xfrm>
          <a:prstGeom prst="rect">
            <a:avLst/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443484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DDEAFC"/>
                </a:solidFill>
                <a:latin typeface="Segoe UI"/>
              </a:rPr>
              <a:t>Imtihon markazidagi kirish nazorati dasturi — kundalik ish tartibi bosqichma-bosqich.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1417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4748B"/>
                </a:solidFill>
                <a:latin typeface="Segoe UI"/>
              </a:rPr>
              <a:t>BU BO'LIMDA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84708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6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892807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D62D6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82880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3CFDE"/>
                </a:solidFill>
                <a:latin typeface="Segoe UI"/>
              </a:rPr>
              <a:t>Dasturga kirish va ma'lumotlarni yuklab olish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250545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6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551175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D62D6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487168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3CFDE"/>
                </a:solidFill>
                <a:latin typeface="Segoe UI"/>
              </a:rPr>
              <a:t>Bino, test tadbiri va smenani tanlash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163823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6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3209543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D62D6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145535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3CFDE"/>
                </a:solidFill>
                <a:latin typeface="Segoe UI"/>
              </a:rPr>
              <a:t>Online / offline rejim va kamerani ishga tushirish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3822191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6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3867911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D62D6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803903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3CFDE"/>
                </a:solidFill>
                <a:latin typeface="Segoe UI"/>
              </a:rPr>
              <a:t>Yuz aniqlanishining uch holati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480559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6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4526279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D62D6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462271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3CFDE"/>
                </a:solidFill>
                <a:latin typeface="Segoe UI"/>
              </a:rPr>
              <a:t>JShShIR, 1x1, Statistika, Davomat va Ro'yxat oynalari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D62D6"/>
                </a:solidFill>
                <a:latin typeface="Segoe UI"/>
              </a:rPr>
              <a:t>DESKTOP CLIENT · 1–2-QADAM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Dasturni ishga tushirish va tizimga kirish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Dastur bino kirishidagi kompyuterda o'rnatilgan bo'ladi.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9164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60220"/>
            <a:ext cx="347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" y="1709928"/>
            <a:ext cx="56144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220"/>
                </a:solidFill>
                <a:latin typeface="Segoe UI"/>
              </a:rPr>
              <a:t>Kompyuter va internetni tekshiring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1984248"/>
            <a:ext cx="5614416" cy="832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</a:rPr>
              <a:t>Dastur serverga uzluksiz ulanib turadi. Internet uzilsa — darhol mas'ul muhandisga xabar bering.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83464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903220"/>
            <a:ext cx="347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2852928"/>
            <a:ext cx="56144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220"/>
                </a:solidFill>
                <a:latin typeface="Segoe UI"/>
              </a:rPr>
              <a:t>O'z login va parolingiz bilan kiring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3127248"/>
            <a:ext cx="5614416" cy="832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</a:rPr>
              <a:t>Hisob shaxsiy: boshqa operatorning hisobidan foydalanmang. Kirish uchun kompyuter internet yoki Wi-Fi tarmog'iga ulangan bo'lishi shart.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160520"/>
            <a:ext cx="6126480" cy="1051560"/>
          </a:xfrm>
          <a:prstGeom prst="roundRect">
            <a:avLst>
              <a:gd name="adj" fmla="val 7000"/>
            </a:avLst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4160520"/>
            <a:ext cx="54864" cy="10515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28853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45309"/>
                </a:solidFill>
                <a:latin typeface="Segoe UI"/>
              </a:rPr>
              <a:t>PAROL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4526280"/>
            <a:ext cx="562356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0B1220"/>
                </a:solidFill>
                <a:latin typeface="Segoe UI"/>
              </a:rPr>
              <a:t>Parolni unutgan bo'lsangiz yoki dastur «login xato» desa — mas'ul administratorga murojaat qiling, parolni o'zingiz almashtirib bo'lmaydi.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5349240"/>
            <a:ext cx="6126480" cy="777240"/>
          </a:xfrm>
          <a:prstGeom prst="roundRect">
            <a:avLst>
              <a:gd name="adj" fmla="val 7000"/>
            </a:avLst>
          </a:prstGeom>
          <a:solidFill>
            <a:srgbClr val="DD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5349240"/>
            <a:ext cx="54864" cy="777240"/>
          </a:xfrm>
          <a:prstGeom prst="rect">
            <a:avLst/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5477255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D62D6"/>
                </a:solidFill>
                <a:latin typeface="Segoe UI"/>
              </a:rPr>
              <a:t>MASLAHAT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5715000"/>
            <a:ext cx="5623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B1220"/>
                </a:solidFill>
                <a:latin typeface="Segoe UI"/>
              </a:rPr>
              <a:t>Dastur versiyasi kirish oynasining pastida ko'rsatiladi — muammo bo'lganda muhandisga shu raqamni ayting.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09592" y="1536192"/>
            <a:ext cx="4106559" cy="41605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279400" dist="76200" dir="5400000" rotWithShape="0">
              <a:srgbClr val="0B122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s08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032" y="1627632"/>
            <a:ext cx="3923679" cy="3977639"/>
          </a:xfrm>
          <a:prstGeom prst="roundRect">
            <a:avLst>
              <a:gd name="adj" fmla="val 1799"/>
            </a:avLst>
          </a:prstGeom>
          <a:ln w="6350">
            <a:solidFill>
              <a:srgbClr val="E3E8EF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7209592" y="5788151"/>
            <a:ext cx="41065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8C9AAF"/>
                </a:solidFill>
                <a:latin typeface="Segoe UI"/>
              </a:rPr>
              <a:t>FaceID Desktop — kirish oynasi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D62D6"/>
                </a:solidFill>
                <a:latin typeface="Segoe UI"/>
              </a:rPr>
              <a:t>DESKTOP CLIENT · 3–4-QADAM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Bazani tozalash va ma'lumotlarni yuklab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Har bir yangi imtihon oldidan local baza tozalanadi va talabgorlar ro'yxati serverdan qaytadan yuklanadi.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4592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4500"/>
            <a:ext cx="347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" y="1664208"/>
            <a:ext cx="54772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220"/>
                </a:solidFill>
                <a:latin typeface="Segoe UI"/>
              </a:rPr>
              <a:t>Bazani tozalash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1938528"/>
            <a:ext cx="547725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</a:rPr>
              <a:t>Serverdan ma'lumot yuklab olishdan oldin «Bazani tozalash» tugmasi bosiladi va qayta login qilinadi.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65176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720340"/>
            <a:ext cx="347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2670048"/>
            <a:ext cx="54772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220"/>
                </a:solidFill>
                <a:latin typeface="Segoe UI"/>
              </a:rPr>
              <a:t>Talabgorlar ma'lumotlarini yuklab olish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2944368"/>
            <a:ext cx="547725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</a:rPr>
              <a:t>Markaziy serverdan joriy hududga tegishli talabgorlarni olish uchun «Ma'lumotlarini yuklab olish» tugmasi bosiladi.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749039"/>
            <a:ext cx="5989320" cy="1051560"/>
          </a:xfrm>
          <a:prstGeom prst="roundRect">
            <a:avLst>
              <a:gd name="adj" fmla="val 7000"/>
            </a:avLst>
          </a:prstGeom>
          <a:solidFill>
            <a:srgbClr val="FD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3749039"/>
            <a:ext cx="54864" cy="1051560"/>
          </a:xfrm>
          <a:prstGeom prst="rect">
            <a:avLst/>
          </a:prstGeom>
          <a:solidFill>
            <a:srgbClr val="C01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3877055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01D43"/>
                </a:solidFill>
                <a:latin typeface="Segoe UI"/>
              </a:rPr>
              <a:t>EHTIYOT BO'LING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4114800"/>
            <a:ext cx="548640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0B1220"/>
                </a:solidFill>
                <a:latin typeface="Segoe UI"/>
              </a:rPr>
              <a:t>«Bazani tozalash» — «Xavfli zona» bo'limida: local ma'lumotlar butunlay o'chiriladi. Uni faqat yangi sessiya ma'lumotini yuklashdan oldin, avvalgi davomat serverga yuborilganiga ishonch hosil qilib bosing.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48589" y="1536192"/>
            <a:ext cx="3882260" cy="38862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279400" dist="76200" dir="5400000" rotWithShape="0">
              <a:srgbClr val="0B122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s08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0029" y="1627632"/>
            <a:ext cx="3699380" cy="3703320"/>
          </a:xfrm>
          <a:prstGeom prst="roundRect">
            <a:avLst>
              <a:gd name="adj" fmla="val 1799"/>
            </a:avLst>
          </a:prstGeom>
          <a:ln w="6350">
            <a:solidFill>
              <a:srgbClr val="E3E8EF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7248589" y="5513831"/>
            <a:ext cx="38822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8C9AAF"/>
                </a:solidFill>
                <a:latin typeface="Segoe UI"/>
              </a:rPr>
              <a:t>Ma'lumotlarni boshqarish oynasi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D62D6"/>
                </a:solidFill>
                <a:latin typeface="Segoe UI"/>
              </a:rPr>
              <a:t>DESKTOP CLIENT · 5-QADAM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Joriy viloyatdagi binoni tanlash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Sizning viloyatingizga tegishli binolar ro'yxati chiqadi.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4592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4500"/>
            <a:ext cx="347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" y="1664208"/>
            <a:ext cx="46085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220"/>
                </a:solidFill>
                <a:latin typeface="Segoe UI"/>
              </a:rPr>
              <a:t>Binoni tanlang va «Davom etish» ni bosing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1938528"/>
            <a:ext cx="4608575" cy="78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</a:rPr>
              <a:t>Ro'yxatdan faqat BITTA — o'zingiz ishlayotgan binoni belgilang. Noto'g'ri bino tanlansa, boshqa binoning talabgorlari yuklanadi.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880360"/>
            <a:ext cx="5120640" cy="868680"/>
          </a:xfrm>
          <a:prstGeom prst="roundRect">
            <a:avLst>
              <a:gd name="adj" fmla="val 7000"/>
            </a:avLst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2880360"/>
            <a:ext cx="54864" cy="8686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00837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45309"/>
                </a:solidFill>
                <a:latin typeface="Segoe UI"/>
              </a:rPr>
              <a:t>SHART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246120"/>
            <a:ext cx="4617720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0B1220"/>
                </a:solidFill>
                <a:latin typeface="Segoe UI"/>
              </a:rPr>
              <a:t>Sessiya FAOL bo'lishi shart. Binolar ro'yxati bo'sh bo'lsa — sessiya hali faollashtirilmagan.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886200"/>
            <a:ext cx="5120640" cy="1005840"/>
          </a:xfrm>
          <a:prstGeom prst="roundRect">
            <a:avLst>
              <a:gd name="adj" fmla="val 7000"/>
            </a:avLst>
          </a:prstGeom>
          <a:solidFill>
            <a:srgbClr val="DD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3886200"/>
            <a:ext cx="54864" cy="1005840"/>
          </a:xfrm>
          <a:prstGeom prst="rect">
            <a:avLst/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014215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D62D6"/>
                </a:solidFill>
                <a:latin typeface="Segoe UI"/>
              </a:rPr>
              <a:t>TEKSHIRING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4251960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0B1220"/>
                </a:solidFill>
                <a:latin typeface="Segoe UI"/>
              </a:rPr>
              <a:t>Bino raqami (№) ro'yxatda ko'rsatilgan — uni imtihon jadvalidagi bino raqami bilan solishtiring.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633742"/>
            <a:ext cx="5212080" cy="359051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279400" dist="76200" dir="5400000" rotWithShape="0">
              <a:srgbClr val="0B122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s09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25182"/>
            <a:ext cx="5029200" cy="3407635"/>
          </a:xfrm>
          <a:prstGeom prst="roundRect">
            <a:avLst>
              <a:gd name="adj" fmla="val 1799"/>
            </a:avLst>
          </a:prstGeom>
          <a:ln w="6350">
            <a:solidFill>
              <a:srgbClr val="E3E8EF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6217920" y="5315697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8C9AAF"/>
                </a:solidFill>
                <a:latin typeface="Segoe UI"/>
              </a:rPr>
              <a:t>«Binoni tanlang» oynasi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D62D6"/>
                </a:solidFill>
                <a:latin typeface="Segoe UI"/>
              </a:rPr>
              <a:t>DESKTOP CLIENT · 6-QADAM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Imtihonni tanlash va ro'yxatni yuklab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Bino tanlangach, shu binoda o'tadigan imtihon tanlanadi.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4592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4500"/>
            <a:ext cx="347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" y="1664208"/>
            <a:ext cx="1025316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220"/>
                </a:solidFill>
                <a:latin typeface="Segoe UI"/>
              </a:rPr>
              <a:t>Imtihonni belgilab, «Yuklab olish» tugmasini bosing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1938528"/>
            <a:ext cx="1025316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</a:rPr>
              <a:t>Yuklash biroz vaqt oladi — jarayon tugaguncha progress ko'rinib turadi. Tugagach, nechta talabgor yuklangani haqida xabar chiqadi.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3931" y="2560320"/>
            <a:ext cx="4450760" cy="2514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279400" dist="76200" dir="5400000" rotWithShape="0">
              <a:srgbClr val="0B122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" name="Picture 14" descr="s09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371" y="2651760"/>
            <a:ext cx="4267880" cy="2331720"/>
          </a:xfrm>
          <a:prstGeom prst="roundRect">
            <a:avLst>
              <a:gd name="adj" fmla="val 1799"/>
            </a:avLst>
          </a:prstGeom>
          <a:ln w="6350">
            <a:solidFill>
              <a:srgbClr val="E3E8EF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1413931" y="5166359"/>
            <a:ext cx="4450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8C9AAF"/>
                </a:solidFill>
                <a:latin typeface="Segoe UI"/>
              </a:rPr>
              <a:t>Imtihonni tanlash oynasi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4757" y="2560320"/>
            <a:ext cx="2889340" cy="2514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279400" dist="76200" dir="5400000" rotWithShape="0">
              <a:srgbClr val="0B122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s09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197" y="2651760"/>
            <a:ext cx="2706460" cy="2331720"/>
          </a:xfrm>
          <a:prstGeom prst="roundRect">
            <a:avLst>
              <a:gd name="adj" fmla="val 1799"/>
            </a:avLst>
          </a:prstGeom>
          <a:ln w="6350">
            <a:solidFill>
              <a:srgbClr val="E3E8EF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7694757" y="5166359"/>
            <a:ext cx="28893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8C9AAF"/>
                </a:solidFill>
                <a:latin typeface="Segoe UI"/>
              </a:rPr>
              <a:t>Yuklash yakunlandi — natija xabari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5532120"/>
            <a:ext cx="10765231" cy="685800"/>
          </a:xfrm>
          <a:prstGeom prst="roundRect">
            <a:avLst>
              <a:gd name="adj" fmla="val 7000"/>
            </a:avLst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5532120"/>
            <a:ext cx="54864" cy="6858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566013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45309"/>
                </a:solidFill>
                <a:latin typeface="Segoe UI"/>
              </a:rPr>
              <a:t>DIQQAT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5897880"/>
            <a:ext cx="1026231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B1220"/>
                </a:solidFill>
                <a:latin typeface="Segoe UI"/>
              </a:rPr>
              <a:t>Yuklash tugamasdan dasturni yopmang. Talabgorlar soni imtihon jadvalidagi son bilan mos kelishini tekshiring.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D62D6"/>
                </a:solidFill>
                <a:latin typeface="Segoe UI"/>
              </a:rPr>
              <a:t>DESKTOP CLIENT · 7-QADAM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FaceID sahifasiga o'tish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Ma'lumotlar yuklangach, dasturning yuz tekshiruvi qismiga o'tiladi.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45920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220"/>
                </a:solidFill>
                <a:latin typeface="Segoe UI"/>
              </a:rPr>
              <a:t>Pastdagi yashil «FaceID sahifaga o'tish» tugmasi bosiladi: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1048" y="2029968"/>
            <a:ext cx="6709597" cy="146303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279400" dist="76200" dir="5400000" rotWithShape="0">
              <a:srgbClr val="0B122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s10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488" y="2121408"/>
            <a:ext cx="6526717" cy="1280160"/>
          </a:xfrm>
          <a:prstGeom prst="roundRect">
            <a:avLst>
              <a:gd name="adj" fmla="val 1799"/>
            </a:avLst>
          </a:prstGeom>
          <a:ln w="6350">
            <a:solidFill>
              <a:srgbClr val="E3E8EF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2741048" y="3584448"/>
            <a:ext cx="670959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8C9AAF"/>
                </a:solidFill>
                <a:latin typeface="Segoe UI"/>
              </a:rPr>
              <a:t>«FaceID sahifaga o'tish» tugmasi — asosiy oynaning pastki qismida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977639"/>
            <a:ext cx="525459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4123944"/>
            <a:ext cx="45720" cy="941832"/>
          </a:xfrm>
          <a:prstGeom prst="rect">
            <a:avLst/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4133087"/>
            <a:ext cx="48431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Bu sahifada nima bor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4443983"/>
            <a:ext cx="484311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</a:rPr>
              <a:t>Kamera oynasi, pasport rasmi, talabgor ma'lumotlari paneli hamda pastki boshqaruv tugmalari: Jshshir, 1x1, Statistika, Ariza, Davomat, Ro'yxat.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3863" y="3977639"/>
            <a:ext cx="525459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3863" y="4123944"/>
            <a:ext cx="45720" cy="941832"/>
          </a:xfrm>
          <a:prstGeom prst="rect">
            <a:avLst/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1607" y="4133087"/>
            <a:ext cx="48431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Orqaga qaytish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443983"/>
            <a:ext cx="484311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</a:rPr>
              <a:t>«Orqaga» tugmasi sizni ma'lumotlarni boshqarish oynasiga qaytaradi. «Chiqish» esa dasturdan butunlay chiqaradi.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D62D6"/>
                </a:solidFill>
                <a:latin typeface="Segoe UI"/>
              </a:rPr>
              <a:t>DESKTOP CLIENT · 8-QADAM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Test tadbirini va smenani tanlash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Har bir sana va smena uchun talabgorlar soni ko'rsatilgan.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627632"/>
            <a:ext cx="104909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B1220"/>
                </a:solidFill>
                <a:latin typeface="Segoe UI"/>
              </a:rPr>
              <a:t>Sana va smenani tanlang — </a:t>
            </a:r>
            <a:r>
              <a:rPr sz="1200" b="0" i="0">
                <a:solidFill>
                  <a:srgbClr val="475569"/>
                </a:solidFill>
                <a:latin typeface="Segoe UI"/>
              </a:rPr>
              <a:t>«Tanlash» tugmasi orqali kerakli qatorga o'tasiz.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1762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084831"/>
            <a:ext cx="104909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B1220"/>
                </a:solidFill>
                <a:latin typeface="Segoe UI"/>
              </a:rPr>
              <a:t>Talabgorlar soni 0 bo'lsa — </a:t>
            </a:r>
            <a:r>
              <a:rPr sz="1200" b="0" i="0">
                <a:solidFill>
                  <a:srgbClr val="475569"/>
                </a:solidFill>
                <a:latin typeface="Segoe UI"/>
              </a:rPr>
              <a:t>bu smenada test tadbiri o'tkazilmaydi, boshqa qatorni tanlang.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6334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542032"/>
            <a:ext cx="104909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B1220"/>
                </a:solidFill>
                <a:latin typeface="Segoe UI"/>
              </a:rPr>
              <a:t>«Faol» belgisi — </a:t>
            </a:r>
            <a:r>
              <a:rPr sz="1200" b="0" i="0">
                <a:solidFill>
                  <a:srgbClr val="475569"/>
                </a:solidFill>
                <a:latin typeface="Segoe UI"/>
              </a:rPr>
              <a:t>sessiya davomat olishga tayyor ekanini bildiradi.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56198" y="3127248"/>
            <a:ext cx="9879298" cy="27432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279400" dist="76200" dir="5400000" rotWithShape="0">
              <a:srgbClr val="0B122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s10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638" y="3218688"/>
            <a:ext cx="9696418" cy="2560320"/>
          </a:xfrm>
          <a:prstGeom prst="roundRect">
            <a:avLst>
              <a:gd name="adj" fmla="val 1799"/>
            </a:avLst>
          </a:prstGeom>
          <a:ln w="6350">
            <a:solidFill>
              <a:srgbClr val="E3E8EF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1156198" y="5961888"/>
            <a:ext cx="987929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8C9AAF"/>
                </a:solidFill>
                <a:latin typeface="Segoe UI"/>
              </a:rPr>
              <a:t>Test tadbirlari — sana va smenalar ro'yxati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D62D6"/>
                </a:solidFill>
                <a:latin typeface="Segoe UI"/>
              </a:rPr>
              <a:t>DESKTOP CLIENT · 9-QADAM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Online yoki offline rejimni tanlash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Rejim internet aloqasiga qarab tanlanadi.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45920"/>
            <a:ext cx="41148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92224"/>
            <a:ext cx="45720" cy="1307592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801368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Online rejim — tavsiya etiladi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112264"/>
            <a:ext cx="3703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Yuz identifikatsiyasi natijasi real vaqtda serverga yuborib boriladi. Davomat darhol admin panelda va botda ko'rinadi.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42900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575304"/>
            <a:ext cx="45720" cy="15361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584448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Offline rejim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3895344"/>
            <a:ext cx="37033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Ma'lumotlar oldindan yuklangan va login qilingan bo'lsa, internetsiz davom etish mumkin. Natijalar local bazada saqlanadi va internet tiklangach serverga yuboriladi.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60" y="1597618"/>
            <a:ext cx="6263640" cy="357132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279400" dist="76200" dir="5400000" rotWithShape="0">
              <a:srgbClr val="0B122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9" name="Picture 18" descr="s11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689058"/>
            <a:ext cx="6080759" cy="3388442"/>
          </a:xfrm>
          <a:prstGeom prst="roundRect">
            <a:avLst>
              <a:gd name="adj" fmla="val 1799"/>
            </a:avLst>
          </a:prstGeom>
          <a:ln w="6350">
            <a:solidFill>
              <a:srgbClr val="E3E8EF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5166360" y="5260381"/>
            <a:ext cx="6263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8C9AAF"/>
                </a:solidFill>
                <a:latin typeface="Segoe UI"/>
              </a:rPr>
              <a:t>«Ish rejimini tanlang» oynasi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440680"/>
            <a:ext cx="10765231" cy="658368"/>
          </a:xfrm>
          <a:prstGeom prst="roundRect">
            <a:avLst>
              <a:gd name="adj" fmla="val 7000"/>
            </a:avLst>
          </a:prstGeom>
          <a:solidFill>
            <a:srgbClr val="FD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440680"/>
            <a:ext cx="54864" cy="658368"/>
          </a:xfrm>
          <a:prstGeom prst="rect">
            <a:avLst/>
          </a:prstGeom>
          <a:solidFill>
            <a:srgbClr val="C01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556869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01D43"/>
                </a:solidFill>
                <a:latin typeface="Segoe UI"/>
              </a:rPr>
              <a:t>UNUTMANG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5806440"/>
            <a:ext cx="10262311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B1220"/>
                </a:solidFill>
                <a:latin typeface="Segoe UI"/>
              </a:rPr>
              <a:t>Offline rejimda ishlagan bo'lsangiz — smena yakunida internetga ulanib, ma'lumot serverga yuborilganini albatta tekshiring.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D62D6"/>
                </a:solidFill>
                <a:latin typeface="Segoe UI"/>
              </a:rPr>
              <a:t>DESKTOP CLIENT · 10-QADAM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Kamerani ishga tushirish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Yuzni aniqlash uchun pastki paneldagi «Start» tugmasi bosiladi.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627632"/>
            <a:ext cx="4754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Kamerani tanlang —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pastki panelda ulangan web-kamera nomi ko'rinadi.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1945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103120"/>
            <a:ext cx="4754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«Start» —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kamerani yoqadi va aniqlash boshlanadi.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6700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578608"/>
            <a:ext cx="4754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«Stop» —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kamerani to'xtatadi (tanaffus paytida).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2004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Pastki paneldagi tugmalar: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520439"/>
            <a:ext cx="853135" cy="292608"/>
          </a:xfrm>
          <a:prstGeom prst="roundRect">
            <a:avLst>
              <a:gd name="adj" fmla="val 50000"/>
            </a:avLst>
          </a:prstGeom>
          <a:solidFill>
            <a:srgbClr val="DDEAFC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584447"/>
            <a:ext cx="8531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D62D6"/>
                </a:solidFill>
                <a:latin typeface="Segoe UI"/>
              </a:rPr>
              <a:t>Jshshir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48663" y="3520439"/>
            <a:ext cx="708660" cy="292608"/>
          </a:xfrm>
          <a:prstGeom prst="roundRect">
            <a:avLst>
              <a:gd name="adj" fmla="val 50000"/>
            </a:avLst>
          </a:prstGeom>
          <a:solidFill>
            <a:srgbClr val="DDEAFC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8663" y="3584447"/>
            <a:ext cx="7086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D62D6"/>
                </a:solidFill>
                <a:latin typeface="Segoe UI"/>
              </a:rPr>
              <a:t>1 x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39619" y="3520439"/>
            <a:ext cx="1069848" cy="292608"/>
          </a:xfrm>
          <a:prstGeom prst="roundRect">
            <a:avLst>
              <a:gd name="adj" fmla="val 50000"/>
            </a:avLst>
          </a:prstGeom>
          <a:solidFill>
            <a:srgbClr val="DDEAFC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39619" y="3584447"/>
            <a:ext cx="1069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D62D6"/>
                </a:solidFill>
                <a:latin typeface="Segoe UI"/>
              </a:rPr>
              <a:t>Statistika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91763" y="3520439"/>
            <a:ext cx="708660" cy="292608"/>
          </a:xfrm>
          <a:prstGeom prst="roundRect">
            <a:avLst>
              <a:gd name="adj" fmla="val 50000"/>
            </a:avLst>
          </a:prstGeom>
          <a:solidFill>
            <a:srgbClr val="DDEAFC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1763" y="3584447"/>
            <a:ext cx="7086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D62D6"/>
                </a:solidFill>
                <a:latin typeface="Segoe UI"/>
              </a:rPr>
              <a:t>Ariza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2719" y="3520439"/>
            <a:ext cx="853135" cy="292608"/>
          </a:xfrm>
          <a:prstGeom prst="roundRect">
            <a:avLst>
              <a:gd name="adj" fmla="val 50000"/>
            </a:avLst>
          </a:prstGeom>
          <a:solidFill>
            <a:srgbClr val="DDEAFC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2719" y="3584447"/>
            <a:ext cx="8531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D62D6"/>
                </a:solidFill>
                <a:latin typeface="Segoe UI"/>
              </a:rPr>
              <a:t>Davomat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3895344"/>
            <a:ext cx="853135" cy="292608"/>
          </a:xfrm>
          <a:prstGeom prst="roundRect">
            <a:avLst>
              <a:gd name="adj" fmla="val 50000"/>
            </a:avLst>
          </a:prstGeom>
          <a:solidFill>
            <a:srgbClr val="DDEAFC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959352"/>
            <a:ext cx="8531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D62D6"/>
                </a:solidFill>
                <a:latin typeface="Segoe UI"/>
              </a:rPr>
              <a:t>Ro'yxat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48663" y="3895344"/>
            <a:ext cx="853135" cy="292608"/>
          </a:xfrm>
          <a:prstGeom prst="roundRect">
            <a:avLst>
              <a:gd name="adj" fmla="val 50000"/>
            </a:avLst>
          </a:prstGeom>
          <a:solidFill>
            <a:srgbClr val="DDEAFC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48663" y="3959352"/>
            <a:ext cx="8531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D62D6"/>
                </a:solidFill>
                <a:latin typeface="Segoe UI"/>
              </a:rPr>
              <a:t>Chiqish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4480560"/>
            <a:ext cx="5029200" cy="914400"/>
          </a:xfrm>
          <a:prstGeom prst="roundRect">
            <a:avLst>
              <a:gd name="adj" fmla="val 7000"/>
            </a:avLst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4480560"/>
            <a:ext cx="54864" cy="9144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" y="460857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45309"/>
                </a:solidFill>
                <a:latin typeface="Segoe UI"/>
              </a:rPr>
              <a:t>KAMERA ISHLAMASA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" y="4846320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0B1220"/>
                </a:solidFill>
                <a:latin typeface="Segoe UI"/>
              </a:rPr>
              <a:t>Kamera ko'rinmasa: «Kamera to'xtatilgan» yozuvi chiqadi — qayta «Start» bosing yoki kamera ulanishini tekshiring.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52160" y="1831596"/>
            <a:ext cx="5577840" cy="3194807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279400" dist="76200" dir="5400000" rotWithShape="0">
              <a:srgbClr val="0B122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6" name="Picture 35" descr="s12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923036"/>
            <a:ext cx="5394959" cy="3011927"/>
          </a:xfrm>
          <a:prstGeom prst="roundRect">
            <a:avLst>
              <a:gd name="adj" fmla="val 1799"/>
            </a:avLst>
          </a:prstGeom>
          <a:ln w="6350">
            <a:solidFill>
              <a:srgbClr val="E3E8EF"/>
            </a:solidFill>
          </a:ln>
        </p:spPr>
      </p:pic>
      <p:sp>
        <p:nvSpPr>
          <p:cNvPr id="37" name="TextBox 36"/>
          <p:cNvSpPr txBox="1"/>
          <p:nvPr/>
        </p:nvSpPr>
        <p:spPr>
          <a:xfrm>
            <a:off x="5852160" y="5117843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8C9AAF"/>
                </a:solidFill>
                <a:latin typeface="Segoe UI"/>
              </a:rPr>
              <a:t>FaceID sahifasi — kamera hali ishga tushirilmagan holat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D8B5E"/>
                </a:solidFill>
                <a:latin typeface="Segoe UI"/>
              </a:rPr>
              <a:t>DESKTOP CLIENT · YUZ ANIQLASH NATIJASI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1-holat: yuz aniqlandi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A8B6C8"/>
                </a:solidFill>
                <a:latin typeface="Segoe UI"/>
              </a:rPr>
              <a:t>Kamera talabgorni tanidi va uni pasportdagi rasm bilan solishtirdi.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25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667D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55667D"/>
                </a:solidFill>
                <a:latin typeface="Segoe UI"/>
              </a:rP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627632"/>
            <a:ext cx="54864" cy="3017520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609344"/>
            <a:ext cx="1199692" cy="292608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68780"/>
            <a:ext cx="11996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●  ANIQLANDI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22199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130552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Panellar yashil rangga o'tadi — </a:t>
            </a:r>
            <a:r>
              <a:rPr sz="1100" b="0" i="0">
                <a:solidFill>
                  <a:srgbClr val="A8B6C8"/>
                </a:solidFill>
                <a:latin typeface="Segoe UI"/>
              </a:rPr>
              <a:t>yuqorida «Aniqlandi» va moslik foizi ko'rinadi.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2697480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O'ng panelda ma'lumot: </a:t>
            </a:r>
            <a:r>
              <a:rPr sz="1100" b="0" i="0">
                <a:solidFill>
                  <a:srgbClr val="A8B6C8"/>
                </a:solidFill>
                <a:latin typeface="Segoe UI"/>
              </a:rPr>
              <a:t>F.I.Sh, guruh, JShShIR, test va jinsi.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3558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264408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Pastda — </a:t>
            </a:r>
            <a:r>
              <a:rPr sz="1100" b="0" i="0">
                <a:solidFill>
                  <a:srgbClr val="A8B6C8"/>
                </a:solidFill>
                <a:latin typeface="Segoe UI"/>
              </a:rPr>
              <a:t>oxirgi o'tgan talabgorlar tasmasi to'ldirib boriladi.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343400"/>
            <a:ext cx="3401568" cy="1508760"/>
          </a:xfrm>
          <a:prstGeom prst="roundRect">
            <a:avLst>
              <a:gd name="adj" fmla="val 7000"/>
            </a:avLst>
          </a:prstGeom>
          <a:solidFill>
            <a:srgbClr val="DC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4343400"/>
            <a:ext cx="54864" cy="1508760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" y="447141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D8B5E"/>
                </a:solidFill>
                <a:latin typeface="Segoe UI"/>
              </a:rPr>
              <a:t>OPERATOR NIMA QILADI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4709160"/>
            <a:ext cx="289864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B1220"/>
                </a:solidFill>
                <a:latin typeface="Segoe UI"/>
              </a:rPr>
              <a:t>Talabgorni binoga kiritishdan oldin ekrandagi F.I.Sh va guruh raqami uning hujjatiga mos kelishini ko'z bilan tekshiring.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15097" y="1508760"/>
            <a:ext cx="6880365" cy="39319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 w="9525">
            <a:solidFill>
              <a:srgbClr val="253348"/>
            </a:solidFill>
          </a:ln>
          <a:effectLst>
            <a:outerShdw blurRad="279400" dist="76200" dir="5400000" rotWithShape="0">
              <a:srgbClr val="0B122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s13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537" y="1600200"/>
            <a:ext cx="6697485" cy="3749039"/>
          </a:xfrm>
          <a:prstGeom prst="roundRect">
            <a:avLst>
              <a:gd name="adj" fmla="val 1799"/>
            </a:avLst>
          </a:prstGeom>
          <a:ln w="6350">
            <a:solidFill>
              <a:srgbClr val="253348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4515097" y="5532119"/>
            <a:ext cx="688036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8C9AAF"/>
                </a:solidFill>
                <a:latin typeface="Segoe UI"/>
              </a:rPr>
              <a:t>Yuz muvaffaqiyatli aniqlangan holat — panellar yashil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45309"/>
                </a:solidFill>
                <a:latin typeface="Segoe UI"/>
              </a:rPr>
              <a:t>DESKTOP CLIENT · YUZ ANIQLASH NATIJASI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2-holat: yaxshilab tekshirish kerak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A8B6C8"/>
                </a:solidFill>
                <a:latin typeface="Segoe UI"/>
              </a:rPr>
              <a:t>Yuz aniqlandi, lekin talabgor avvalgi test tadbirlarida chetlatilgan.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25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667D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55667D"/>
                </a:solidFill>
                <a:latin typeface="Segoe UI"/>
              </a:rP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627632"/>
            <a:ext cx="54864" cy="30175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609344"/>
            <a:ext cx="2381097" cy="29260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68780"/>
            <a:ext cx="238109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●  YAXSHILAB TEKSHIRISH KERAK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221992"/>
            <a:ext cx="91440" cy="9144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130552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Yuqorida ogohlantirish chiqadi — </a:t>
            </a:r>
            <a:r>
              <a:rPr sz="1100" b="0" i="0">
                <a:solidFill>
                  <a:srgbClr val="A8B6C8"/>
                </a:solidFill>
                <a:latin typeface="Segoe UI"/>
              </a:rPr>
              <a:t>panellar to'q sariq rangga o'tadi.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2697480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Sabab: </a:t>
            </a:r>
            <a:r>
              <a:rPr sz="1100" b="0" i="0">
                <a:solidFill>
                  <a:srgbClr val="A8B6C8"/>
                </a:solidFill>
                <a:latin typeface="Segoe UI"/>
              </a:rPr>
              <a:t>talabgor oldingi imtihonlarda chetlatilgan deb qayd etilgan.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3558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264408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Tizim to'xtatmaydi — </a:t>
            </a:r>
            <a:r>
              <a:rPr sz="1100" b="0" i="0">
                <a:solidFill>
                  <a:srgbClr val="A8B6C8"/>
                </a:solidFill>
                <a:latin typeface="Segoe UI"/>
              </a:rPr>
              <a:t>qaror operator va mas'ul xodim zimmasida.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343400"/>
            <a:ext cx="3401568" cy="1508760"/>
          </a:xfrm>
          <a:prstGeom prst="roundRect">
            <a:avLst>
              <a:gd name="adj" fmla="val 7000"/>
            </a:avLst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4343400"/>
            <a:ext cx="54864" cy="15087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" y="447141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45309"/>
                </a:solidFill>
                <a:latin typeface="Segoe UI"/>
              </a:rPr>
              <a:t>OPERATOR NIMA QILADI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4709160"/>
            <a:ext cx="289864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B1220"/>
                </a:solidFill>
                <a:latin typeface="Segoe UI"/>
              </a:rPr>
              <a:t>Hujjatini diqqat bilan tekshiring va mas'ul xodimni ogohlantiring. Shubha bo'lsa — binoga kiritmang.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12850" y="1508760"/>
            <a:ext cx="6884858" cy="39319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 w="9525">
            <a:solidFill>
              <a:srgbClr val="253348"/>
            </a:solidFill>
          </a:ln>
          <a:effectLst>
            <a:outerShdw blurRad="279400" dist="76200" dir="5400000" rotWithShape="0">
              <a:srgbClr val="0B122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s14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290" y="1600200"/>
            <a:ext cx="6701978" cy="3749039"/>
          </a:xfrm>
          <a:prstGeom prst="roundRect">
            <a:avLst>
              <a:gd name="adj" fmla="val 1799"/>
            </a:avLst>
          </a:prstGeom>
          <a:ln w="6350">
            <a:solidFill>
              <a:srgbClr val="253348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4512850" y="5532119"/>
            <a:ext cx="68848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8C9AAF"/>
                </a:solidFill>
                <a:latin typeface="Segoe UI"/>
              </a:rPr>
              <a:t>Ogohlantirish holati — «Yaxshilab tekshirish kerak!»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01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01D43"/>
                </a:solidFill>
                <a:latin typeface="Segoe UI"/>
              </a:rPr>
              <a:t>DESKTOP CLIENT · YUZ ANIQLASH NATIJASI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3-holat: joriy testda chetlatilgan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A8B6C8"/>
                </a:solidFill>
                <a:latin typeface="Segoe UI"/>
              </a:rPr>
              <a:t>Talabgor shu test tadbirida allaqachon chetlatilgan va qayta kirmoqchi.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25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667D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55667D"/>
                </a:solidFill>
                <a:latin typeface="Segoe UI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627632"/>
            <a:ext cx="54864" cy="3017520"/>
          </a:xfrm>
          <a:prstGeom prst="rect">
            <a:avLst/>
          </a:prstGeom>
          <a:solidFill>
            <a:srgbClr val="C01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609344"/>
            <a:ext cx="1408176" cy="292608"/>
          </a:xfrm>
          <a:prstGeom prst="roundRect">
            <a:avLst>
              <a:gd name="adj" fmla="val 50000"/>
            </a:avLst>
          </a:prstGeom>
          <a:solidFill>
            <a:srgbClr val="C01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68780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●  CHETLATILGAN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22199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01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130552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«Chetlatilgan» belgisi — </a:t>
            </a:r>
            <a:r>
              <a:rPr sz="1100" b="0" i="0">
                <a:solidFill>
                  <a:srgbClr val="A8B6C8"/>
                </a:solidFill>
                <a:latin typeface="Segoe UI"/>
              </a:rPr>
              <a:t>kamera va pasport panelida ko'rinadi.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C01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2697480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Bu — takroriy urinish: </a:t>
            </a:r>
            <a:r>
              <a:rPr sz="1100" b="0" i="0">
                <a:solidFill>
                  <a:srgbClr val="A8B6C8"/>
                </a:solidFill>
                <a:latin typeface="Segoe UI"/>
              </a:rPr>
              <a:t>talabgor joriy smenada chetlatilgan.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3558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C01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264408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Davomatga qo'shilmaydi — </a:t>
            </a:r>
            <a:r>
              <a:rPr sz="1100" b="0" i="0">
                <a:solidFill>
                  <a:srgbClr val="A8B6C8"/>
                </a:solidFill>
                <a:latin typeface="Segoe UI"/>
              </a:rPr>
              <a:t>holat o'zgarmaguncha kiritish mumkin emas.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343400"/>
            <a:ext cx="3401568" cy="1508760"/>
          </a:xfrm>
          <a:prstGeom prst="roundRect">
            <a:avLst>
              <a:gd name="adj" fmla="val 7000"/>
            </a:avLst>
          </a:prstGeom>
          <a:solidFill>
            <a:srgbClr val="FD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4343400"/>
            <a:ext cx="54864" cy="1508760"/>
          </a:xfrm>
          <a:prstGeom prst="rect">
            <a:avLst/>
          </a:prstGeom>
          <a:solidFill>
            <a:srgbClr val="C01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" y="447141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01D43"/>
                </a:solidFill>
                <a:latin typeface="Segoe UI"/>
              </a:rPr>
              <a:t>OPERATOR NIMA QILADI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4709160"/>
            <a:ext cx="289864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B1220"/>
                </a:solidFill>
                <a:latin typeface="Segoe UI"/>
              </a:rPr>
              <a:t>Talabgorni binoga kiritmang. Holatni mas'ul xodim hal qiladi; kerak bo'lsa «Davomatdan olish» va «Chetlatish» tugmalari ishlatiladi.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0858" y="1508760"/>
            <a:ext cx="6868843" cy="39319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 w="9525">
            <a:solidFill>
              <a:srgbClr val="253348"/>
            </a:solidFill>
          </a:ln>
          <a:effectLst>
            <a:outerShdw blurRad="279400" dist="76200" dir="5400000" rotWithShape="0">
              <a:srgbClr val="0B122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s15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298" y="1600200"/>
            <a:ext cx="6685963" cy="3749039"/>
          </a:xfrm>
          <a:prstGeom prst="roundRect">
            <a:avLst>
              <a:gd name="adj" fmla="val 1799"/>
            </a:avLst>
          </a:prstGeom>
          <a:ln w="6350">
            <a:solidFill>
              <a:srgbClr val="253348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4520858" y="5532119"/>
            <a:ext cx="68688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8C9AAF"/>
                </a:solidFill>
                <a:latin typeface="Segoe UI"/>
              </a:rPr>
              <a:t>Joriy testda chetlatilgan talabgor — qayta urinish holati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D62D6"/>
                </a:solidFill>
                <a:latin typeface="Segoe UI"/>
              </a:rPr>
              <a:t>DESKTOP CLIENT · 11–12-QADAM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JShShIR va «1 x 1» oynalari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Kamera orqali aniqlab bo'lmagan holatlar uchun qo'lda tekshirish va davomat vositalari.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645920"/>
            <a:ext cx="45720" cy="1188720"/>
          </a:xfrm>
          <a:prstGeom prst="rect">
            <a:avLst/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45920"/>
            <a:ext cx="4925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Jshshir — JShShIR bo'yicha davomat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56816"/>
            <a:ext cx="49254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</a:rPr>
              <a:t>«Jshshir» tugmasi bosilganda JShShIR kiritish oynasi ochiladi. Topilgan talabgor ustida uchta amal mavjud: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560320"/>
            <a:ext cx="1503273" cy="292608"/>
          </a:xfrm>
          <a:prstGeom prst="roundRect">
            <a:avLst>
              <a:gd name="adj" fmla="val 50000"/>
            </a:avLst>
          </a:prstGeom>
          <a:solidFill>
            <a:srgbClr val="DDEAFC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24327"/>
            <a:ext cx="150327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D62D6"/>
                </a:solidFill>
                <a:latin typeface="Segoe UI"/>
              </a:rPr>
              <a:t>Davomatdan olish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99969" y="2560320"/>
            <a:ext cx="1069848" cy="292608"/>
          </a:xfrm>
          <a:prstGeom prst="roundRect">
            <a:avLst>
              <a:gd name="adj" fmla="val 50000"/>
            </a:avLst>
          </a:prstGeom>
          <a:solidFill>
            <a:srgbClr val="DDEAFC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99969" y="2624327"/>
            <a:ext cx="1069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D62D6"/>
                </a:solidFill>
                <a:latin typeface="Segoe UI"/>
              </a:rPr>
              <a:t>Chetlatish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2113" y="2560320"/>
            <a:ext cx="925372" cy="292608"/>
          </a:xfrm>
          <a:prstGeom prst="roundRect">
            <a:avLst>
              <a:gd name="adj" fmla="val 50000"/>
            </a:avLst>
          </a:prstGeom>
          <a:solidFill>
            <a:srgbClr val="DDEAFC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2113" y="2624327"/>
            <a:ext cx="9253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D62D6"/>
                </a:solidFill>
                <a:latin typeface="Segoe UI"/>
              </a:rPr>
              <a:t>Qo'shish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971800"/>
            <a:ext cx="4925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«Qo'shish» — davomatga kiritadi · «Davomatdan olish» — xato belgilangan davomatni bekor qiladi.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8727" y="1645920"/>
            <a:ext cx="45720" cy="1188720"/>
          </a:xfrm>
          <a:prstGeom prst="rect">
            <a:avLst/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9895" y="1645920"/>
            <a:ext cx="4925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1 x 1 — pasport bo'yicha bir-bir tekshiruv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9895" y="1956816"/>
            <a:ext cx="49254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</a:rPr>
              <a:t>«1 x 1» tugmasi orqali pasport seriya, raqam va JShShIR kiritiladi — yangi ID Card ma'lumoti bo'yicha yuz tekshiriladi: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79895" y="2560320"/>
            <a:ext cx="1069848" cy="292608"/>
          </a:xfrm>
          <a:prstGeom prst="roundRect">
            <a:avLst>
              <a:gd name="adj" fmla="val 50000"/>
            </a:avLst>
          </a:prstGeom>
          <a:solidFill>
            <a:srgbClr val="DDEAFC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9895" y="2624327"/>
            <a:ext cx="1069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D62D6"/>
                </a:solidFill>
                <a:latin typeface="Segoe UI"/>
              </a:rPr>
              <a:t>Tekshirish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2039" y="2560320"/>
            <a:ext cx="2008936" cy="292608"/>
          </a:xfrm>
          <a:prstGeom prst="roundRect">
            <a:avLst>
              <a:gd name="adj" fmla="val 50000"/>
            </a:avLst>
          </a:prstGeom>
          <a:solidFill>
            <a:srgbClr val="DDEAFC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2039" y="2624327"/>
            <a:ext cx="20089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D62D6"/>
                </a:solidFill>
                <a:latin typeface="Segoe UI"/>
              </a:rPr>
              <a:t>Faqat o'zini tekshirish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9895" y="2971800"/>
            <a:ext cx="4925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«Tekshirish» — natijani davomatga yozadi · «Faqat o'zini tekshirish» — davomatga ta'sir qilmaydi.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02495" y="3493008"/>
            <a:ext cx="2221208" cy="2331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279400" dist="76200" dir="5400000" rotWithShape="0">
              <a:srgbClr val="0B122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9" name="Picture 28" descr="s16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935" y="3584448"/>
            <a:ext cx="2038328" cy="2148840"/>
          </a:xfrm>
          <a:prstGeom prst="roundRect">
            <a:avLst>
              <a:gd name="adj" fmla="val 1799"/>
            </a:avLst>
          </a:prstGeom>
          <a:ln w="6350">
            <a:solidFill>
              <a:srgbClr val="E3E8EF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2202495" y="5916168"/>
            <a:ext cx="2221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8C9AAF"/>
                </a:solidFill>
                <a:latin typeface="Segoe UI"/>
              </a:rPr>
              <a:t>JShShIR bo'yicha qidiruv oynasi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51834" y="3493008"/>
            <a:ext cx="2853522" cy="2331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279400" dist="76200" dir="5400000" rotWithShape="0">
              <a:srgbClr val="0B122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2" name="Picture 31" descr="s16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274" y="3584448"/>
            <a:ext cx="2670642" cy="2148840"/>
          </a:xfrm>
          <a:prstGeom prst="roundRect">
            <a:avLst>
              <a:gd name="adj" fmla="val 1799"/>
            </a:avLst>
          </a:prstGeom>
          <a:ln w="6350">
            <a:solidFill>
              <a:srgbClr val="E3E8EF"/>
            </a:solidFill>
          </a:ln>
        </p:spPr>
      </p:pic>
      <p:sp>
        <p:nvSpPr>
          <p:cNvPr id="33" name="TextBox 32"/>
          <p:cNvSpPr txBox="1"/>
          <p:nvPr/>
        </p:nvSpPr>
        <p:spPr>
          <a:xfrm>
            <a:off x="7451834" y="5916168"/>
            <a:ext cx="285352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8C9AAF"/>
                </a:solidFill>
                <a:latin typeface="Segoe UI"/>
              </a:rPr>
              <a:t>«1 x 1» — pasport bo'yicha tekshirish oynasi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D62D6"/>
                </a:solidFill>
                <a:latin typeface="Segoe UI"/>
              </a:rPr>
              <a:t>DESKTOP CLIENT · 13-QADAM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Statistika — local va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«Statistika» tugmasi ikkita panelni ochadi: shu kompyuterdagi va serverdagi umumiy holat.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07434" y="1664208"/>
            <a:ext cx="7376826" cy="2788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279400" dist="76200" dir="5400000" rotWithShape="0">
              <a:srgbClr val="0B122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s17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874" y="1755648"/>
            <a:ext cx="7193946" cy="2606040"/>
          </a:xfrm>
          <a:prstGeom prst="roundRect">
            <a:avLst>
              <a:gd name="adj" fmla="val 1799"/>
            </a:avLst>
          </a:prstGeom>
          <a:ln w="6350">
            <a:solidFill>
              <a:srgbClr val="E3E8EF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2407434" y="4544568"/>
            <a:ext cx="737682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8C9AAF"/>
                </a:solidFill>
                <a:latin typeface="Segoe UI"/>
              </a:rPr>
              <a:t>Statistika oynalari — chapda local, o'ngda server ma'lumoti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800600"/>
            <a:ext cx="341772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4946904"/>
            <a:ext cx="45720" cy="1033271"/>
          </a:xfrm>
          <a:prstGeom prst="rect">
            <a:avLst/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4956048"/>
            <a:ext cx="300624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Statistika (Local)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5266944"/>
            <a:ext cx="3006242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Shu kompyuterda to'plangan ma'lumot: jami yozuvlar, dasturdan o'tganlar, yuborilgan va yuborilmagan yozuvlar soni.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6986" y="4800600"/>
            <a:ext cx="341772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6986" y="4946904"/>
            <a:ext cx="45720" cy="1033271"/>
          </a:xfrm>
          <a:prstGeom prst="rect">
            <a:avLst/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4730" y="4956048"/>
            <a:ext cx="300624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Statistika (Server)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4730" y="5266944"/>
            <a:ext cx="3006242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Real vaqtda joriy viloyatdagi binolar va umumiy viloyat kesimida davomat: jami, keldi, kelmadi, chetlatish.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0740" y="4800600"/>
            <a:ext cx="341772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60740" y="4946904"/>
            <a:ext cx="45720" cy="1033271"/>
          </a:xfrm>
          <a:prstGeom prst="rect">
            <a:avLst/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8484" y="4956048"/>
            <a:ext cx="300624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Eng muhim ko'rsatkich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8484" y="5266944"/>
            <a:ext cx="3006242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«Yuborilmagan» doim 0, «Yuborish darajasi» 100% bo'lishi kerak. Aks holda internet uzilgan — ulanishni tiklang.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D62D6"/>
                </a:solidFill>
                <a:latin typeface="Segoe UI"/>
              </a:rPr>
              <a:t>DESKTOP CLIENT · 14-QADAM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«Davomat» — guruh bo'yicha kelmaganlar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Joriy bino va joriy smenada hali kelmagan talabgorlar guruhlarga ajratib ko'rsatiladi.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627632"/>
            <a:ext cx="10490911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Guruhlar ro'yxati —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har bir guruhda nechta talabgor kelmagani ko'rinadi; o'ng tomonda soni.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157984"/>
            <a:ext cx="91440" cy="91440"/>
          </a:xfrm>
          <a:prstGeom prst="roundRect">
            <a:avLst>
              <a:gd name="adj" fmla="val 50000"/>
            </a:avLst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066544"/>
            <a:ext cx="10490911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Guruh ustiga bosing —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shu guruhdagi kelmagan talabgorlarning F.I.Sh, JShShIR va o'rni chiqadi.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81632" y="2560320"/>
            <a:ext cx="3893567" cy="24231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279400" dist="76200" dir="5400000" rotWithShape="0">
              <a:srgbClr val="0B122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" name="Picture 14" descr="s18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072" y="2651760"/>
            <a:ext cx="3710687" cy="2240280"/>
          </a:xfrm>
          <a:prstGeom prst="roundRect">
            <a:avLst>
              <a:gd name="adj" fmla="val 1799"/>
            </a:avLst>
          </a:prstGeom>
          <a:ln w="6350">
            <a:solidFill>
              <a:srgbClr val="E3E8EF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1381632" y="5074919"/>
            <a:ext cx="389356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8C9AAF"/>
                </a:solidFill>
                <a:latin typeface="Segoe UI"/>
              </a:rPr>
              <a:t>Guruhlar kesimida kelmaganlar soni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84334" y="2560320"/>
            <a:ext cx="3870106" cy="24231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279400" dist="76200" dir="5400000" rotWithShape="0">
              <a:srgbClr val="0B122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s18_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5774" y="2651760"/>
            <a:ext cx="3687226" cy="2240280"/>
          </a:xfrm>
          <a:prstGeom prst="roundRect">
            <a:avLst>
              <a:gd name="adj" fmla="val 1799"/>
            </a:avLst>
          </a:prstGeom>
          <a:ln w="6350">
            <a:solidFill>
              <a:srgbClr val="E3E8EF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6884334" y="5074919"/>
            <a:ext cx="387010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8C9AAF"/>
                </a:solidFill>
                <a:latin typeface="Segoe UI"/>
              </a:rPr>
              <a:t>Tanlangan guruh — kelmaganlar ro'yxati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5532120"/>
            <a:ext cx="10765231" cy="640080"/>
          </a:xfrm>
          <a:prstGeom prst="roundRect">
            <a:avLst>
              <a:gd name="adj" fmla="val 7000"/>
            </a:avLst>
          </a:prstGeom>
          <a:solidFill>
            <a:srgbClr val="DD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5532120"/>
            <a:ext cx="54864" cy="640080"/>
          </a:xfrm>
          <a:prstGeom prst="rect">
            <a:avLst/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566013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D62D6"/>
                </a:solidFill>
                <a:latin typeface="Segoe UI"/>
              </a:rPr>
              <a:t>QANDAY FOYDALI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5897880"/>
            <a:ext cx="10262311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B1220"/>
                </a:solidFill>
                <a:latin typeface="Segoe UI"/>
              </a:rPr>
              <a:t>Bu ro'yxat imtihon vaqtida zalni tekshirish uchun qulay: kelmagan talabgorning o'rni bo'sh ekanini joyida solishtirasiz.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D62D6"/>
                </a:solidFill>
                <a:latin typeface="Segoe UI"/>
              </a:rPr>
              <a:t>DESKTOP CLIENT · 15-QADAM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«Ro'yxat» — kelgan, kelmagan va chetlatilganlar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Joriy bino va smena bo'yicha uchta ro'yxat bitta oynada.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627632"/>
            <a:ext cx="3840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Uchta bo'lim: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Kelgan, Kelmagan va Chetlatilganlar — har birida soni qavs ichida.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377440"/>
            <a:ext cx="91440" cy="91440"/>
          </a:xfrm>
          <a:prstGeom prst="roundRect">
            <a:avLst>
              <a:gd name="adj" fmla="val 50000"/>
            </a:avLst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286000"/>
            <a:ext cx="3840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Qidiruv —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ism, familiya yoki JShShIR bo'yicha.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0358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944368"/>
            <a:ext cx="3840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Talabgor ustiga bosing —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pasportdagi va real vaqtda tushgan rasmi hamda qolgan ma'lumotlari ko'rinadi.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931920"/>
            <a:ext cx="4114800" cy="1143000"/>
          </a:xfrm>
          <a:prstGeom prst="roundRect">
            <a:avLst>
              <a:gd name="adj" fmla="val 7000"/>
            </a:avLst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3931920"/>
            <a:ext cx="54864" cy="1143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4059935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45309"/>
                </a:solidFill>
                <a:latin typeface="Segoe UI"/>
              </a:rPr>
              <a:t>QACHON KERAK BO'LADI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4297680"/>
            <a:ext cx="3611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B1220"/>
                </a:solidFill>
                <a:latin typeface="Segoe UI"/>
              </a:rPr>
              <a:t>Nizoli holatda («men keldim» degan talabgor) avval shu oynadan tekshiring: qaysi ro'yxatda turibdi va qachon o'tgan.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1690876"/>
            <a:ext cx="6309360" cy="347624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279400" dist="76200" dir="5400000" rotWithShape="0">
              <a:srgbClr val="0B122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s19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79" y="1782316"/>
            <a:ext cx="6126480" cy="3293366"/>
          </a:xfrm>
          <a:prstGeom prst="roundRect">
            <a:avLst>
              <a:gd name="adj" fmla="val 1799"/>
            </a:avLst>
          </a:prstGeom>
          <a:ln w="6350">
            <a:solidFill>
              <a:srgbClr val="E3E8EF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5120640" y="5258563"/>
            <a:ext cx="6309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8C9AAF"/>
                </a:solidFill>
                <a:latin typeface="Segoe UI"/>
              </a:rPr>
              <a:t>Talabgorlar ro'yxati — Kelgan / Kelmagan / Chetlatilganlar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D62D6"/>
                </a:solidFill>
                <a:latin typeface="Segoe UI"/>
              </a:rPr>
              <a:t>KUNDALIK TARTIB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Imtihon kuni — qisqa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Har bir bosqichda bajarilishi shart bo'lgan minimal amallar.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45920"/>
            <a:ext cx="251299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645920"/>
            <a:ext cx="2512999" cy="45720"/>
          </a:xfrm>
          <a:prstGeom prst="rect">
            <a:avLst/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65376"/>
            <a:ext cx="2101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B1220"/>
                </a:solidFill>
                <a:latin typeface="Segoe UI"/>
              </a:rPr>
              <a:t>Imtihondan 1 kun oldin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2487168"/>
            <a:ext cx="82296" cy="82296"/>
          </a:xfrm>
          <a:prstGeom prst="roundRect">
            <a:avLst>
              <a:gd name="adj" fmla="val 50000"/>
            </a:avLst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2404872"/>
            <a:ext cx="18729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Sessiya FAOL holatga o'tganini tekshiring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3035808"/>
            <a:ext cx="82296" cy="82296"/>
          </a:xfrm>
          <a:prstGeom prst="roundRect">
            <a:avLst>
              <a:gd name="adj" fmla="val 50000"/>
            </a:avLst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2953512"/>
            <a:ext cx="18729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Talabgorlar ro'yxati va binolar to'g'riligini ko'ring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3584448"/>
            <a:ext cx="82296" cy="82296"/>
          </a:xfrm>
          <a:prstGeom prst="roundRect">
            <a:avLst>
              <a:gd name="adj" fmla="val 50000"/>
            </a:avLst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3502152"/>
            <a:ext cx="18729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Rasmi yo'q talabgorlarni aniqlab, rasm torting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" y="4133088"/>
            <a:ext cx="82296" cy="82296"/>
          </a:xfrm>
          <a:prstGeom prst="roundRect">
            <a:avLst>
              <a:gd name="adj" fmla="val 50000"/>
            </a:avLst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4050792"/>
            <a:ext cx="18729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Botga kirish (/start) ishlashini tekshiring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63975" y="1645920"/>
            <a:ext cx="251299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63975" y="1645920"/>
            <a:ext cx="2512999" cy="45720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83431" y="1865376"/>
            <a:ext cx="2101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B1220"/>
                </a:solidFill>
                <a:latin typeface="Segoe UI"/>
              </a:rPr>
              <a:t>Ertalab, smena oldidan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83431" y="2487168"/>
            <a:ext cx="82296" cy="82296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4599" y="2404872"/>
            <a:ext cx="18729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Kompyuter, kamera va internetni tekshiring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83431" y="3035808"/>
            <a:ext cx="82296" cy="82296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84599" y="2953512"/>
            <a:ext cx="18729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Bazani tozalab, ma'lumotlarni qaytadan yuklang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83431" y="3584448"/>
            <a:ext cx="82296" cy="82296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4599" y="3502152"/>
            <a:ext cx="18729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Bino, test tadbiri va smenani to'g'ri tanlang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83431" y="4133088"/>
            <a:ext cx="82296" cy="82296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84599" y="4050792"/>
            <a:ext cx="18729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Online rejimni tanlang va «Start» bosing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4719" y="1645920"/>
            <a:ext cx="251299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4719" y="1645920"/>
            <a:ext cx="2512999" cy="45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4175" y="1865376"/>
            <a:ext cx="2101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B1220"/>
                </a:solidFill>
                <a:latin typeface="Segoe UI"/>
              </a:rPr>
              <a:t>Imtihon vaqtida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34175" y="2487168"/>
            <a:ext cx="82296" cy="82296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35343" y="2404872"/>
            <a:ext cx="18729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Har bir talabgorni kamera orqali tekshiring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34175" y="3035808"/>
            <a:ext cx="82296" cy="82296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35343" y="2953512"/>
            <a:ext cx="18729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Ogohlantirish chiqsa — hujjatni qo'lda tekshiring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34175" y="3584448"/>
            <a:ext cx="82296" cy="82296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35343" y="3502152"/>
            <a:ext cx="18729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Chetlatishni darhol, sababi bilan qayd eting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34175" y="4133088"/>
            <a:ext cx="82296" cy="82296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35343" y="4050792"/>
            <a:ext cx="18729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«Statistika» da yuborilmagan = 0 ekanini kuzating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65463" y="1645920"/>
            <a:ext cx="251299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65463" y="1645920"/>
            <a:ext cx="2512999" cy="45720"/>
          </a:xfrm>
          <a:prstGeom prst="rect">
            <a:avLst/>
          </a:prstGeom>
          <a:solidFill>
            <a:srgbClr val="C01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4919" y="1865376"/>
            <a:ext cx="2101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B1220"/>
                </a:solidFill>
                <a:latin typeface="Segoe UI"/>
              </a:rPr>
              <a:t>Smena yakunida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84919" y="2487168"/>
            <a:ext cx="82296" cy="82296"/>
          </a:xfrm>
          <a:prstGeom prst="roundRect">
            <a:avLst>
              <a:gd name="adj" fmla="val 50000"/>
            </a:avLst>
          </a:prstGeom>
          <a:solidFill>
            <a:srgbClr val="C01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86087" y="2404872"/>
            <a:ext cx="18729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Yuborish darajasi 100% ekanini tasdiqlang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84919" y="3035808"/>
            <a:ext cx="82296" cy="82296"/>
          </a:xfrm>
          <a:prstGeom prst="roundRect">
            <a:avLst>
              <a:gd name="adj" fmla="val 50000"/>
            </a:avLst>
          </a:prstGeom>
          <a:solidFill>
            <a:srgbClr val="C01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86087" y="2953512"/>
            <a:ext cx="18729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«Davomat» dan kelmaganlar ro'yxatini oling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84919" y="3584448"/>
            <a:ext cx="82296" cy="82296"/>
          </a:xfrm>
          <a:prstGeom prst="roundRect">
            <a:avLst>
              <a:gd name="adj" fmla="val 50000"/>
            </a:avLst>
          </a:prstGeom>
          <a:solidFill>
            <a:srgbClr val="C01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86087" y="3502152"/>
            <a:ext cx="18729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Raqamlarni admin panel bilan solishtiring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84919" y="4133088"/>
            <a:ext cx="82296" cy="82296"/>
          </a:xfrm>
          <a:prstGeom prst="roundRect">
            <a:avLst>
              <a:gd name="adj" fmla="val 50000"/>
            </a:avLst>
          </a:prstGeom>
          <a:solidFill>
            <a:srgbClr val="C01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86087" y="4050792"/>
            <a:ext cx="18729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Nomuvofiqlik bo'lsa mas'ulga xabar bering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3232" y="4937760"/>
            <a:ext cx="10765231" cy="777240"/>
          </a:xfrm>
          <a:prstGeom prst="roundRect">
            <a:avLst>
              <a:gd name="adj" fmla="val 7000"/>
            </a:avLst>
          </a:prstGeom>
          <a:solidFill>
            <a:srgbClr val="FD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3232" y="4937760"/>
            <a:ext cx="54864" cy="777240"/>
          </a:xfrm>
          <a:prstGeom prst="rect">
            <a:avLst/>
          </a:prstGeom>
          <a:solidFill>
            <a:srgbClr val="C01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9264" y="506577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01D43"/>
                </a:solidFill>
                <a:latin typeface="Segoe UI"/>
              </a:rPr>
              <a:t>ENG MUHIM QOIDA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264" y="5303520"/>
            <a:ext cx="1026231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0B1220"/>
                </a:solidFill>
                <a:latin typeface="Segoe UI"/>
              </a:rPr>
              <a:t>Eng ko'p uchraydigan xato — offline rejimda ishlab, smena yakunida ma'lumotni serverga yuborishni unutish. Yuborilmagan davomat hisobotga tushmaydi va talabgor «kelmagan» bo'lib qoladi.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D62D6"/>
                </a:solidFill>
                <a:latin typeface="Segoe UI"/>
              </a:rPr>
              <a:t>YORDAM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Tez-tez uchraydigan holatlar va yechimi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Quyidagi holatlarda birinchi navbatda o'zingiz shunday harakat qiling.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24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1600200"/>
          <a:ext cx="10725912" cy="3794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17520"/>
                <a:gridCol w="2788920"/>
                <a:gridCol w="4919472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Holat</a:t>
                      </a:r>
                    </a:p>
                  </a:txBody>
                  <a:tcPr marL="137160" marR="91440" marT="45720" marB="45720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Sababi</a:t>
                      </a:r>
                    </a:p>
                  </a:txBody>
                  <a:tcPr marL="137160" marR="91440" marT="45720" marB="45720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Nima qilish kerak</a:t>
                      </a:r>
                    </a:p>
                  </a:txBody>
                  <a:tcPr marL="137160" marR="91440" marT="45720" marB="45720" anchor="ctr">
                    <a:solidFill>
                      <a:srgbClr val="0B1220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0B1220"/>
                          </a:solidFill>
                          <a:latin typeface="Segoe UI"/>
                        </a:rPr>
                        <a:t>«Yuborilmagan» 0 dan katta</a:t>
                      </a:r>
                    </a:p>
                  </a:txBody>
                  <a:tcPr marL="13716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Internet uzilgan</a:t>
                      </a:r>
                    </a:p>
                  </a:txBody>
                  <a:tcPr marL="13716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Tarmoqqa ulaning va yuborish darajasi 100% bo'lguncha kuting</a:t>
                      </a:r>
                    </a:p>
                  </a:txBody>
                  <a:tcPr marL="137160" marR="91440" marT="45720" marB="45720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0B1220"/>
                          </a:solidFill>
                          <a:latin typeface="Segoe UI"/>
                        </a:rPr>
                        <a:t>Kamera ko'rinmayapti</a:t>
                      </a:r>
                    </a:p>
                  </a:txBody>
                  <a:tcPr marL="13716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Kamera to'xtatilgan yoki ulanmagan</a:t>
                      </a:r>
                    </a:p>
                  </a:txBody>
                  <a:tcPr marL="13716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«Start» ni qayta bosing, kamera ulanishini va tanlangan qurilmani tekshiring</a:t>
                      </a:r>
                    </a:p>
                  </a:txBody>
                  <a:tcPr marL="137160" marR="91440" marT="45720" marB="45720" anchor="ctr"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0B1220"/>
                          </a:solidFill>
                          <a:latin typeface="Segoe UI"/>
                        </a:rPr>
                        <a:t>Smenada 0 ta talabgor</a:t>
                      </a:r>
                    </a:p>
                  </a:txBody>
                  <a:tcPr marL="13716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Bu smenada test tadbiri yo'q</a:t>
                      </a:r>
                    </a:p>
                  </a:txBody>
                  <a:tcPr marL="13716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Boshqa sana yoki smenani tanlang</a:t>
                      </a:r>
                    </a:p>
                  </a:txBody>
                  <a:tcPr marL="137160" marR="91440" marT="45720" marB="45720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0B1220"/>
                          </a:solidFill>
                          <a:latin typeface="Segoe UI"/>
                        </a:rPr>
                        <a:t>Yuz mos kelmadi</a:t>
                      </a:r>
                    </a:p>
                  </a:txBody>
                  <a:tcPr marL="13716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Yorug'lik, rakurs yoki eski rasm</a:t>
                      </a:r>
                    </a:p>
                  </a:txBody>
                  <a:tcPr marL="13716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Qayta urinib ko'ring; bo'lmasa «1 x 1» yoki JShShIR orqali tekshiring</a:t>
                      </a:r>
                    </a:p>
                  </a:txBody>
                  <a:tcPr marL="137160" marR="91440" marT="45720" marB="45720" anchor="ctr"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0B1220"/>
                          </a:solidFill>
                          <a:latin typeface="Segoe UI"/>
                        </a:rPr>
                        <a:t>«Chetlatilgan» chiqdi</a:t>
                      </a:r>
                    </a:p>
                  </a:txBody>
                  <a:tcPr marL="13716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Talabgor avval chetlatilgan</a:t>
                      </a:r>
                    </a:p>
                  </a:txBody>
                  <a:tcPr marL="13716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Binoga kiritmang, mas'ul xodimga murojaat qiling</a:t>
                      </a:r>
                    </a:p>
                  </a:txBody>
                  <a:tcPr marL="137160" marR="91440" marT="45720" marB="45720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0B1220"/>
                          </a:solidFill>
                          <a:latin typeface="Segoe UI"/>
                        </a:rPr>
                        <a:t>Botda faol sessiya yo'q</a:t>
                      </a:r>
                    </a:p>
                  </a:txBody>
                  <a:tcPr marL="13716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Sessiya faollashtirilmagan</a:t>
                      </a:r>
                    </a:p>
                  </a:txBody>
                  <a:tcPr marL="13716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Mas'ul xodimdan sessiyani faollashtirishni so'rang</a:t>
                      </a:r>
                    </a:p>
                  </a:txBody>
                  <a:tcPr marL="137160" marR="91440" marT="45720" marB="45720" anchor="ctr"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0B1220"/>
                          </a:solidFill>
                          <a:latin typeface="Segoe UI"/>
                        </a:rPr>
                        <a:t>Bot rasmni qabul qilmadi</a:t>
                      </a:r>
                    </a:p>
                  </a:txBody>
                  <a:tcPr marL="13716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Rasm fayl sifatida yuborilgan</a:t>
                      </a:r>
                    </a:p>
                  </a:txBody>
                  <a:tcPr marL="13716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Suratni FOTO sifatida yuboring (fayl/document emas)</a:t>
                      </a:r>
                    </a:p>
                  </a:txBody>
                  <a:tcPr marL="13716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8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09360" y="0"/>
            <a:ext cx="10972" cy="6858000"/>
          </a:xfrm>
          <a:prstGeom prst="rect">
            <a:avLst/>
          </a:prstGeom>
          <a:solidFill>
            <a:srgbClr val="16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024128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0" b="1" i="0">
                <a:solidFill>
                  <a:srgbClr val="1A263A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" y="2697480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FFFFF"/>
                </a:solidFill>
                <a:latin typeface="Segoe UI"/>
              </a:rPr>
              <a:t>Davomat bot
(Telegram)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" y="4160520"/>
            <a:ext cx="1097280" cy="45720"/>
          </a:xfrm>
          <a:prstGeom prst="rect">
            <a:avLst/>
          </a:prstGeom>
          <a:solidFill>
            <a:srgbClr val="0E8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443484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DCEFFA"/>
                </a:solidFill>
                <a:latin typeface="Segoe UI"/>
              </a:rPr>
              <a:t>Telefon orqali ishlaydigan vosita: davomat statistikasi, kelmaganlar ro'yxati, Face ID va chetlatish.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1417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4748B"/>
                </a:solidFill>
                <a:latin typeface="Segoe UI"/>
              </a:rPr>
              <a:t>BU BO'LIMDA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84708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6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892807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E87C4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82880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3CFDE"/>
                </a:solidFill>
                <a:latin typeface="Segoe UI"/>
              </a:rPr>
              <a:t>Botga kirish va biriktirilgan hudud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250545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6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551175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E87C4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487168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3CFDE"/>
                </a:solidFill>
                <a:latin typeface="Segoe UI"/>
              </a:rPr>
              <a:t>Davomatni olish: sessiya, kun va smena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163823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6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3209543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E87C4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145535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3CFDE"/>
                </a:solidFill>
                <a:latin typeface="Segoe UI"/>
              </a:rPr>
              <a:t>Statistika va kelmaganlar ro'yxati (Excel)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3822191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6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3867911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E87C4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803903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3CFDE"/>
                </a:solidFill>
                <a:latin typeface="Segoe UI"/>
              </a:rPr>
              <a:t>Face ID: pasport yoki ID Card QR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480559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6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4526279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E87C4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462271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3CFDE"/>
                </a:solidFill>
                <a:latin typeface="Segoe UI"/>
              </a:rPr>
              <a:t>Davomatdan olib tashlash va chetlatish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8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E87C4"/>
                </a:solidFill>
                <a:latin typeface="Segoe UI"/>
              </a:rPr>
              <a:t>DAVOMAT 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Botni ishga tushirish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Bot sizni Telegram akkauntingiz bo'yicha taniydi — login va parol kiritilmaydi.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4592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E8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4500"/>
            <a:ext cx="347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" y="1664208"/>
            <a:ext cx="59801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220"/>
                </a:solidFill>
                <a:latin typeface="Segoe UI"/>
              </a:rPr>
              <a:t>Botni oching va /start yuboring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1938528"/>
            <a:ext cx="5980175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Bot havolasini administrator beradi.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45059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E8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519172"/>
            <a:ext cx="347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2468880"/>
            <a:ext cx="59801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220"/>
                </a:solidFill>
                <a:latin typeface="Segoe UI"/>
              </a:rPr>
              <a:t>Ruxsat tekshiriladi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2743200"/>
            <a:ext cx="5980175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Telegram ID ro'yxatda bo'lsa — bot ismingiz bilan salomlashadi. Bo'lmasa, administrator sizni tizimga qo'shishi kerak.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255264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E8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323844"/>
            <a:ext cx="347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6" y="3273552"/>
            <a:ext cx="59801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220"/>
                </a:solidFill>
                <a:latin typeface="Segoe UI"/>
              </a:rPr>
              <a:t>Viloyat aniqlanadi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6" y="3547872"/>
            <a:ext cx="5980175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Sizga biriktirilgan viloyat(lar) ko'rsatiladi va joriy viloyat tanlanadi.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9936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E8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128516"/>
            <a:ext cx="347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5296" y="4078224"/>
            <a:ext cx="59801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220"/>
                </a:solidFill>
                <a:latin typeface="Segoe UI"/>
              </a:rPr>
              <a:t>Bosh menyudan davom eting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4352544"/>
            <a:ext cx="5980175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Istalgan paytda /menu buyrug'i yoki «Bosh menyu» tugmasi boshiga qaytaradi.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76166" y="1691640"/>
            <a:ext cx="2501426" cy="201167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279400" dist="76200" dir="5400000" rotWithShape="0">
              <a:srgbClr val="0B122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s23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606" y="1783080"/>
            <a:ext cx="2318546" cy="1828799"/>
          </a:xfrm>
          <a:prstGeom prst="roundRect">
            <a:avLst>
              <a:gd name="adj" fmla="val 1799"/>
            </a:avLst>
          </a:prstGeom>
          <a:ln w="6350">
            <a:solidFill>
              <a:srgbClr val="E3E8EF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8076166" y="3794759"/>
            <a:ext cx="250142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8C9AAF"/>
                </a:solidFill>
                <a:latin typeface="Segoe UI"/>
              </a:rPr>
              <a:t>Bot profili — «Message» orqali suhbat boshlanadi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4983480"/>
            <a:ext cx="6492240" cy="1097280"/>
          </a:xfrm>
          <a:prstGeom prst="roundRect">
            <a:avLst>
              <a:gd name="adj" fmla="val 7000"/>
            </a:avLst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4983480"/>
            <a:ext cx="54864" cy="10972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11149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45309"/>
                </a:solidFill>
                <a:latin typeface="Segoe UI"/>
              </a:rPr>
              <a:t>RUXSAT MUAMMOSI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" y="5349240"/>
            <a:ext cx="5989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B1220"/>
                </a:solidFill>
                <a:latin typeface="Segoe UI"/>
              </a:rPr>
              <a:t>Bot ochilmasa yoki «ruxsat berilmadi» desa — Telegram akkauntingiz ro'yxatdan o'tmagan. Administratorga Telegram ID raqamingizni yuboring.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23760" y="4983480"/>
            <a:ext cx="4206240" cy="1097280"/>
          </a:xfrm>
          <a:prstGeom prst="roundRect">
            <a:avLst>
              <a:gd name="adj" fmla="val 7000"/>
            </a:avLst>
          </a:prstGeom>
          <a:solidFill>
            <a:srgbClr val="FD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23760" y="4983480"/>
            <a:ext cx="54864" cy="1097280"/>
          </a:xfrm>
          <a:prstGeom prst="rect">
            <a:avLst/>
          </a:prstGeom>
          <a:solidFill>
            <a:srgbClr val="C01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79792" y="511149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01D43"/>
                </a:solidFill>
                <a:latin typeface="Segoe UI"/>
              </a:rPr>
              <a:t>XAVFSIZLIK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5349240"/>
            <a:ext cx="3703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B1220"/>
                </a:solidFill>
                <a:latin typeface="Segoe UI"/>
              </a:rPr>
              <a:t>Botdagi har bir amal sizning nomingizdan yoziladi. Telefoningizni qulfsiz qoldirmang va botni begona qurilmada ochmang.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8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E87C4"/>
                </a:solidFill>
                <a:latin typeface="Segoe UI"/>
              </a:rPr>
              <a:t>DAVOMAT 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Telegram botda biriktirilgan hudud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Rolingizga qarab bot bitta yoki bir nechta viloyat bilan ishlaydi.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45920"/>
            <a:ext cx="5199735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92224"/>
            <a:ext cx="45720" cy="1078992"/>
          </a:xfrm>
          <a:prstGeom prst="rect">
            <a:avLst/>
          </a:prstGeom>
          <a:solidFill>
            <a:srgbClr val="0E8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801368"/>
            <a:ext cx="478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Markaziy apparat xodimi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112264"/>
            <a:ext cx="478825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Bir nechta viloyat biriktiriladi. «Regionni almashtirish» tugmasi orqali kerakli viloyatga o'tasiz — davomat amallari o'sha viloyat kesimida bajariladi.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1645920"/>
            <a:ext cx="5199735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1792224"/>
            <a:ext cx="45720" cy="1078992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6471" y="1801368"/>
            <a:ext cx="478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Hududiy vakil (xodim)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6471" y="2112264"/>
            <a:ext cx="478825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Bitta viloyat biriktiriladi va uni administrator belgilaydi. Viloyatni o'zingiz almashtira olmaysiz — bu ma'lumot xavfsizligi uchun.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4999" y="3127248"/>
            <a:ext cx="2336200" cy="2606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279400" dist="76200" dir="5400000" rotWithShape="0">
              <a:srgbClr val="0B122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9" name="Picture 18" descr="s24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439" y="3218688"/>
            <a:ext cx="2153320" cy="2423160"/>
          </a:xfrm>
          <a:prstGeom prst="roundRect">
            <a:avLst>
              <a:gd name="adj" fmla="val 1799"/>
            </a:avLst>
          </a:prstGeom>
          <a:ln w="6350">
            <a:solidFill>
              <a:srgbClr val="E3E8EF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2144999" y="5824727"/>
            <a:ext cx="2336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8C9AAF"/>
                </a:solidFill>
                <a:latin typeface="Segoe UI"/>
              </a:rPr>
              <a:t>Markaziy apparat xodimi — bir nechta viloyat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6142" y="3127248"/>
            <a:ext cx="3944906" cy="2606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279400" dist="76200" dir="5400000" rotWithShape="0">
              <a:srgbClr val="0B122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2" name="Picture 21" descr="s24_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7582" y="3218688"/>
            <a:ext cx="3762026" cy="2423160"/>
          </a:xfrm>
          <a:prstGeom prst="roundRect">
            <a:avLst>
              <a:gd name="adj" fmla="val 1799"/>
            </a:avLst>
          </a:prstGeom>
          <a:ln w="6350">
            <a:solidFill>
              <a:srgbClr val="E3E8EF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6906142" y="5824727"/>
            <a:ext cx="394490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8C9AAF"/>
                </a:solidFill>
                <a:latin typeface="Segoe UI"/>
              </a:rPr>
              <a:t>Hududiy vakil — bitta biriktirilgan viloyat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8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E87C4"/>
                </a:solidFill>
                <a:latin typeface="Segoe UI"/>
              </a:rPr>
              <a:t>DAVOMAT 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Davomatni olish: sessiya, kun va smena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Faqat FAOL sessiyalar ko'rinadi. Ro'yxat bo'sh bo'lsa — sessiya hali faollashtirilmagan.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4592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E8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05356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1664208"/>
            <a:ext cx="291175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220"/>
                </a:solidFill>
                <a:latin typeface="Segoe UI"/>
              </a:rPr>
              <a:t>Faol test tadbirini tanlang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084832"/>
            <a:ext cx="32775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«📋 Faol test tadbirlari ro'yxati» tugmasi bosiladi va ro'yxatdan sessiya tanlanadi.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57602"/>
            <a:ext cx="3368954" cy="1491637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279400" dist="76200" dir="5400000" rotWithShape="0">
              <a:srgbClr val="0B122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" name="Picture 14" descr="s25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949042"/>
            <a:ext cx="3186074" cy="1308757"/>
          </a:xfrm>
          <a:prstGeom prst="roundRect">
            <a:avLst>
              <a:gd name="adj" fmla="val 1799"/>
            </a:avLst>
          </a:prstGeom>
          <a:ln w="6350">
            <a:solidFill>
              <a:srgbClr val="E3E8EF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713232" y="5440679"/>
            <a:ext cx="336895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8C9AAF"/>
                </a:solidFill>
                <a:latin typeface="Segoe UI"/>
              </a:rPr>
              <a:t>Faol sessiyani tanlash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11370" y="164592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E8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1370" y="1705356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0282" y="1664208"/>
            <a:ext cx="291175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220"/>
                </a:solidFill>
                <a:latin typeface="Segoe UI"/>
              </a:rPr>
              <a:t>Kun va smenani tanlang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1370" y="2084832"/>
            <a:ext cx="32775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Har bir sana uchun 1-smena, 2-smena yoki «Umumiy» varianti mavjud.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8234" y="2743200"/>
            <a:ext cx="2035226" cy="2606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279400" dist="76200" dir="5400000" rotWithShape="0">
              <a:srgbClr val="0B122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2" name="Picture 21" descr="s25_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674" y="2834640"/>
            <a:ext cx="1852346" cy="2423160"/>
          </a:xfrm>
          <a:prstGeom prst="roundRect">
            <a:avLst>
              <a:gd name="adj" fmla="val 1799"/>
            </a:avLst>
          </a:prstGeom>
          <a:ln w="6350">
            <a:solidFill>
              <a:srgbClr val="E3E8EF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5078234" y="5440679"/>
            <a:ext cx="203522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8C9AAF"/>
                </a:solidFill>
                <a:latin typeface="Segoe UI"/>
              </a:rPr>
              <a:t>Kun va smena tugmalari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9508" y="164592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E8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09508" y="1705356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8420" y="1664208"/>
            <a:ext cx="291175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220"/>
                </a:solidFill>
                <a:latin typeface="Segoe UI"/>
              </a:rPr>
              <a:t>Kerakli amalni tanlang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9508" y="2084832"/>
            <a:ext cx="32775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Davomatni olish, kelmaganlar ro'yxati, Face ID, davomatdan olish va chetlatish.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40075" y="2743200"/>
            <a:ext cx="2107820" cy="2606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279400" dist="76200" dir="5400000" rotWithShape="0">
              <a:srgbClr val="0B122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9" name="Picture 28" descr="s25_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1515" y="2834640"/>
            <a:ext cx="1924940" cy="2423160"/>
          </a:xfrm>
          <a:prstGeom prst="roundRect">
            <a:avLst>
              <a:gd name="adj" fmla="val 1799"/>
            </a:avLst>
          </a:prstGeom>
          <a:ln w="6350">
            <a:solidFill>
              <a:srgbClr val="E3E8EF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8740075" y="5440679"/>
            <a:ext cx="21078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8C9AAF"/>
                </a:solidFill>
                <a:latin typeface="Segoe UI"/>
              </a:rPr>
              <a:t>Amallar menyusi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8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E87C4"/>
                </a:solidFill>
                <a:latin typeface="Segoe UI"/>
              </a:rPr>
              <a:t>DAVOMAT 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Davomat statistikasi va kelmaganlar ro'yxati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Ikkala natija ham tanlangan viloyat, kun va smena kesimida tayyorlanadi.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E8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627632"/>
            <a:ext cx="54864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📊 Davomatni olish —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viloyat bo'yicha foiz, jami talabgor, keldi, kelmaganlar va chetlatilganlar soni; pastda binolar kesimi.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46888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E8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77440"/>
            <a:ext cx="54864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📥 Kelmaganlar ro'yxatini olish —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bot Excel fayl tayyorlaydi: kun → smena → viloyat → bino → guruh → joy tartibida saralangan.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2186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0E8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127248"/>
            <a:ext cx="54864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Fayl to'g'ridan-to'g'ri chatga keladi —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uni telefonda ochish yoki kompyuterga yuborish mumkin.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114800"/>
            <a:ext cx="5760720" cy="914400"/>
          </a:xfrm>
          <a:prstGeom prst="roundRect">
            <a:avLst>
              <a:gd name="adj" fmla="val 7000"/>
            </a:avLst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4114800"/>
            <a:ext cx="54864" cy="9144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424281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45309"/>
                </a:solidFill>
                <a:latin typeface="Segoe UI"/>
              </a:rPr>
              <a:t>MASLAHAT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4480560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B1220"/>
                </a:solidFill>
                <a:latin typeface="Segoe UI"/>
              </a:rPr>
              <a:t>Excel tayyorlanishi bir necha soniya vaqt olishi mumkin — «Excel tayyorlanmoqda...» xabaridan keyin kuting, tugmani qayta-qayta bosmang.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5166360"/>
            <a:ext cx="5760720" cy="777240"/>
          </a:xfrm>
          <a:prstGeom prst="roundRect">
            <a:avLst>
              <a:gd name="adj" fmla="val 7000"/>
            </a:avLst>
          </a:prstGeom>
          <a:solidFill>
            <a:srgbClr val="FD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5166360"/>
            <a:ext cx="54864" cy="777240"/>
          </a:xfrm>
          <a:prstGeom prst="rect">
            <a:avLst/>
          </a:prstGeom>
          <a:solidFill>
            <a:srgbClr val="C01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529437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01D43"/>
                </a:solidFill>
                <a:latin typeface="Segoe UI"/>
              </a:rPr>
              <a:t>MAXFIYLIK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5532120"/>
            <a:ext cx="5257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B1220"/>
                </a:solidFill>
                <a:latin typeface="Segoe UI"/>
              </a:rPr>
              <a:t>Ro'yxatdagi shaxsiy ma'lumotlarni tashqi shaxslarga yubormang.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18966" y="1737360"/>
            <a:ext cx="4667187" cy="30175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279400" dist="76200" dir="5400000" rotWithShape="0">
              <a:srgbClr val="0B122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5" name="Picture 24" descr="s25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406" y="1828800"/>
            <a:ext cx="4484307" cy="2834640"/>
          </a:xfrm>
          <a:prstGeom prst="roundRect">
            <a:avLst>
              <a:gd name="adj" fmla="val 1799"/>
            </a:avLst>
          </a:prstGeom>
          <a:ln w="6350">
            <a:solidFill>
              <a:srgbClr val="E3E8EF"/>
            </a:solidFill>
          </a:ln>
        </p:spPr>
      </p:pic>
      <p:sp>
        <p:nvSpPr>
          <p:cNvPr id="26" name="TextBox 25"/>
          <p:cNvSpPr txBox="1"/>
          <p:nvPr/>
        </p:nvSpPr>
        <p:spPr>
          <a:xfrm>
            <a:off x="6718966" y="4846319"/>
            <a:ext cx="46671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8C9AAF"/>
                </a:solidFill>
                <a:latin typeface="Segoe UI"/>
              </a:rPr>
              <a:t>«Davomatni olish» natijasi — viloyat va binolar kesimi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8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E87C4"/>
                </a:solidFill>
                <a:latin typeface="Segoe UI"/>
              </a:rPr>
              <a:t>DAVOMAT 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Face ID tekshiruvi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Talabgorning yuzi davlat bazasidagi rasm bilan solishtiriladi va u shu smenaga tegishli ekani tekshiriladi.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45920"/>
            <a:ext cx="5199735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645920"/>
            <a:ext cx="5199735" cy="45720"/>
          </a:xfrm>
          <a:prstGeom prst="rect">
            <a:avLst/>
          </a:prstGeom>
          <a:solidFill>
            <a:srgbClr val="0E8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1874519"/>
            <a:ext cx="4742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220"/>
                </a:solidFill>
                <a:latin typeface="Segoe UI"/>
              </a:rPr>
              <a:t>A · ✍️ Pasportni qo'lda kiritish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" y="237744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E8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3584" y="2286000"/>
            <a:ext cx="4468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B1220"/>
                </a:solidFill>
                <a:latin typeface="Segoe UI"/>
              </a:rPr>
              <a:t>1/3 — </a:t>
            </a:r>
            <a:r>
              <a:rPr sz="1050" b="0" i="0">
                <a:solidFill>
                  <a:srgbClr val="475569"/>
                </a:solidFill>
                <a:latin typeface="Segoe UI"/>
              </a:rPr>
              <a:t>pasport seriya va raqami (masalan AA1234567).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" y="28803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E8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3584" y="2788920"/>
            <a:ext cx="4468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B1220"/>
                </a:solidFill>
                <a:latin typeface="Segoe UI"/>
              </a:rPr>
              <a:t>2/3 — </a:t>
            </a:r>
            <a:r>
              <a:rPr sz="1050" b="0" i="0">
                <a:solidFill>
                  <a:srgbClr val="475569"/>
                </a:solidFill>
                <a:latin typeface="Segoe UI"/>
              </a:rPr>
              <a:t>JShShIR: 14 ta raqam.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" y="338328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E8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43584" y="3291840"/>
            <a:ext cx="4468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B1220"/>
                </a:solidFill>
                <a:latin typeface="Segoe UI"/>
              </a:rPr>
              <a:t>3/3 — </a:t>
            </a:r>
            <a:r>
              <a:rPr sz="1050" b="0" i="0">
                <a:solidFill>
                  <a:srgbClr val="475569"/>
                </a:solidFill>
                <a:latin typeface="Segoe UI"/>
              </a:rPr>
              <a:t>talabgorning selfie surati.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8727" y="1645920"/>
            <a:ext cx="5199735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78727" y="1645920"/>
            <a:ext cx="5199735" cy="45720"/>
          </a:xfrm>
          <a:prstGeom prst="rect">
            <a:avLst/>
          </a:prstGeom>
          <a:solidFill>
            <a:srgbClr val="0E8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4759" y="1874519"/>
            <a:ext cx="4742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220"/>
                </a:solidFill>
                <a:latin typeface="Segoe UI"/>
              </a:rPr>
              <a:t>B · 📷 ID Card QR kodini yuborish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4759" y="237744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E8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9079" y="2286000"/>
            <a:ext cx="4468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B1220"/>
                </a:solidFill>
                <a:latin typeface="Segoe UI"/>
              </a:rPr>
              <a:t>1/2 — </a:t>
            </a:r>
            <a:r>
              <a:rPr sz="1050" b="0" i="0">
                <a:solidFill>
                  <a:srgbClr val="475569"/>
                </a:solidFill>
                <a:latin typeface="Segoe UI"/>
              </a:rPr>
              <a:t>ID kartaning orqa tomonidagi QR kodni suratga oling.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4759" y="28803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E8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9079" y="2788920"/>
            <a:ext cx="4468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B1220"/>
                </a:solidFill>
                <a:latin typeface="Segoe UI"/>
              </a:rPr>
              <a:t>Bot o'zi o'qiydi — </a:t>
            </a:r>
            <a:r>
              <a:rPr sz="1050" b="0" i="0">
                <a:solidFill>
                  <a:srgbClr val="475569"/>
                </a:solidFill>
                <a:latin typeface="Segoe UI"/>
              </a:rPr>
              <a:t>pasport ma'lumotini qo'lda kiritish shart emas.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4759" y="338328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E8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09079" y="3291840"/>
            <a:ext cx="4468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B1220"/>
                </a:solidFill>
                <a:latin typeface="Segoe UI"/>
              </a:rPr>
              <a:t>2/2 — </a:t>
            </a:r>
            <a:r>
              <a:rPr sz="1050" b="0" i="0">
                <a:solidFill>
                  <a:srgbClr val="475569"/>
                </a:solidFill>
                <a:latin typeface="Segoe UI"/>
              </a:rPr>
              <a:t>so'ng talabgorning selfie suratini yuboring.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4251960"/>
            <a:ext cx="5199735" cy="1371600"/>
          </a:xfrm>
          <a:prstGeom prst="roundRect">
            <a:avLst>
              <a:gd name="adj" fmla="val 7000"/>
            </a:avLst>
          </a:prstGeom>
          <a:solidFill>
            <a:srgbClr val="DC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3232" y="4251960"/>
            <a:ext cx="54864" cy="1371600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" y="437997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D8B5E"/>
                </a:solidFill>
                <a:latin typeface="Segoe UI"/>
              </a:rPr>
              <a:t>NATIJA IJOBIY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" y="4617720"/>
            <a:ext cx="46968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B1220"/>
                </a:solidFill>
                <a:latin typeface="Segoe UI"/>
              </a:rPr>
              <a:t>Natija ijobiy bo'lsa — «✅ Davomatga qo'shish» tugmasi chiqadi. Bosilgach talabgor «Keldi» deb belgilanadi va bu admin panelda ham ko'rinadi.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8727" y="4251960"/>
            <a:ext cx="5199735" cy="1371600"/>
          </a:xfrm>
          <a:prstGeom prst="roundRect">
            <a:avLst>
              <a:gd name="adj" fmla="val 7000"/>
            </a:avLst>
          </a:prstGeom>
          <a:solidFill>
            <a:srgbClr val="FD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78727" y="4251960"/>
            <a:ext cx="54864" cy="1371600"/>
          </a:xfrm>
          <a:prstGeom prst="rect">
            <a:avLst/>
          </a:prstGeom>
          <a:solidFill>
            <a:srgbClr val="C01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4759" y="437997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01D43"/>
                </a:solidFill>
                <a:latin typeface="Segoe UI"/>
              </a:rPr>
              <a:t>NATIJA SALBIY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4759" y="4617720"/>
            <a:ext cx="46968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B1220"/>
                </a:solidFill>
                <a:latin typeface="Segoe UI"/>
              </a:rPr>
              <a:t>Yuz mos kelmasa yoki talabgor boshqa smenaga tegishli bo'lsa — davomatga QO'SHMANG. «❌ Bekor qilish» ni bosing va mas'ul xodimga murojaat qiling.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8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E87C4"/>
                </a:solidFill>
                <a:latin typeface="Segoe UI"/>
              </a:rPr>
              <a:t>DAVOMAT 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Selfie qoidalari, tuzatish va chetlatish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Surat sifati natijaga bevosita ta'sir qiladi. Xatoni esa bot orqali o'zingiz tuzatishingiz mumkin.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45920"/>
            <a:ext cx="3417722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92224"/>
            <a:ext cx="45720" cy="1901952"/>
          </a:xfrm>
          <a:prstGeom prst="rect">
            <a:avLst/>
          </a:prstGeom>
          <a:solidFill>
            <a:srgbClr val="0E8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801368"/>
            <a:ext cx="300624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📸 Selfie qoidalari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112264"/>
            <a:ext cx="3006242" cy="1691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Yorug' joyda, yuz to'liq va to'g'ri ko'rinsin. Bosh kiyim, quyosh ko'zoynagi va niqob bo'lmasin. Suratni albatta FOTO sifatida yuboring — fayl (document) sifatida yuborilgan rasm qabul qilinmaydi.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6986" y="1645920"/>
            <a:ext cx="3417722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6986" y="1792224"/>
            <a:ext cx="45720" cy="1901952"/>
          </a:xfrm>
          <a:prstGeom prst="rect">
            <a:avLst/>
          </a:prstGeom>
          <a:solidFill>
            <a:srgbClr val="0E8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4730" y="1801368"/>
            <a:ext cx="300624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🗑 Davomatdan olib tashlash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4730" y="2112264"/>
            <a:ext cx="3006242" cy="1691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Xato belgilangan davomatni tuzatish uchun: JShShIR (14 raqam) kiriting → topilgan talabgorni tekshiring → «✅ Ha, olib tashlansin». Kirish tarixi o'chmaydi, faqat «Keldi» belgisi olinadi.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0740" y="1645920"/>
            <a:ext cx="3417722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0740" y="1792224"/>
            <a:ext cx="45720" cy="1901952"/>
          </a:xfrm>
          <a:prstGeom prst="rect">
            <a:avLst/>
          </a:prstGeom>
          <a:solidFill>
            <a:srgbClr val="0E8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8484" y="1801368"/>
            <a:ext cx="300624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🚫 Chetlatish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8484" y="2112264"/>
            <a:ext cx="3006242" cy="1691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Chetlatish turini tanlang → JShShIR kiriting → sababni tanlang → «✅ Ha, chetlatilsin». Yozuv admin paneldagi «Chetlatilganlar» sahifasida darhol ko'rinadi.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69080"/>
            <a:ext cx="10765231" cy="868680"/>
          </a:xfrm>
          <a:prstGeom prst="roundRect">
            <a:avLst>
              <a:gd name="adj" fmla="val 7000"/>
            </a:avLst>
          </a:prstGeom>
          <a:solidFill>
            <a:srgbClr val="FD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69080"/>
            <a:ext cx="54864" cy="868680"/>
          </a:xfrm>
          <a:prstGeom prst="rect">
            <a:avLst/>
          </a:prstGeom>
          <a:solidFill>
            <a:srgbClr val="C01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19709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01D43"/>
                </a:solidFill>
                <a:latin typeface="Segoe UI"/>
              </a:rPr>
              <a:t>OLTIN QOIDA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434840"/>
            <a:ext cx="10262311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0B1220"/>
                </a:solidFill>
                <a:latin typeface="Segoe UI"/>
              </a:rPr>
              <a:t>Tasdiqlash tugmasini bosishdan OLDIN ekrandagi F.I.Sh, guruh va joy raqamini diqqat bilan o'qing. Noto'g'ri talabgorni chetlatish yoki davomatdan chiqarish jiddiy xatolik hisoblanadi.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074920"/>
            <a:ext cx="10765231" cy="731520"/>
          </a:xfrm>
          <a:prstGeom prst="roundRect">
            <a:avLst>
              <a:gd name="adj" fmla="val 7000"/>
            </a:avLst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" y="5074920"/>
            <a:ext cx="54864" cy="7315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520293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45309"/>
                </a:solidFill>
                <a:latin typeface="Segoe UI"/>
              </a:rPr>
              <a:t>TEZ-TEZ UCHRAYDI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" y="5440680"/>
            <a:ext cx="102623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0B1220"/>
                </a:solidFill>
                <a:latin typeface="Segoe UI"/>
              </a:rPr>
              <a:t>Bot «Sessiya ma'lumotlari yo'qoldi» desa — /start bilan qaytadan boshlang, ma'lumot yo'qolmaydi.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09360" y="0"/>
            <a:ext cx="10972" cy="6858000"/>
          </a:xfrm>
          <a:prstGeom prst="rect">
            <a:avLst/>
          </a:prstGeom>
          <a:solidFill>
            <a:srgbClr val="16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024128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0" b="1" i="0">
                <a:solidFill>
                  <a:srgbClr val="1A263A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" y="2697480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FFFFF"/>
                </a:solidFill>
                <a:latin typeface="Segoe UI"/>
              </a:rPr>
              <a:t>Admin panel
(web)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" y="4160520"/>
            <a:ext cx="1097280" cy="45720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443484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DCF5E9"/>
                </a:solidFill>
                <a:latin typeface="Segoe UI"/>
              </a:rPr>
              <a:t>Brauzer orqali ishlaydigan boshqaruv paneli — ro'yxatlar, filtrlar, hisobotlar va statistika.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1417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4748B"/>
                </a:solidFill>
                <a:latin typeface="Segoe UI"/>
              </a:rPr>
              <a:t>BU BO'LIMDA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84708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6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892807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D8B5E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82880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3CFDE"/>
                </a:solidFill>
                <a:latin typeface="Segoe UI"/>
              </a:rPr>
              <a:t>Tizimga kirish va xavfsizlik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250545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6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551175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D8B5E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487168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3CFDE"/>
                </a:solidFill>
                <a:latin typeface="Segoe UI"/>
              </a:rPr>
              <a:t>Menyu tuzilishi va ruxsatlar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163823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6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3209543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D8B5E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145535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3CFDE"/>
                </a:solidFill>
                <a:latin typeface="Segoe UI"/>
              </a:rPr>
              <a:t>Talabgorlar sahifasi, filtrlar va «Range guruh»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3822191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6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3867911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D8B5E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803903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3CFDE"/>
                </a:solidFill>
                <a:latin typeface="Segoe UI"/>
              </a:rPr>
              <a:t>Eksport va ommaviy amallar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480559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6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4526279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D8B5E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462271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3CFDE"/>
                </a:solidFill>
                <a:latin typeface="Segoe UI"/>
              </a:rPr>
              <a:t>Davomat, loglar va qo'shimcha xizmatlar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D8B5E"/>
                </a:solidFill>
                <a:latin typeface="Segoe UI"/>
              </a:rPr>
              <a:t>ADMIN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Tizimga kirish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Panelga faqat sizga berilgan shaxsiy login va parol bilan kiriladi.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4592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4500"/>
            <a:ext cx="347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" y="1664208"/>
            <a:ext cx="54315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220"/>
                </a:solidFill>
                <a:latin typeface="Segoe UI"/>
              </a:rPr>
              <a:t>Brauzerda manzilni oching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1938528"/>
            <a:ext cx="5431536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Administrator bergan manzil, masalan: face-id.uzbmb.uz. Chrome yoki Edge tavsiya etiladi.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42316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491740"/>
            <a:ext cx="347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2441448"/>
            <a:ext cx="54315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220"/>
                </a:solidFill>
                <a:latin typeface="Segoe UI"/>
              </a:rPr>
              <a:t>«Login» va «Parol» maydonlarini to'ldiring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2715768"/>
            <a:ext cx="5431536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Login — sizga berilgan foydalanuvchi nomi. Parolni faqat siz bilasiz.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20040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268980"/>
            <a:ext cx="347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6" y="3218688"/>
            <a:ext cx="54315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220"/>
                </a:solidFill>
                <a:latin typeface="Segoe UI"/>
              </a:rPr>
              <a:t>«Kirish» tugmasini bosing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6" y="3493008"/>
            <a:ext cx="5431536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Parol xato bo'lsa — urinish tizimda qayd etiladi.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3977639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046220"/>
            <a:ext cx="347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5296" y="3995927"/>
            <a:ext cx="54315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220"/>
                </a:solidFill>
                <a:latin typeface="Segoe UI"/>
              </a:rPr>
              <a:t>Ish tugagach — tizimdan chiqing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4270248"/>
            <a:ext cx="5431536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Ayniqsa umumiy kompyuterda. Brauzerni shunchaki yopish yetarli emas.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5637" y="1554480"/>
            <a:ext cx="2836724" cy="3474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279400" dist="76200" dir="5400000" rotWithShape="0">
              <a:srgbClr val="0B122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s29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7077" y="1645920"/>
            <a:ext cx="2653844" cy="3291839"/>
          </a:xfrm>
          <a:prstGeom prst="roundRect">
            <a:avLst>
              <a:gd name="adj" fmla="val 1799"/>
            </a:avLst>
          </a:prstGeom>
          <a:ln w="6350">
            <a:solidFill>
              <a:srgbClr val="E3E8EF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7725637" y="5120639"/>
            <a:ext cx="28367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8C9AAF"/>
                </a:solidFill>
                <a:latin typeface="Segoe UI"/>
              </a:rPr>
              <a:t>Admin panel — kirish sahifasi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4937760"/>
            <a:ext cx="5943600" cy="914400"/>
          </a:xfrm>
          <a:prstGeom prst="roundRect">
            <a:avLst>
              <a:gd name="adj" fmla="val 7000"/>
            </a:avLst>
          </a:prstGeom>
          <a:solidFill>
            <a:srgbClr val="FD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4937760"/>
            <a:ext cx="54864" cy="914400"/>
          </a:xfrm>
          <a:prstGeom prst="rect">
            <a:avLst/>
          </a:prstGeom>
          <a:solidFill>
            <a:srgbClr val="C01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06577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01D43"/>
                </a:solidFill>
                <a:latin typeface="Segoe UI"/>
              </a:rPr>
              <a:t>XAVFSIZLIK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" y="5303520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B1220"/>
                </a:solidFill>
                <a:latin typeface="Segoe UI"/>
              </a:rPr>
              <a:t>Har bir amal (kim, qachon, qaysi IP) tizimda saqlanadi. Boshqa xodimning hisobi bilan ishlamang — javobgarlik hisob egasiga yuklanadi.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D8B5E"/>
                </a:solidFill>
                <a:latin typeface="Segoe UI"/>
              </a:rPr>
              <a:t>ADMIN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Ekran tuzilishi va menyu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Chap menyu bo'limlarga ajratilgan. Sizda faqat ruxsat berilgan bo'limlar ko'rinadi.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627632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B1220"/>
                </a:solidFill>
                <a:latin typeface="Segoe UI"/>
              </a:rPr>
              <a:t>Test markazi — </a:t>
            </a:r>
            <a:r>
              <a:rPr sz="1100" b="0" i="0">
                <a:solidFill>
                  <a:srgbClr val="475569"/>
                </a:solidFill>
                <a:latin typeface="Segoe UI"/>
              </a:rPr>
              <a:t>Test Dashboard, Davomat, Test sessiyalar, Talabgorlar, Binoga kirish loglari, Chetlatilganlar.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4963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404872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B1220"/>
                </a:solidFill>
                <a:latin typeface="Segoe UI"/>
              </a:rPr>
              <a:t>Sozlamalar — </a:t>
            </a:r>
            <a:r>
              <a:rPr sz="1100" b="0" i="0">
                <a:solidFill>
                  <a:srgbClr val="475569"/>
                </a:solidFill>
                <a:latin typeface="Segoe UI"/>
              </a:rPr>
              <a:t>Viloyatlar, Binolar, Testlar va boshqa ma'lumotnomalar.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27355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182112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B1220"/>
                </a:solidFill>
                <a:latin typeface="Segoe UI"/>
              </a:rPr>
              <a:t>Pastda — </a:t>
            </a:r>
            <a:r>
              <a:rPr sz="1100" b="0" i="0">
                <a:solidFill>
                  <a:srgbClr val="475569"/>
                </a:solidFill>
                <a:latin typeface="Segoe UI"/>
              </a:rPr>
              <a:t>foydalanuvchi nomi, roli va «Chiqish» tugmasi.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160520"/>
            <a:ext cx="3566160" cy="1234440"/>
          </a:xfrm>
          <a:prstGeom prst="roundRect">
            <a:avLst>
              <a:gd name="adj" fmla="val 7000"/>
            </a:avLst>
          </a:prstGeom>
          <a:solidFill>
            <a:srgbClr val="DC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4160520"/>
            <a:ext cx="54864" cy="1234440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428853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D8B5E"/>
                </a:solidFill>
                <a:latin typeface="Segoe UI"/>
              </a:rPr>
              <a:t>RUXSATLAR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4526280"/>
            <a:ext cx="30632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B1220"/>
                </a:solidFill>
                <a:latin typeface="Segoe UI"/>
              </a:rPr>
              <a:t>Bo'lim ko'rinmasa — bu xato emas: rolingizda unga ruxsat yo'q. Kerak bo'lsa administratorga murojaat qiling.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1627493"/>
            <a:ext cx="6858000" cy="369445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279400" dist="76200" dir="5400000" rotWithShape="0">
              <a:srgbClr val="0B122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s30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718933"/>
            <a:ext cx="6675120" cy="3511572"/>
          </a:xfrm>
          <a:prstGeom prst="roundRect">
            <a:avLst>
              <a:gd name="adj" fmla="val 1799"/>
            </a:avLst>
          </a:prstGeom>
          <a:ln w="6350">
            <a:solidFill>
              <a:srgbClr val="E3E8EF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4572000" y="5413386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8C9AAF"/>
                </a:solidFill>
                <a:latin typeface="Segoe UI"/>
              </a:rPr>
              <a:t>Test Dashboard — panelning bosh sahifasi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D8B5E"/>
                </a:solidFill>
                <a:latin typeface="Segoe UI"/>
              </a:rPr>
              <a:t>ADMIN PANEL · ASOSIY ISH MAYDONI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Talabgorlar sahifasi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Bu yerda talabgorni qidirasiz, holatini ko'rasiz va ro'yxatni filtrlab Excel yoki PDF qilib yuklab olasiz.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627632"/>
            <a:ext cx="49377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Qidiruv maydoni —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familiya, ism yoki JShShIR bo'yicha.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2860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194560"/>
            <a:ext cx="49377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«Filterlar» tugmasi —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filtr panelini ochadi; yonidagi raqam nechta filtr yoqilganini bildiradi.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852928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761488"/>
            <a:ext cx="49377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Qatorga bosing —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o'ng tomonda talabgorning to'liq kartasi ochiladi.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419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328416"/>
            <a:ext cx="49377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Sahifalash —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bir sahifada 20 ta yozuv.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1645920"/>
            <a:ext cx="5148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Jadval ustunlari: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1993392"/>
            <a:ext cx="636422" cy="292608"/>
          </a:xfrm>
          <a:prstGeom prst="roundRect">
            <a:avLst>
              <a:gd name="adj" fmla="val 50000"/>
            </a:avLst>
          </a:prstGeom>
          <a:solidFill>
            <a:srgbClr val="DCF5E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2057400"/>
            <a:ext cx="63642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D8B5E"/>
                </a:solidFill>
                <a:latin typeface="Segoe UI"/>
              </a:rPr>
              <a:t>Test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09790" y="1993392"/>
            <a:ext cx="853135" cy="292608"/>
          </a:xfrm>
          <a:prstGeom prst="roundRect">
            <a:avLst>
              <a:gd name="adj" fmla="val 50000"/>
            </a:avLst>
          </a:prstGeom>
          <a:solidFill>
            <a:srgbClr val="DCF5E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09790" y="2057400"/>
            <a:ext cx="8531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D8B5E"/>
                </a:solidFill>
                <a:latin typeface="Segoe UI"/>
              </a:rPr>
              <a:t>Sessiya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45221" y="1993392"/>
            <a:ext cx="853135" cy="292608"/>
          </a:xfrm>
          <a:prstGeom prst="roundRect">
            <a:avLst>
              <a:gd name="adj" fmla="val 50000"/>
            </a:avLst>
          </a:prstGeom>
          <a:solidFill>
            <a:srgbClr val="DCF5E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45221" y="2057400"/>
            <a:ext cx="8531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D8B5E"/>
                </a:solidFill>
                <a:latin typeface="Segoe UI"/>
              </a:rPr>
              <a:t>Viloyat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80652" y="1993392"/>
            <a:ext cx="780897" cy="292608"/>
          </a:xfrm>
          <a:prstGeom prst="roundRect">
            <a:avLst>
              <a:gd name="adj" fmla="val 50000"/>
            </a:avLst>
          </a:prstGeom>
          <a:solidFill>
            <a:srgbClr val="DCF5E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80652" y="2057400"/>
            <a:ext cx="78089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D8B5E"/>
                </a:solidFill>
                <a:latin typeface="Segoe UI"/>
              </a:rPr>
              <a:t>F.I.Sh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43846" y="1993392"/>
            <a:ext cx="853135" cy="292608"/>
          </a:xfrm>
          <a:prstGeom prst="roundRect">
            <a:avLst>
              <a:gd name="adj" fmla="val 50000"/>
            </a:avLst>
          </a:prstGeom>
          <a:solidFill>
            <a:srgbClr val="DCF5E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43846" y="2057400"/>
            <a:ext cx="8531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D8B5E"/>
                </a:solidFill>
                <a:latin typeface="Segoe UI"/>
              </a:rPr>
              <a:t>JShShIR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79277" y="1993392"/>
            <a:ext cx="636422" cy="292608"/>
          </a:xfrm>
          <a:prstGeom prst="roundRect">
            <a:avLst>
              <a:gd name="adj" fmla="val 50000"/>
            </a:avLst>
          </a:prstGeom>
          <a:solidFill>
            <a:srgbClr val="DCF5E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79277" y="2057400"/>
            <a:ext cx="63642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D8B5E"/>
                </a:solidFill>
                <a:latin typeface="Segoe UI"/>
              </a:rPr>
              <a:t>Sana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2368296"/>
            <a:ext cx="708660" cy="292608"/>
          </a:xfrm>
          <a:prstGeom prst="roundRect">
            <a:avLst>
              <a:gd name="adj" fmla="val 50000"/>
            </a:avLst>
          </a:prstGeom>
          <a:solidFill>
            <a:srgbClr val="DCF5E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2" y="2432303"/>
            <a:ext cx="7086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D8B5E"/>
                </a:solidFill>
                <a:latin typeface="Segoe UI"/>
              </a:rPr>
              <a:t>Smena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82028" y="2368296"/>
            <a:ext cx="708660" cy="292608"/>
          </a:xfrm>
          <a:prstGeom prst="roundRect">
            <a:avLst>
              <a:gd name="adj" fmla="val 50000"/>
            </a:avLst>
          </a:prstGeom>
          <a:solidFill>
            <a:srgbClr val="DCF5E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82028" y="2432303"/>
            <a:ext cx="7086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D8B5E"/>
                </a:solidFill>
                <a:latin typeface="Segoe UI"/>
              </a:rPr>
              <a:t>Guruh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72983" y="2368296"/>
            <a:ext cx="1069848" cy="292608"/>
          </a:xfrm>
          <a:prstGeom prst="roundRect">
            <a:avLst>
              <a:gd name="adj" fmla="val 50000"/>
            </a:avLst>
          </a:prstGeom>
          <a:solidFill>
            <a:srgbClr val="DCF5E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72983" y="2432303"/>
            <a:ext cx="1069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D8B5E"/>
                </a:solidFill>
                <a:latin typeface="Segoe UI"/>
              </a:rPr>
              <a:t>Chetlatish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25128" y="2368296"/>
            <a:ext cx="708660" cy="292608"/>
          </a:xfrm>
          <a:prstGeom prst="roundRect">
            <a:avLst>
              <a:gd name="adj" fmla="val 50000"/>
            </a:avLst>
          </a:prstGeom>
          <a:solidFill>
            <a:srgbClr val="DCF5E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25128" y="2432303"/>
            <a:ext cx="7086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D8B5E"/>
                </a:solidFill>
                <a:latin typeface="Segoe UI"/>
              </a:rPr>
              <a:t>Keldi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16084" y="2368296"/>
            <a:ext cx="708660" cy="292608"/>
          </a:xfrm>
          <a:prstGeom prst="roundRect">
            <a:avLst>
              <a:gd name="adj" fmla="val 50000"/>
            </a:avLst>
          </a:prstGeom>
          <a:solidFill>
            <a:srgbClr val="DCF5E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16084" y="2432303"/>
            <a:ext cx="7086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D8B5E"/>
                </a:solidFill>
                <a:latin typeface="Segoe UI"/>
              </a:rPr>
              <a:t>Holat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91072" y="3429000"/>
            <a:ext cx="5148072" cy="1097280"/>
          </a:xfrm>
          <a:prstGeom prst="roundRect">
            <a:avLst>
              <a:gd name="adj" fmla="val 7000"/>
            </a:avLst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91072" y="3429000"/>
            <a:ext cx="54864" cy="10972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47104" y="355701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45309"/>
                </a:solidFill>
                <a:latin typeface="Segoe UI"/>
              </a:rPr>
              <a:t>DIQQAT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47104" y="3794760"/>
            <a:ext cx="46451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B1220"/>
                </a:solidFill>
                <a:latin typeface="Segoe UI"/>
              </a:rPr>
              <a:t>«Keldi» ustuni davomatni ko'rsatadi: Ha — talabgor binoga kirgan. Bu belgini qo'lda o'zgartirmang, u davomat jarayonida avtomatik qo'yiladi.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3232" y="4251960"/>
            <a:ext cx="10765231" cy="731520"/>
          </a:xfrm>
          <a:prstGeom prst="roundRect">
            <a:avLst>
              <a:gd name="adj" fmla="val 7000"/>
            </a:avLst>
          </a:prstGeom>
          <a:solidFill>
            <a:srgbClr val="DC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13232" y="4251960"/>
            <a:ext cx="54864" cy="731520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9264" y="437997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D8B5E"/>
                </a:solidFill>
                <a:latin typeface="Segoe UI"/>
              </a:rPr>
              <a:t>ASOSIY QOIDA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" y="4617720"/>
            <a:ext cx="102623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0B1220"/>
                </a:solidFill>
                <a:latin typeface="Segoe UI"/>
              </a:rPr>
              <a:t>Talabgorlar sahifasidagi har qanday amal — eksport, rasm tortish, bino o'zgartirish — HAR DOIM joriy filtr bo'yicha bajariladi.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D8B5E"/>
                </a:solidFill>
                <a:latin typeface="Segoe UI"/>
              </a:rPr>
              <a:t>TALABGORLAR SAHIFASI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Qidiruv va filtrlar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Filtrlar birgalikda ishlaydi: bir vaqtda viloyat, smena va sanani cheklashingiz mumkin.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45920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220"/>
                </a:solidFill>
                <a:latin typeface="Segoe UI"/>
              </a:rPr>
              <a:t>Mavjud filtrlar: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975104"/>
            <a:ext cx="636422" cy="292608"/>
          </a:xfrm>
          <a:prstGeom prst="roundRect">
            <a:avLst>
              <a:gd name="adj" fmla="val 50000"/>
            </a:avLst>
          </a:prstGeom>
          <a:solidFill>
            <a:srgbClr val="DCF5E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039112"/>
            <a:ext cx="63642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D8B5E"/>
                </a:solidFill>
                <a:latin typeface="Segoe UI"/>
              </a:rPr>
              <a:t>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31950" y="1975104"/>
            <a:ext cx="853135" cy="292608"/>
          </a:xfrm>
          <a:prstGeom prst="roundRect">
            <a:avLst>
              <a:gd name="adj" fmla="val 50000"/>
            </a:avLst>
          </a:prstGeom>
          <a:solidFill>
            <a:srgbClr val="DCF5E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31950" y="2039112"/>
            <a:ext cx="8531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D8B5E"/>
                </a:solidFill>
                <a:latin typeface="Segoe UI"/>
              </a:rPr>
              <a:t>Viloyat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67381" y="1975104"/>
            <a:ext cx="636422" cy="292608"/>
          </a:xfrm>
          <a:prstGeom prst="roundRect">
            <a:avLst>
              <a:gd name="adj" fmla="val 50000"/>
            </a:avLst>
          </a:prstGeom>
          <a:solidFill>
            <a:srgbClr val="DCF5E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67381" y="2039112"/>
            <a:ext cx="63642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D8B5E"/>
                </a:solidFill>
                <a:latin typeface="Segoe UI"/>
              </a:rPr>
              <a:t>Bino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86100" y="1975104"/>
            <a:ext cx="708660" cy="292608"/>
          </a:xfrm>
          <a:prstGeom prst="roundRect">
            <a:avLst>
              <a:gd name="adj" fmla="val 50000"/>
            </a:avLst>
          </a:prstGeom>
          <a:solidFill>
            <a:srgbClr val="DCF5E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86100" y="2039112"/>
            <a:ext cx="7086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D8B5E"/>
                </a:solidFill>
                <a:latin typeface="Segoe UI"/>
              </a:rPr>
              <a:t>Smena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77056" y="1975104"/>
            <a:ext cx="708660" cy="292608"/>
          </a:xfrm>
          <a:prstGeom prst="roundRect">
            <a:avLst>
              <a:gd name="adj" fmla="val 50000"/>
            </a:avLst>
          </a:prstGeom>
          <a:solidFill>
            <a:srgbClr val="DCF5E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77056" y="2039112"/>
            <a:ext cx="7086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D8B5E"/>
                </a:solidFill>
                <a:latin typeface="Segoe UI"/>
              </a:rPr>
              <a:t>Jinsi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8012" y="1975104"/>
            <a:ext cx="708660" cy="292608"/>
          </a:xfrm>
          <a:prstGeom prst="roundRect">
            <a:avLst>
              <a:gd name="adj" fmla="val 50000"/>
            </a:avLst>
          </a:prstGeom>
          <a:solidFill>
            <a:srgbClr val="DCF5E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8012" y="2039112"/>
            <a:ext cx="7086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D8B5E"/>
                </a:solidFill>
                <a:latin typeface="Segoe UI"/>
              </a:rPr>
              <a:t>Guruh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58968" y="1975104"/>
            <a:ext cx="1142085" cy="292608"/>
          </a:xfrm>
          <a:prstGeom prst="roundRect">
            <a:avLst>
              <a:gd name="adj" fmla="val 50000"/>
            </a:avLst>
          </a:prstGeom>
          <a:solidFill>
            <a:srgbClr val="DCF5E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58968" y="2039112"/>
            <a:ext cx="114208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D8B5E"/>
                </a:solidFill>
                <a:latin typeface="Segoe UI"/>
              </a:rPr>
              <a:t>Range guruh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83349" y="1975104"/>
            <a:ext cx="1069848" cy="292608"/>
          </a:xfrm>
          <a:prstGeom prst="roundRect">
            <a:avLst>
              <a:gd name="adj" fmla="val 50000"/>
            </a:avLst>
          </a:prstGeom>
          <a:solidFill>
            <a:srgbClr val="DCF5E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83349" y="2039112"/>
            <a:ext cx="1069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D8B5E"/>
                </a:solidFill>
                <a:latin typeface="Segoe UI"/>
              </a:rPr>
              <a:t>Sana (dan)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35493" y="1975104"/>
            <a:ext cx="1214323" cy="292608"/>
          </a:xfrm>
          <a:prstGeom prst="roundRect">
            <a:avLst>
              <a:gd name="adj" fmla="val 50000"/>
            </a:avLst>
          </a:prstGeom>
          <a:solidFill>
            <a:srgbClr val="DCF5E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35493" y="2039112"/>
            <a:ext cx="121432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D8B5E"/>
                </a:solidFill>
                <a:latin typeface="Segoe UI"/>
              </a:rPr>
              <a:t>Sana (gacha)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32112" y="1975104"/>
            <a:ext cx="780897" cy="292608"/>
          </a:xfrm>
          <a:prstGeom prst="roundRect">
            <a:avLst>
              <a:gd name="adj" fmla="val 50000"/>
            </a:avLst>
          </a:prstGeom>
          <a:solidFill>
            <a:srgbClr val="DCF5E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32112" y="2039112"/>
            <a:ext cx="78089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D8B5E"/>
                </a:solidFill>
                <a:latin typeface="Segoe UI"/>
              </a:rPr>
              <a:t>Kirgan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95306" y="1975104"/>
            <a:ext cx="925372" cy="292608"/>
          </a:xfrm>
          <a:prstGeom prst="roundRect">
            <a:avLst>
              <a:gd name="adj" fmla="val 50000"/>
            </a:avLst>
          </a:prstGeom>
          <a:solidFill>
            <a:srgbClr val="DCF5E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95306" y="2039112"/>
            <a:ext cx="9253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D8B5E"/>
                </a:solidFill>
                <a:latin typeface="Segoe UI"/>
              </a:rPr>
              <a:t>Cheating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2350008"/>
            <a:ext cx="1214323" cy="292608"/>
          </a:xfrm>
          <a:prstGeom prst="roundRect">
            <a:avLst>
              <a:gd name="adj" fmla="val 50000"/>
            </a:avLst>
          </a:prstGeom>
          <a:solidFill>
            <a:srgbClr val="DCF5E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2414015"/>
            <a:ext cx="121432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D8B5E"/>
                </a:solidFill>
                <a:latin typeface="Segoe UI"/>
              </a:rPr>
              <a:t>Qora ro'yxat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09851" y="2350008"/>
            <a:ext cx="564184" cy="292608"/>
          </a:xfrm>
          <a:prstGeom prst="roundRect">
            <a:avLst>
              <a:gd name="adj" fmla="val 50000"/>
            </a:avLst>
          </a:prstGeom>
          <a:solidFill>
            <a:srgbClr val="DCF5E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09851" y="2414015"/>
            <a:ext cx="564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D8B5E"/>
                </a:solidFill>
                <a:latin typeface="Segoe UI"/>
              </a:rPr>
              <a:t>Yuz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56332" y="2350008"/>
            <a:ext cx="636422" cy="292608"/>
          </a:xfrm>
          <a:prstGeom prst="roundRect">
            <a:avLst>
              <a:gd name="adj" fmla="val 50000"/>
            </a:avLst>
          </a:prstGeom>
          <a:solidFill>
            <a:srgbClr val="DCF5E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56332" y="2414015"/>
            <a:ext cx="63642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D8B5E"/>
                </a:solidFill>
                <a:latin typeface="Segoe UI"/>
              </a:rPr>
              <a:t>Rasm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75050" y="2350008"/>
            <a:ext cx="780897" cy="292608"/>
          </a:xfrm>
          <a:prstGeom prst="roundRect">
            <a:avLst>
              <a:gd name="adj" fmla="val 50000"/>
            </a:avLst>
          </a:prstGeom>
          <a:solidFill>
            <a:srgbClr val="DCF5E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75050" y="2414015"/>
            <a:ext cx="78089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D8B5E"/>
                </a:solidFill>
                <a:latin typeface="Segoe UI"/>
              </a:rPr>
              <a:t>Tayyor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38244" y="2350008"/>
            <a:ext cx="708660" cy="292608"/>
          </a:xfrm>
          <a:prstGeom prst="roundRect">
            <a:avLst>
              <a:gd name="adj" fmla="val 50000"/>
            </a:avLst>
          </a:prstGeom>
          <a:solidFill>
            <a:srgbClr val="DCF5E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38244" y="2414015"/>
            <a:ext cx="7086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D8B5E"/>
                </a:solidFill>
                <a:latin typeface="Segoe UI"/>
              </a:rPr>
              <a:t>Ariza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232" y="30358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7552" y="2944368"/>
            <a:ext cx="1049091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B1220"/>
                </a:solidFill>
                <a:latin typeface="Segoe UI"/>
              </a:rPr>
              <a:t>Qidirish — </a:t>
            </a:r>
            <a:r>
              <a:rPr sz="1200" b="0" i="0">
                <a:solidFill>
                  <a:srgbClr val="475569"/>
                </a:solidFill>
                <a:latin typeface="Segoe UI"/>
              </a:rPr>
              <a:t>matnni kiritib Enter bosing yoki «Qidirish» tugmasini bosing.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3232" y="3538728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7552" y="3447288"/>
            <a:ext cx="1049091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B1220"/>
                </a:solidFill>
                <a:latin typeface="Segoe UI"/>
              </a:rPr>
              <a:t>Tozalash — </a:t>
            </a:r>
            <a:r>
              <a:rPr sz="1200" b="0" i="0">
                <a:solidFill>
                  <a:srgbClr val="475569"/>
                </a:solidFill>
                <a:latin typeface="Segoe UI"/>
              </a:rPr>
              <a:t>barcha filtrlarni va qidiruvni bir zumda bekor qiladi.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3232" y="40416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7552" y="3950208"/>
            <a:ext cx="1049091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B1220"/>
                </a:solidFill>
                <a:latin typeface="Segoe UI"/>
              </a:rPr>
              <a:t>Filtr o'zgarsa — </a:t>
            </a:r>
            <a:r>
              <a:rPr sz="1200" b="0" i="0">
                <a:solidFill>
                  <a:srgbClr val="475569"/>
                </a:solidFill>
                <a:latin typeface="Segoe UI"/>
              </a:rPr>
              <a:t>ro'yxat 1-sahifaga qaytadi va topilgan yozuvlar soni yangilanadi.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3232" y="4544568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7552" y="4453128"/>
            <a:ext cx="1049091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B1220"/>
                </a:solidFill>
                <a:latin typeface="Segoe UI"/>
              </a:rPr>
              <a:t>Viloyat → Bino — </a:t>
            </a:r>
            <a:r>
              <a:rPr sz="1200" b="0" i="0">
                <a:solidFill>
                  <a:srgbClr val="475569"/>
                </a:solidFill>
                <a:latin typeface="Segoe UI"/>
              </a:rPr>
              <a:t>avval viloyatni tanlang, keyin binolar ro'yxati shunga mos qisqaradi.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232" y="5257800"/>
            <a:ext cx="10765231" cy="822960"/>
          </a:xfrm>
          <a:prstGeom prst="roundRect">
            <a:avLst>
              <a:gd name="adj" fmla="val 7000"/>
            </a:avLst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13232" y="5257800"/>
            <a:ext cx="54864" cy="8229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9264" y="538581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45309"/>
                </a:solidFill>
                <a:latin typeface="Segoe UI"/>
              </a:rPr>
              <a:t>DIQQAT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" y="5623560"/>
            <a:ext cx="102623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0B1220"/>
                </a:solidFill>
                <a:latin typeface="Segoe UI"/>
              </a:rPr>
              <a:t>Eksport va ommaviy amallar joriy filtr bo'yicha ishlaydi. Tugmani bosishdan oldin yuqoridagi yozuvlar soniga e'tibor bering.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D8B5E"/>
                </a:solidFill>
                <a:latin typeface="Segoe UI"/>
              </a:rPr>
              <a:t>YANGI IMKONIYAT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«Range guruh» filtri — guruhlar kesmasi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Bitta guruh o'rniga bir nechta guruhni birdaniga ko'rish uchun. Masalan, 1-guruhdan 34-guruhgacha.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45920"/>
            <a:ext cx="5212080" cy="15087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828800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D8B5E"/>
                </a:solidFill>
                <a:latin typeface="Segoe UI"/>
              </a:rPr>
              <a:t>RANGE GURUH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" y="2148840"/>
            <a:ext cx="155448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240280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22128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475569"/>
                </a:solidFill>
                <a:latin typeface="Segoe UI"/>
              </a:rPr>
              <a:t>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99232" y="2148840"/>
            <a:ext cx="155448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9232" y="2240280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26974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Ikkala chegara ham kiradi: 1, 2, 3 ... 33, 34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17190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1627632"/>
            <a:ext cx="48737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B1220"/>
                </a:solidFill>
                <a:latin typeface="Segoe UI"/>
              </a:rPr>
              <a:t>«dan» va «gacha» — </a:t>
            </a:r>
            <a:r>
              <a:rPr sz="1100" b="0" i="0">
                <a:solidFill>
                  <a:srgbClr val="475569"/>
                </a:solidFill>
                <a:latin typeface="Segoe UI"/>
              </a:rPr>
              <a:t>ikkala chegara ham natijaga kiradi.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91072" y="22860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194560"/>
            <a:ext cx="48737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B1220"/>
                </a:solidFill>
                <a:latin typeface="Segoe UI"/>
              </a:rPr>
              <a:t>Bitta chegara ham mumkin: </a:t>
            </a:r>
            <a:r>
              <a:rPr sz="1100" b="0" i="0">
                <a:solidFill>
                  <a:srgbClr val="475569"/>
                </a:solidFill>
                <a:latin typeface="Segoe UI"/>
              </a:rPr>
              <a:t>faqat «dan»=10 bo'lsa — 10 va undan yuqori barcha guruhlar.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2852928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2761488"/>
            <a:ext cx="48737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B1220"/>
                </a:solidFill>
                <a:latin typeface="Segoe UI"/>
              </a:rPr>
              <a:t>«Guruh» bilan birga ishlamaydi: </a:t>
            </a:r>
            <a:r>
              <a:rPr sz="1100" b="0" i="0">
                <a:solidFill>
                  <a:srgbClr val="475569"/>
                </a:solidFill>
                <a:latin typeface="Segoe UI"/>
              </a:rPr>
              <a:t>biri kiritilsa, ikkinchisi avtomatik tozalanadi.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91072" y="3419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3328416"/>
            <a:ext cx="48737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B1220"/>
                </a:solidFill>
                <a:latin typeface="Segoe UI"/>
              </a:rPr>
              <a:t>Xato kesma: </a:t>
            </a:r>
            <a:r>
              <a:rPr sz="1100" b="0" i="0">
                <a:solidFill>
                  <a:srgbClr val="475569"/>
                </a:solidFill>
                <a:latin typeface="Segoe UI"/>
              </a:rPr>
              <a:t>«dan» &gt; «gacha» bo'lsa ogohlantirish chiqadi va kesma qo'llanmaydi.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3383280"/>
            <a:ext cx="5212080" cy="960120"/>
          </a:xfrm>
          <a:prstGeom prst="roundRect">
            <a:avLst>
              <a:gd name="adj" fmla="val 7000"/>
            </a:avLst>
          </a:prstGeom>
          <a:solidFill>
            <a:srgbClr val="DC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" y="3383280"/>
            <a:ext cx="54864" cy="960120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351129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D8B5E"/>
                </a:solidFill>
                <a:latin typeface="Segoe UI"/>
              </a:rPr>
              <a:t>QAYERDA ISHLAYDI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" y="3749040"/>
            <a:ext cx="4709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B1220"/>
                </a:solidFill>
                <a:latin typeface="Segoe UI"/>
              </a:rPr>
              <a:t>Kesma eksport (Excel/PDF), «Rasm tortish» va «Binoni o'zgartirish» amallariga ham to'liq ta'sir qiladi.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4480560"/>
            <a:ext cx="10765231" cy="1234440"/>
          </a:xfrm>
          <a:prstGeom prst="roundRect">
            <a:avLst>
              <a:gd name="adj" fmla="val 7000"/>
            </a:avLst>
          </a:prstGeom>
          <a:solidFill>
            <a:srgbClr val="DD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3232" y="4480560"/>
            <a:ext cx="54864" cy="1234440"/>
          </a:xfrm>
          <a:prstGeom prst="rect">
            <a:avLst/>
          </a:prstGeom>
          <a:solidFill>
            <a:srgbClr val="1D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" y="460857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D62D6"/>
                </a:solidFill>
                <a:latin typeface="Segoe UI"/>
              </a:rPr>
              <a:t>MISOL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" y="4846320"/>
            <a:ext cx="10262311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0B1220"/>
                </a:solidFill>
                <a:latin typeface="Segoe UI"/>
              </a:rPr>
              <a:t>Amaliy misol: bitta binoda 1–34-guruhlar imtihon topshiryapti. «Bino» ni tanlang, «Range guruh» ga 1 va 34 ni kiriting — ro'yxatda faqat shu guruhlar qoladi. Endi «Excel» tugmasi shu kesmani yuklab beradi.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D8B5E"/>
                </a:solidFill>
                <a:latin typeface="Segoe UI"/>
              </a:rPr>
              <a:t>TALABGORLAR SAHIFASI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Eksport va ommaviy amallar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Bu tugmalar joriy filtrga mos BARCHA talabgorlarga qo'llaniladi — faqat ekrandagi 20 tasiga emas.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45920"/>
            <a:ext cx="341772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92224"/>
            <a:ext cx="45720" cy="1719072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801368"/>
            <a:ext cx="300624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Excel / 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112264"/>
            <a:ext cx="3006242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Filtrlangan ro'yxatni faylga chiqaradi. Excel — 100 000 qatorgacha, PDF — 10 000 qatorgacha. Ko'proq bo'lsa filtrni toraytiring.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6986" y="1645920"/>
            <a:ext cx="341772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6986" y="1792224"/>
            <a:ext cx="45720" cy="1719072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4730" y="1801368"/>
            <a:ext cx="300624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Rasm tortish (N)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4730" y="2112264"/>
            <a:ext cx="3006242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Filtrlangan talabgorlarning rasmini davlat bazasidan yuklaydi. Avval filtr qo'llash shart; ko'p talabgorda bir necha daqiqa vaqt oladi.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0740" y="1645920"/>
            <a:ext cx="341772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0740" y="1792224"/>
            <a:ext cx="45720" cy="1719072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8484" y="1801368"/>
            <a:ext cx="300624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Binoni o'zgartirish (N)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8484" y="2112264"/>
            <a:ext cx="3006242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Filtrlangan barcha talabgorni boshqa binoga biriktiradi. Filtrsiz ishlamaydi va amal qaytarilmaydi.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3886200"/>
            <a:ext cx="10765231" cy="868680"/>
          </a:xfrm>
          <a:prstGeom prst="roundRect">
            <a:avLst>
              <a:gd name="adj" fmla="val 7000"/>
            </a:avLst>
          </a:prstGeom>
          <a:solidFill>
            <a:srgbClr val="FD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3886200"/>
            <a:ext cx="54864" cy="868680"/>
          </a:xfrm>
          <a:prstGeom prst="rect">
            <a:avLst/>
          </a:prstGeom>
          <a:solidFill>
            <a:srgbClr val="C01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014215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01D43"/>
                </a:solidFill>
                <a:latin typeface="Segoe UI"/>
              </a:rPr>
              <a:t>OLTIN QOIDA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251960"/>
            <a:ext cx="10262311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0B1220"/>
                </a:solidFill>
                <a:latin typeface="Segoe UI"/>
              </a:rPr>
              <a:t>Tugmadagi qavs ichidagi raqam (N) — nechta talabgorga ta'sir qilishini ko'rsatadi. Agar u kutganingizdan katta bo'lsa — to'xtang va filtrni qayta tekshiring.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4892040"/>
            <a:ext cx="10765231" cy="777240"/>
          </a:xfrm>
          <a:prstGeom prst="roundRect">
            <a:avLst>
              <a:gd name="adj" fmla="val 7000"/>
            </a:avLst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" y="4892040"/>
            <a:ext cx="54864" cy="7772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5020055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45309"/>
                </a:solidFill>
                <a:latin typeface="Segoe UI"/>
              </a:rPr>
              <a:t>MAXFIYLIK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" y="5257800"/>
            <a:ext cx="1026231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0B1220"/>
                </a:solidFill>
                <a:latin typeface="Segoe UI"/>
              </a:rPr>
              <a:t>Yuklab olingan fayllarda shaxsiy ma'lumot bor. Ularni messenjer orqali tarqatmang, ish tugagach o'chirib tashlang.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D8B5E"/>
                </a:solidFill>
                <a:latin typeface="Segoe UI"/>
              </a:rPr>
              <a:t>TALABGORLAR SAHIFASI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Talabgor kartasi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Jadvaldagi qatorga bosilganda o'ng tomonda talabgorning to'liq ma'lumoti ochiladi.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45920"/>
            <a:ext cx="249928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92224"/>
            <a:ext cx="45720" cy="1124712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801368"/>
            <a:ext cx="20878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Shaxsiy ma'lumotlar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112264"/>
            <a:ext cx="208780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F.I.Sh, JShShIR, jinsi, tug'ilgan sana va rasm.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68547" y="1645920"/>
            <a:ext cx="249928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68547" y="1792224"/>
            <a:ext cx="45720" cy="1124712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6291" y="1801368"/>
            <a:ext cx="20878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Test ma'lumotlari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6291" y="2112264"/>
            <a:ext cx="208780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Test, sessiya, sana, smena, bino, guruh va o'tirish joyi.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3863" y="1645920"/>
            <a:ext cx="249928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3863" y="1792224"/>
            <a:ext cx="45720" cy="1124712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1607" y="1801368"/>
            <a:ext cx="20878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Pasport ma'lumotlari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2112264"/>
            <a:ext cx="208780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Seriya va raqam, telefon; rasm davlat bazasidan olinadi.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9179" y="1645920"/>
            <a:ext cx="249928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79179" y="1792224"/>
            <a:ext cx="45720" cy="1124712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16923" y="1801368"/>
            <a:ext cx="20878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Holat bayroqlari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6923" y="2112264"/>
            <a:ext cx="208780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Keldi, Tayyor, Rasm bor, Yuz bor, Chetlatilgan, Qora ro'yxat.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34107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3319272"/>
            <a:ext cx="104909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Tahrirlash —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faqat tegishli ruxsat bo'lsa. F.I.Sh ni o'zboshimchalik bilan o'zgartirmang — manba tizimdan keladi.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395935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3867912"/>
            <a:ext cx="104909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Rasm yo'q bo'lsa —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kartadagi tugma orqali bitta talabgor rasmini alohida yuklash mumkin.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450799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" y="4416552"/>
            <a:ext cx="104909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Yuz shabloni bo'lmasa —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talabgor «tayyor» hisoblanmaydi va yuz tekshiruvidan o'tmaydi.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" y="5120640"/>
            <a:ext cx="10765231" cy="731520"/>
          </a:xfrm>
          <a:prstGeom prst="roundRect">
            <a:avLst>
              <a:gd name="adj" fmla="val 7000"/>
            </a:avLst>
          </a:prstGeom>
          <a:solidFill>
            <a:srgbClr val="FD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3232" y="5120640"/>
            <a:ext cx="54864" cy="731520"/>
          </a:xfrm>
          <a:prstGeom prst="rect">
            <a:avLst/>
          </a:prstGeom>
          <a:solidFill>
            <a:srgbClr val="C01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" y="5248655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01D43"/>
                </a:solidFill>
                <a:latin typeface="Segoe UI"/>
              </a:rPr>
              <a:t>DIQQAT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" y="5486400"/>
            <a:ext cx="102623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0B1220"/>
                </a:solidFill>
                <a:latin typeface="Segoe UI"/>
              </a:rPr>
              <a:t>O'chirish amalini faqat administrator bajaradi va u qaytarilmaydi. Shubha bo'lsa — o'chirmang, mas'ul xodimga murojaat qiling.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D8B5E"/>
                </a:solidFill>
                <a:latin typeface="Segoe UI"/>
              </a:rPr>
              <a:t>ADMIN PANEL · TEST MARKAZI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Davomat sahifasi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Menyu: Test markazi → Davomat. Sessiya, kun va smena kesimida kim kelgan-kelmagani real vaqtda ko'rinadi.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45920"/>
            <a:ext cx="1962851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52400" dist="38100" dir="5400000" rotWithShape="0">
              <a:srgbClr val="0B122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645920"/>
            <a:ext cx="1962851" cy="45720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828800"/>
            <a:ext cx="15970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D8B5E"/>
                </a:solidFill>
                <a:latin typeface="Segoe UI"/>
              </a:rPr>
              <a:t>Jami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194560"/>
            <a:ext cx="159709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Sessiyaga biriktirilgan talabgorlar soni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13827" y="1645920"/>
            <a:ext cx="1962851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52400" dist="38100" dir="5400000" rotWithShape="0">
              <a:srgbClr val="0B122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13827" y="1645920"/>
            <a:ext cx="1962851" cy="45720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96707" y="1828800"/>
            <a:ext cx="15970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D8B5E"/>
                </a:solidFill>
                <a:latin typeface="Segoe UI"/>
              </a:rPr>
              <a:t>Keldi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6707" y="2194560"/>
            <a:ext cx="159709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Binoga kirgani tasdiqlangan talabgorlar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14422" y="1645920"/>
            <a:ext cx="1962851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52400" dist="38100" dir="5400000" rotWithShape="0">
              <a:srgbClr val="0B122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14422" y="1645920"/>
            <a:ext cx="1962851" cy="45720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97302" y="1828800"/>
            <a:ext cx="15970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D8B5E"/>
                </a:solidFill>
                <a:latin typeface="Segoe UI"/>
              </a:rPr>
              <a:t>Kelmadi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97302" y="2194560"/>
            <a:ext cx="159709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Hali kirmagan talabgorlar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017" y="1645920"/>
            <a:ext cx="1962851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52400" dist="38100" dir="5400000" rotWithShape="0">
              <a:srgbClr val="0B122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017" y="1645920"/>
            <a:ext cx="1962851" cy="45720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7897" y="1828800"/>
            <a:ext cx="15970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D8B5E"/>
                </a:solidFill>
                <a:latin typeface="Segoe UI"/>
              </a:rPr>
              <a:t>Chetlatilgan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7897" y="2194560"/>
            <a:ext cx="159709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Qoida buzilishi bo'yicha chetlatilganlar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15612" y="1645920"/>
            <a:ext cx="1962851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52400" dist="38100" dir="5400000" rotWithShape="0">
              <a:srgbClr val="0B122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15612" y="1645920"/>
            <a:ext cx="1962851" cy="45720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8492" y="1828800"/>
            <a:ext cx="15970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D8B5E"/>
                </a:solidFill>
                <a:latin typeface="Segoe UI"/>
              </a:rPr>
              <a:t>Foiz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8492" y="2194560"/>
            <a:ext cx="159709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Davomat foizi — viloyat va bino kesimida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304495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" y="2953512"/>
            <a:ext cx="104909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Kesim tanlash —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yuqoridan test sessiyasi, kun va smenani tanlaysiz.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" y="359359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" y="3502152"/>
            <a:ext cx="104909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Viloyat va bino kesimi —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har bir bino bo'yicha kelgan/kelmaganlar alohida ko'rinadi.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41422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4050792"/>
            <a:ext cx="104909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Yangilanish —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desktop ma'lumot yuborgani yoki botda davomat belgilangani zahoti raqamlar o'zgaradi.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4754880"/>
            <a:ext cx="10765231" cy="822960"/>
          </a:xfrm>
          <a:prstGeom prst="roundRect">
            <a:avLst>
              <a:gd name="adj" fmla="val 7000"/>
            </a:avLst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3232" y="4754880"/>
            <a:ext cx="54864" cy="8229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" y="488289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45309"/>
                </a:solidFill>
                <a:latin typeface="Segoe UI"/>
              </a:rPr>
              <a:t>TEKSHIRING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" y="5120640"/>
            <a:ext cx="102623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0B1220"/>
                </a:solidFill>
                <a:latin typeface="Segoe UI"/>
              </a:rPr>
              <a:t>Raqam kutilganidan kam bo'lsa — avval desktop clientda ma'lumot serverga yuborilganini tekshiring: yuborilmagan davomat bu yerda ko'rinmaydi.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D8B5E"/>
                </a:solidFill>
                <a:latin typeface="Segoe UI"/>
              </a:rPr>
              <a:t>ADMIN PANEL · TEST MARKAZI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Test Dashboard va Test sessiyalar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Bu ikki sahifa imtihon tadbirlarining umumiy manzarasini beradi.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45920"/>
            <a:ext cx="5254599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92224"/>
            <a:ext cx="45720" cy="1353312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801368"/>
            <a:ext cx="48431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Test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112264"/>
            <a:ext cx="4843119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</a:rPr>
              <a:t>Umumiy ko'rsatkichlar: jami talabgorlar, chetlatilganlar, faol sessiyalar, kunlik kirgan talabgorlar grafigi va testlar bo'yicha taqsimot.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863" y="1645920"/>
            <a:ext cx="5254599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3863" y="1792224"/>
            <a:ext cx="45720" cy="1353312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607" y="1801368"/>
            <a:ext cx="48431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Test sessiyalar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2112264"/>
            <a:ext cx="4843119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</a:rPr>
              <a:t>Har bir tadbir alohida karta. Ichiga kirsangiz: kun va smenalar, binolar, talabgorlar soni hamda yuklash jarayonining foizi ko'rinadi.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593591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502151"/>
            <a:ext cx="104909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Oddiy xodim uchun —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bu sahifalar asosan ko'rish uchun.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142231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4050791"/>
            <a:ext cx="104909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Holatni o'zgartirish —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alohida ruxsat talab qiladi; imtihon oldidan mas'ul xodim bajaradi.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690871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599431"/>
            <a:ext cx="104909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Faollashtirish —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faqat barcha talabgor tayyor bo'lgandagina mumkin.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5303520"/>
            <a:ext cx="10765231" cy="685800"/>
          </a:xfrm>
          <a:prstGeom prst="roundRect">
            <a:avLst>
              <a:gd name="adj" fmla="val 7000"/>
            </a:avLst>
          </a:prstGeom>
          <a:solidFill>
            <a:srgbClr val="DC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303520"/>
            <a:ext cx="54864" cy="685800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543153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D8B5E"/>
                </a:solidFill>
                <a:latin typeface="Segoe UI"/>
              </a:rPr>
              <a:t>ESLATMA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5669280"/>
            <a:ext cx="1026231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B1220"/>
                </a:solidFill>
                <a:latin typeface="Segoe UI"/>
              </a:rPr>
              <a:t>Sessiya holati desktop va botga bevosita ta'sir qiladi: faol bo'lmagan sessiya ularda umuman ko'rinmaydi.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D8B5E"/>
                </a:solidFill>
                <a:latin typeface="Segoe UI"/>
              </a:rPr>
              <a:t>ADMIN PANEL · TEST MARKAZI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Binoga kirish loglari va Chetlatilganlar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Ikkala sahifa ham tarix: ular o'chirilmaydi, faqat ko'rish, filtrlash va hisobot uchun ishlatiladi.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45920"/>
            <a:ext cx="5254599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92224"/>
            <a:ext cx="45720" cy="1399032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801368"/>
            <a:ext cx="48431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Binoga kirish loglari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112264"/>
            <a:ext cx="484311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</a:rPr>
              <a:t>Kim, qachon, qaysi binoga kirgani. Birinchi va oxirgi kirish vaqti hamda kirish paytida olingan surat saqlanadi — nizoli holatlarda asosiy dalil.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863" y="1645920"/>
            <a:ext cx="5254599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3863" y="1792224"/>
            <a:ext cx="45720" cy="1399032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607" y="1801368"/>
            <a:ext cx="48431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Chetlatilganlar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2112264"/>
            <a:ext cx="484311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</a:rPr>
              <a:t>Chetlatish turi, sababi, izohi va vaqti. Desktop yoki bot orqali kiritilgan chetlatishlar shu yerda yig'iladi.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6393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547872"/>
            <a:ext cx="104909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Filtrlar —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test, viloyat, bino, smena, guruh va sana oralig'i bo'yicha.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18795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4096512"/>
            <a:ext cx="104909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Qatorni oching —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batafsil ma'lumot va surat ko'rinadi.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73659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645152"/>
            <a:ext cx="104909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Hisobot —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ruxsat bo'lsa, natijani faylga chiqarish mumkin.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5349240"/>
            <a:ext cx="10765231" cy="685800"/>
          </a:xfrm>
          <a:prstGeom prst="roundRect">
            <a:avLst>
              <a:gd name="adj" fmla="val 7000"/>
            </a:avLst>
          </a:prstGeom>
          <a:solidFill>
            <a:srgbClr val="FD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349240"/>
            <a:ext cx="54864" cy="685800"/>
          </a:xfrm>
          <a:prstGeom prst="rect">
            <a:avLst/>
          </a:prstGeom>
          <a:solidFill>
            <a:srgbClr val="C01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5477255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01D43"/>
                </a:solidFill>
                <a:latin typeface="Segoe UI"/>
              </a:rPr>
              <a:t>MAXFIYLIK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5715000"/>
            <a:ext cx="1026231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B1220"/>
                </a:solidFill>
                <a:latin typeface="Segoe UI"/>
              </a:rPr>
              <a:t>Loglardagi suratlar — shaxsiy ma'lumot. Ekran suratini olib tarqatish taqiqlanadi.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D8B5E"/>
                </a:solidFill>
                <a:latin typeface="Segoe UI"/>
              </a:rPr>
              <a:t>ADMIN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Qo'shimcha xizmatlar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Kundalik ish uchun shart emas, lekin ba'zi holatlarda qo'l keladi. Har biri alohida ruxsat bilan ochiladi.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45920"/>
            <a:ext cx="2499283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92224"/>
            <a:ext cx="45720" cy="1444751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801368"/>
            <a:ext cx="20878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Rasm tekshirish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112264"/>
            <a:ext cx="2087803" cy="1234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Bitta rasm talabga mos yoki yo'qligini aytadi: yuz bormi, o'lchami va foni to'g'rimi.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68547" y="1645920"/>
            <a:ext cx="2499283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68547" y="1792224"/>
            <a:ext cx="45720" cy="1444751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6291" y="1801368"/>
            <a:ext cx="20878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Yuzlarni solishtirish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6291" y="2112264"/>
            <a:ext cx="2087803" cy="1234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Ikkita rasmni solishtiradi va ular bir odammi degan savolga foiz bilan javob beradi.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3863" y="1645920"/>
            <a:ext cx="2499283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3863" y="1792224"/>
            <a:ext cx="45720" cy="1444751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1607" y="1801368"/>
            <a:ext cx="20878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Pasport info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2112264"/>
            <a:ext cx="2087803" cy="1234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Pasport yoki JShShIR bo'yicha talabgorning ma'lumotini ko'rish.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9179" y="1645920"/>
            <a:ext cx="2499283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>
            <a:outerShdw blurRad="177800" dist="38100" dir="5400000" rotWithShape="0">
              <a:srgbClr val="0B12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79179" y="1792224"/>
            <a:ext cx="45720" cy="1444751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16923" y="1801368"/>
            <a:ext cx="20878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220"/>
                </a:solidFill>
                <a:latin typeface="Segoe UI"/>
              </a:rPr>
              <a:t>Texnik xizmatlar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6923" y="2112264"/>
            <a:ext cx="2087803" cy="1234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Yuz shablonlarini olish va boshqa maxsus amallar — faqat mas'ul xodimlar uchun.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3611880"/>
            <a:ext cx="10765231" cy="914400"/>
          </a:xfrm>
          <a:prstGeom prst="roundRect">
            <a:avLst>
              <a:gd name="adj" fmla="val 7000"/>
            </a:avLst>
          </a:prstGeom>
          <a:solidFill>
            <a:srgbClr val="DC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" y="3611880"/>
            <a:ext cx="54864" cy="914400"/>
          </a:xfrm>
          <a:prstGeom prst="rect">
            <a:avLst/>
          </a:prstGeom>
          <a:solidFill>
            <a:srgbClr val="0D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373989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D8B5E"/>
                </a:solidFill>
                <a:latin typeface="Segoe UI"/>
              </a:rPr>
              <a:t>QANDAY ISHLAYDI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" y="3977640"/>
            <a:ext cx="102623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0B1220"/>
                </a:solidFill>
                <a:latin typeface="Segoe UI"/>
              </a:rPr>
              <a:t>Natija darhol chiqmasligi mumkin: so'rov navbatga qo'yiladi va odatda bir necha soniyada tayyor bo'ladi. Server band bo'lsa — 10–20 soniyadan keyin qayta urinib ko'ring.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4663440"/>
            <a:ext cx="10765231" cy="822960"/>
          </a:xfrm>
          <a:prstGeom prst="roundRect">
            <a:avLst>
              <a:gd name="adj" fmla="val 7000"/>
            </a:avLst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3232" y="4663440"/>
            <a:ext cx="54864" cy="8229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" y="4791455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45309"/>
                </a:solidFill>
                <a:latin typeface="Segoe UI"/>
              </a:rPr>
              <a:t>MASLAHAT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" y="5029200"/>
            <a:ext cx="102623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0B1220"/>
                </a:solidFill>
                <a:latin typeface="Segoe UI"/>
              </a:rPr>
              <a:t>Rasm sifati muhim: yorug' joyda, yuz to'liq ko'rinadigan, bosh kiyimsiz va ko'zoynaksiz surat eng yaxshi natija beradi.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01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01D43"/>
                </a:solidFill>
                <a:latin typeface="Segoe UI"/>
              </a:rPr>
              <a:t>YAKUN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B1220"/>
                </a:solidFill>
                <a:latin typeface="Segoe UI"/>
              </a:rPr>
              <a:t>Xavfsizlik qoidalari va yordam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10582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Tizimda shaxsiy ma'lumotlar va davlat imtihoni natijalariga ta'sir qiluvchi yozuvlar saqlanadi.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914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AAF"/>
                </a:solidFill>
                <a:latin typeface="Segoe UI"/>
              </a:rPr>
              <a:t>FaceID · Davomat platformasi — foydalanuvchi qo'llanmasi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373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8C9AAF"/>
                </a:solidFill>
                <a:latin typeface="Segoe UI"/>
              </a:rPr>
              <a:t>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01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627632"/>
            <a:ext cx="4846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Hisobingiz shaxsiy —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login/parolni bo'lishmang, boshqaning hisobidan ishlamang.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377440"/>
            <a:ext cx="91440" cy="91440"/>
          </a:xfrm>
          <a:prstGeom prst="roundRect">
            <a:avLst>
              <a:gd name="adj" fmla="val 50000"/>
            </a:avLst>
          </a:prstGeom>
          <a:solidFill>
            <a:srgbClr val="C01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286000"/>
            <a:ext cx="4846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Ish tugagach chiqing —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umumiy kompyuterda «Chiqish» majburiy.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0358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C01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944368"/>
            <a:ext cx="4846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Ma'lumot maxfiy —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ro'yxat, surat va hisobotlarni tashqariga tarqatmang.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91440" cy="91440"/>
          </a:xfrm>
          <a:prstGeom prst="roundRect">
            <a:avLst>
              <a:gd name="adj" fmla="val 50000"/>
            </a:avLst>
          </a:prstGeom>
          <a:solidFill>
            <a:srgbClr val="C01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602736"/>
            <a:ext cx="4846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Har bir amal loglanadi —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kim, qachon, qaysi IP dan bajargani saqlanadi.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17190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01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1627632"/>
            <a:ext cx="48737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Qaytarilmas amallar —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o'chirish va binoni ommaviy o'zgartirish qaytarilmaydi.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91072" y="2377440"/>
            <a:ext cx="91440" cy="91440"/>
          </a:xfrm>
          <a:prstGeom prst="roundRect">
            <a:avLst>
              <a:gd name="adj" fmla="val 50000"/>
            </a:avLst>
          </a:prstGeom>
          <a:solidFill>
            <a:srgbClr val="C01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286000"/>
            <a:ext cx="48737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Shubha bo'lsa —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amalni bajarmang, avval mas'ul xodim bilan maslahatlashing.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0358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C01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2944368"/>
            <a:ext cx="48737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Muammoni qanday aytish kerak —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ekran surati, aniq vaqt va nima qilganingizni yozing.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91072" y="3694176"/>
            <a:ext cx="91440" cy="91440"/>
          </a:xfrm>
          <a:prstGeom prst="roundRect">
            <a:avLst>
              <a:gd name="adj" fmla="val 50000"/>
            </a:avLst>
          </a:prstGeom>
          <a:solidFill>
            <a:srgbClr val="C01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3602736"/>
            <a:ext cx="48737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1220"/>
                </a:solidFill>
                <a:latin typeface="Segoe UI"/>
              </a:rPr>
              <a:t>Yangi ruxsat kerakmi — </a:t>
            </a:r>
            <a:r>
              <a:rPr sz="1150" b="0" i="0">
                <a:solidFill>
                  <a:srgbClr val="475569"/>
                </a:solidFill>
                <a:latin typeface="Segoe UI"/>
              </a:rPr>
              <a:t>administratorga qaysi sahifa va amal kerakligini ayting.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4526280"/>
            <a:ext cx="10765231" cy="868680"/>
          </a:xfrm>
          <a:prstGeom prst="roundRect">
            <a:avLst>
              <a:gd name="adj" fmla="val 7000"/>
            </a:avLst>
          </a:prstGeom>
          <a:solidFill>
            <a:srgbClr val="FD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" y="4526280"/>
            <a:ext cx="54864" cy="868680"/>
          </a:xfrm>
          <a:prstGeom prst="rect">
            <a:avLst/>
          </a:prstGeom>
          <a:solidFill>
            <a:srgbClr val="C01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465429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01D43"/>
                </a:solidFill>
                <a:latin typeface="Segoe UI"/>
              </a:rPr>
              <a:t>XAVFSIZLIK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" y="4892040"/>
            <a:ext cx="10262311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0B1220"/>
                </a:solidFill>
                <a:latin typeface="Segoe UI"/>
              </a:rPr>
              <a:t>Har qanday shubhali holat (boshqa odamning hisobi ochiq qolgan, notanish qurilmadan kirish, ma'lumot mos kelmasligi) darhol administratorga xabar qilinishi shart.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5577840"/>
            <a:ext cx="10765231" cy="566928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5742432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Savollar va texnik yordam uchun: mas'ul administrator yoki tizim muhandisiga murojaat qiling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