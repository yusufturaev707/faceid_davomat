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12191675"/>
  <p:notesSz cx="6858000" cy="9144000"/>
  <p:embeddedFontLst>
    <p:embeddedFont>
      <p:font typeface="Quattrocento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jyxf5XIZE5aczJgcVnmY2dazWK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BECBBE-4748-4446-B8DB-F590DB760920}">
  <a:tblStyle styleId="{3ABECBBE-4748-4446-B8DB-F590DB7609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QuattrocentoSans-bold.fntdata"/><Relationship Id="rId47" Type="http://schemas.openxmlformats.org/officeDocument/2006/relationships/font" Target="fonts/QuattrocentoSans-regular.fntdata"/><Relationship Id="rId49" Type="http://schemas.openxmlformats.org/officeDocument/2006/relationships/font" Target="fonts/Quattrocento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customschemas.google.com/relationships/presentationmetadata" Target="metadata"/><Relationship Id="rId50" Type="http://schemas.openxmlformats.org/officeDocument/2006/relationships/font" Target="fonts/Quattrocento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d577dd8f_1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8d577dd8f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8d577dd8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8d577dd8f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8d577dd8f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8d577dd8f_1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8d577dd8f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8d577dd8f_1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d577dd8f_1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8d577dd8f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8d577dd8f_1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8d577dd8f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8d577dd8f_1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8d577dd8f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8d577dd8f_1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8d577dd8f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8d577dd8f_1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8d577dd8f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8d577dd8f_1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8d577dd8f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8d577dd8f_1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8d577dd8f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8d577dd8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f8d577dd8f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2" y="41700"/>
            <a:ext cx="121917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985455" y="96012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985455" y="553212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31520" y="1325880"/>
            <a:ext cx="2651760" cy="347472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140817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FDB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FOYDALANUVCHI QO'LLANMASI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201168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</a:t>
            </a:r>
            <a:br>
              <a:rPr b="1" i="0" lang="en-US" sz="4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4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platformasi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731520" y="3822191"/>
            <a:ext cx="14630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31520" y="4114800"/>
            <a:ext cx="89610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Oddiy xodim va operatorlar uchun foydalanuvchi qo'llanmasi</a:t>
            </a:r>
            <a:br>
              <a:rPr b="0" i="0" lang="en-US" sz="1700" u="none" cap="none" strike="noStrike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700" u="none" cap="none" strike="noStrike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· Davomat bot · Desktop client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31520" y="58064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Bilim va malakalarni baholash agentligi   |   Ichki foydalanish uchun   |   2026-yil, sentabr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4582" y="1161255"/>
            <a:ext cx="3943350" cy="4048125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MUNDARIJA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Qo'llanma tarkibi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Qo'llanma besh blokdan iborat. O'z ish o'rningizga tegishli blokni o'qing — qolganlari umumiy tushuncha uchun.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31520" y="1783080"/>
            <a:ext cx="3393338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31520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987552" y="195681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· Umumiy tushuncha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87552" y="2313432"/>
            <a:ext cx="293613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Tizim nima qiladi, kim nimadan foydalanadi, asosiy atamalar va imtihon sessiyasining bosqichlari.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399178" y="1783080"/>
            <a:ext cx="3393338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399178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655210" y="195681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· Admin panel (web)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655210" y="2313432"/>
            <a:ext cx="293613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Tizimga kirish, menyu, ruxsatlar, Talabgorlar sahifasi, filtrlar, eksport, davomat va loglar.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8066836" y="1783080"/>
            <a:ext cx="3393338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066836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322868" y="195681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· Davomat bot (Telegram)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322868" y="2313432"/>
            <a:ext cx="293613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Botni ishga tushirish, davomat statistikasi, Face ID tekshiruvi, chetlatish va davomatdan olib tashlash.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731520" y="3520440"/>
            <a:ext cx="3393338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31520" y="368503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987552" y="3694176"/>
            <a:ext cx="293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· Desktop </a:t>
            </a: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987552" y="4050791"/>
            <a:ext cx="293613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markazidagi dastur bilan ishlash tartibi hamda rahbariyat uchun qabul statistikasi boti.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4399178" y="3520440"/>
            <a:ext cx="3393338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399178" y="368503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4655210" y="369417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· Kundalik tartib va yordam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4655210" y="4050791"/>
            <a:ext cx="293613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kuni cheklisti, tez-tez uchraydigan xatolar va ularning yechimi, xavfsizlik qoidalari.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8066861" y="3529578"/>
            <a:ext cx="3393300" cy="14631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066836" y="368503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322868" y="369417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Kimlar uchun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8322868" y="4050791"/>
            <a:ext cx="293613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markazi operatori, viloyat xodimi, markaz xodimi/analitik va rahbariyat — har biriga alohida bo'lim bor.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731520" y="5212080"/>
            <a:ext cx="10728655" cy="822960"/>
          </a:xfrm>
          <a:prstGeom prst="roundRect">
            <a:avLst>
              <a:gd fmla="val 9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31520" y="521208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005840" y="53492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ESLATMA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005840" y="5605272"/>
            <a:ext cx="101800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Qo'llanmadagi barcha tugma va bo'lim nomlari dasturdagi haqiqiy nomlar bilan bir xil — ekranda ko'rganingizni shu yerdan oson topasiz.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721103" y="23774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UMUMIY TUSHUNCHA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679408" y="447167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Tizim nima qiladi?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731520" y="900726"/>
            <a:ext cx="1045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— milliy imtihon sessiyalarida talabgorni yuzi orqali tanib, davomatni avtomatik yurituvchi platforma. To'rtta vosita, bitta markaziy baza.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31525" y="1251525"/>
            <a:ext cx="5227200" cy="18324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31649" y="1416125"/>
            <a:ext cx="50400" cy="1206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1143889" y="1425269"/>
            <a:ext cx="477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(web)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997975" y="1729775"/>
            <a:ext cx="47700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Brauzerda ishlaydi 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ro'yxati, 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iltrlar 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isobotlar (Excel/PDF) 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avomat statistikasi-real time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hududlarda binoga face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-id orqali kirish jarayoni kuzatuvi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loglar va ma'lumotnomalar.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233000" y="1251527"/>
            <a:ext cx="5227200" cy="35490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233120" y="1416125"/>
            <a:ext cx="63900" cy="3219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655799" y="1425269"/>
            <a:ext cx="477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(imtihon markazi)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489050" y="1729778"/>
            <a:ext cx="47700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hududda va b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inoga kirishida o'rnatilgan kompyuterlarda ishlaydi. Web 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amera orqali har bir talabgorni yuzini identifikatsiya qiladi va davomatni belgilaydi.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Binoga kirishda va test jarayonida chetlashtirishni amalga oshirsa bo’ladi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shu viloyatdagi hududlarda kelganlar va kelmaganlar statistikasini ko’rib turish imkoniyti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Real-vaqtda kelganlar,kelmaganlar va chetlatilganlar ro’yxatini ko’rish imkoniyati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Agar bizni bazada talabgorni eski pasporti ma’lumoti bo’lsa, ayni vaqtda qo’lidagi yangi olgan ID Card orqali “Birga-bir” face-id tekshirish imkoniyati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16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Char char="●"/>
            </a:pP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“Davomat” bo’limida joriy binodagi guruh bo’yicha kelmaganlar soni va ro’yxati ko’rish imkoniyati.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731525" y="3188237"/>
            <a:ext cx="5227200" cy="17166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731409" y="3376898"/>
            <a:ext cx="50400" cy="125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005852" y="3318549"/>
            <a:ext cx="477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 (Telegram)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005852" y="3623477"/>
            <a:ext cx="4770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Telefonda. Joyidagi xodim uchun: davomat statistikasi, kelmaganlar ro'yxati, Face ID tekshiruvi, chetlatish.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731520" y="5029200"/>
            <a:ext cx="10728655" cy="960120"/>
          </a:xfrm>
          <a:prstGeom prst="roundRect">
            <a:avLst>
              <a:gd fmla="val 9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731520" y="5029200"/>
            <a:ext cx="64008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1005840" y="516636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MUHIM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005840" y="5422392"/>
            <a:ext cx="101800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Hammasi bitta serverga ulanadi: botda yoki desktopda belgilangan davomat bir necha soniyada admin panelda ham ko'rinadi. Shuning uchun bir ishni ikki joyda takrorlash shart emas.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ROLLAR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731520" y="603504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Asosiy rollar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graphicFrame>
        <p:nvGraphicFramePr>
          <p:cNvPr id="171" name="Google Shape;171;p4"/>
          <p:cNvGraphicFramePr/>
          <p:nvPr/>
        </p:nvGraphicFramePr>
        <p:xfrm>
          <a:off x="731483" y="129323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{3ABECBBE-4748-4446-B8DB-F590DB760920}</a:tableStyleId>
              </a:tblPr>
              <a:tblGrid>
                <a:gridCol w="2743200"/>
                <a:gridCol w="2377450"/>
                <a:gridCol w="5608025"/>
              </a:tblGrid>
              <a:tr h="55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Rol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Asosiy vosita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Nima qiladi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0F172A"/>
                    </a:solidFill>
                  </a:tcPr>
                </a:tc>
              </a:tr>
              <a:tr h="82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Imtihon markazi operatori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Desktop client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Kirishda ID karta + yuz tekshiruvi, davomatni belgilash va serverga yuborish (sync)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</a:tr>
              <a:tr h="82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Viloyat / </a:t>
                      </a:r>
                      <a:r>
                        <a:rPr b="1" lang="en-US" sz="1150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Vakil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Davomat bot (Telegram)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Joyida davomat statistikasi, kelmaganlar ro'yxati (Excel), Face ID, chetlatish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</a:tr>
              <a:tr h="82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Markaz xodimi, analitik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Admin panel (web)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Talabgorlarni qidirish va filtrlash, hisobotlarni yuklab olish, loglarni ko'rish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4"/>
          <p:cNvSpPr/>
          <p:nvPr/>
        </p:nvSpPr>
        <p:spPr>
          <a:xfrm>
            <a:off x="731520" y="4892040"/>
            <a:ext cx="10728655" cy="868680"/>
          </a:xfrm>
          <a:prstGeom prst="roundRect">
            <a:avLst>
              <a:gd fmla="val 9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731520" y="489204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1005840" y="50292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ESLATMA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1005840" y="5285231"/>
            <a:ext cx="10180015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 xodim bir nechta vositadan foydalanishi mumkin — masalan, viloyat xodimi ham botdan, ham admin paneldan. Ruxsatlar har bir vosita uchun alohida beriladi.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LUG'AT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Asosiy atamalar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731520" y="1161288"/>
            <a:ext cx="1045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so'zlar barcha ekranlarda uchraydi — ma'nosini bir marta tushunib olsangiz, qolgani oson.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731520" y="18516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1024128" y="1755648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imtihonga ro'yxatdan o'tgan shaxs. JShShIR bo'yicha aniqlanadi.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731520" y="242773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1024128" y="2331720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sessiyasi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bitta imtihon tadbiri (masalan, CEFR-2026).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731520" y="300380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1024128" y="2907792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Smena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kuni va vaqti: 1-smena, 2-smena.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731520" y="357987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1024128" y="3483864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 (zone)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o'tkaziladigan joy. Har bino bitta viloyatga tegishli.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731520" y="4155948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024128" y="4059935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Guruh va Joy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talabgorning xona/guruh raqami (gr_n) va o'tirish o'rni (sp_n).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336792" y="18516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629400" y="1755648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JShShIR (PINFL)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xonali shaxsiy identifikatsiya raqami.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336792" y="242773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629400" y="2331720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yuzning raqamli "barmoq izi". Solishtirish shu asosda bo'ladi.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336792" y="300380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629400" y="2907792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Keldi (is_entered)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binoga kirgani belgisi. Davomat shu belgidan yig'iladi.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336792" y="357987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629400" y="3483864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Tayyor (is_ready)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talabgorning rasmi va embeddingi bor, tekshiruvga tayyor.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336792" y="4155948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6629400" y="4059935"/>
            <a:ext cx="4828031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Chetlatish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qoida buzilishi sababli imtihondan chetlatish, sababi bilan qayd etiladi.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731520" y="4892040"/>
            <a:ext cx="10728655" cy="82296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31520" y="4892040"/>
            <a:ext cx="64008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005840" y="50292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MASLAHAT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1005840" y="5285231"/>
            <a:ext cx="101800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 qidirishda eng ishonchli yo'l — JShShIR. Familiya bo'yicha qidiruvda bir xil ismlar ko'p chiqishi mumkin.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JARAYON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sessiyasi qanday bosqichlardan o'tadi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faqat FAOL sessiyada olinadi. Bot ham, desktop ham faqat faol sessiyani ko'radi.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31520" y="1783080"/>
            <a:ext cx="1926275" cy="173736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731520" y="1947672"/>
            <a:ext cx="50292" cy="14081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987552" y="1956816"/>
            <a:ext cx="14690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Yaratildi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987552" y="2313432"/>
            <a:ext cx="1469075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Sessiya ochildi: test, sana va smenalar belgilandi.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932115" y="1783080"/>
            <a:ext cx="1926275" cy="173736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932115" y="1947672"/>
            <a:ext cx="50292" cy="14081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3188147" y="1956816"/>
            <a:ext cx="14690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Yuklanmoqda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3188147" y="2313432"/>
            <a:ext cx="1469075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ro'yxati tashqi tizimlardan yuklanmoqda (soatlab davom etishi mumkin).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132710" y="1783080"/>
            <a:ext cx="1926275" cy="173736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132710" y="1947672"/>
            <a:ext cx="50292" cy="14081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388742" y="1956816"/>
            <a:ext cx="14690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5388742" y="2313432"/>
            <a:ext cx="1469075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talabgor rasmidan yuz shabloni olinmoqda.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7333305" y="1783080"/>
            <a:ext cx="1926275" cy="173736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333305" y="1947672"/>
            <a:ext cx="50292" cy="14081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7589337" y="1956816"/>
            <a:ext cx="14690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Faol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7589337" y="2313432"/>
            <a:ext cx="1469075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kuni. Davomat olinadi, bot va desktop ishlaydi.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9533900" y="1783080"/>
            <a:ext cx="1926275" cy="173736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9533900" y="1947672"/>
            <a:ext cx="50292" cy="14081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9789932" y="1956816"/>
            <a:ext cx="14690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Yakunlandi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9789932" y="2313432"/>
            <a:ext cx="1469075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Sessiya yopildi. Ma'lumot faqat hisobot uchun qoladi.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31520" y="3931920"/>
            <a:ext cx="10728655" cy="868680"/>
          </a:xfrm>
          <a:prstGeom prst="roundRect">
            <a:avLst>
              <a:gd fmla="val 9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31520" y="3931920"/>
            <a:ext cx="64008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1005840" y="40690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MUHIM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1005840" y="4325112"/>
            <a:ext cx="10180015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Sessiya FAOL holatga o'tishi uchun barcha talabgor "tayyor" bo'lishi shart (rasmi va embeddingi bor). Shuning uchun rasm yuklash ishlari imtihondan oldin tugatiladi.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731520" y="4983480"/>
            <a:ext cx="10728655" cy="86868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31520" y="4983480"/>
            <a:ext cx="64008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1005840" y="51206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TEZ-TEZ SO'RALADI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1005840" y="5376672"/>
            <a:ext cx="10180015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Botda "faol test tadbirlari yo'q" deb chiqsa — sessiya hali faollashtirilmagan yoki allaqachon yakunlangan. Bu xato emas; mas'ul xodimga murojaat qiling.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868680" y="13716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68680" y="2560320"/>
            <a:ext cx="8229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client(Face-id dasturi)</a:t>
            </a:r>
            <a:endParaRPr b="1" sz="4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868680" y="3566160"/>
            <a:ext cx="768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E9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markazidagi kirish nazorati dasturi.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932688" y="4572000"/>
            <a:ext cx="91440" cy="9144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1234440" y="44805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kunidagi ish tartibi (desktop)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932688" y="4956048"/>
            <a:ext cx="91440" cy="9144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1234440" y="486460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Ma'lumotni serverga yuborish — sync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93802" y="6374452"/>
            <a:ext cx="121917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00" y="1144712"/>
            <a:ext cx="3386128" cy="343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74" name="Google Shape;2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8336" y="2527175"/>
            <a:ext cx="3897946" cy="3752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5" name="Google Shape;275;p26"/>
          <p:cNvSpPr/>
          <p:nvPr/>
        </p:nvSpPr>
        <p:spPr>
          <a:xfrm>
            <a:off x="538022" y="4879415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538022" y="4957139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104950" y="4893130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Kompyuter va internetni tekshiring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1104950" y="5118632"/>
            <a:ext cx="101616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Dastur serverga uzluksiz ulanib turadi. Internet uzilsa — darhol mas'ul </a:t>
            </a:r>
            <a:endParaRPr b="0" i="0" sz="110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muhandisga xabar bering.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38022" y="5580946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538022" y="5658670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104950" y="5594662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O'z login/parolingiz bilan kiring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104950" y="5882698"/>
            <a:ext cx="101616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Hisob shaxsiy: boshqa operatorning hisobidan foydalanmang.</a:t>
            </a:r>
            <a:endParaRPr b="0" i="0" sz="110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Dasturga kirish uchun kompyuter internet yoki wifi tarmog’iga ulangan bo’lishi zarur! 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6120534" y="1170388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6120534" y="1248112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687462" y="1184103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Kompyuterda dasturga kirganda ma’lumotlarni tozlash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6687462" y="1409605"/>
            <a:ext cx="101616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Dastur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 serverdan talabgorlar ma’lumotlarini yuklab olishdan avval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Bazani tozlash </a:t>
            </a:r>
            <a:endParaRPr b="1"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tugmasi bosiladi va qayta login qilinadi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6120534" y="1871919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6120534" y="1949643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6687462" y="1885635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ma’lumotlarini yuklab olish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6687462" y="2125101"/>
            <a:ext cx="101616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markaziy serverdan joriy hududga tegishli talabgorlarni ma’lumotlarini yuklab olish uchun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Ma’lumotlarni yuklab olish tugmasi bosiladi.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g3f8d577dd8f_1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70" y="2840600"/>
            <a:ext cx="4362274" cy="2647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96" name="Google Shape;296;g3f8d577dd8f_1_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775" y="2319475"/>
            <a:ext cx="4061625" cy="2219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97" name="Google Shape;297;g3f8d577dd8f_1_97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8d577dd8f_1_97"/>
          <p:cNvSpPr txBox="1"/>
          <p:nvPr/>
        </p:nvSpPr>
        <p:spPr>
          <a:xfrm>
            <a:off x="731520" y="38404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299" name="Google Shape;299;g3f8d577dd8f_1_97"/>
          <p:cNvSpPr txBox="1"/>
          <p:nvPr/>
        </p:nvSpPr>
        <p:spPr>
          <a:xfrm>
            <a:off x="731520" y="603504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300" name="Google Shape;300;g3f8d577dd8f_1_97"/>
          <p:cNvSpPr/>
          <p:nvPr/>
        </p:nvSpPr>
        <p:spPr>
          <a:xfrm>
            <a:off x="576112" y="1695898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8d577dd8f_1_97"/>
          <p:cNvSpPr txBox="1"/>
          <p:nvPr/>
        </p:nvSpPr>
        <p:spPr>
          <a:xfrm>
            <a:off x="576112" y="1773622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02" name="Google Shape;302;g3f8d577dd8f_1_97"/>
          <p:cNvSpPr txBox="1"/>
          <p:nvPr/>
        </p:nvSpPr>
        <p:spPr>
          <a:xfrm>
            <a:off x="1143040" y="1709614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Joriy viloyatdagi binoni tanlash</a:t>
            </a:r>
            <a:endParaRPr/>
          </a:p>
        </p:txBody>
      </p:sp>
      <p:sp>
        <p:nvSpPr>
          <p:cNvPr id="303" name="Google Shape;303;g3f8d577dd8f_1_97"/>
          <p:cNvSpPr txBox="1"/>
          <p:nvPr/>
        </p:nvSpPr>
        <p:spPr>
          <a:xfrm>
            <a:off x="1143040" y="1997650"/>
            <a:ext cx="10161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Sessiya FAOL bo'lishi shart.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Joriy viloyatga tegishli binolar ro’yxati keltiriladi;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Shu ro’yxatdan sizga kerakli faqat bitta binoni tanlanf va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 etish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tugmasini bosing.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4" name="Google Shape;304;g3f8d577dd8f_1_97"/>
          <p:cNvSpPr/>
          <p:nvPr/>
        </p:nvSpPr>
        <p:spPr>
          <a:xfrm>
            <a:off x="5954573" y="4811037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8d577dd8f_1_97"/>
          <p:cNvSpPr txBox="1"/>
          <p:nvPr/>
        </p:nvSpPr>
        <p:spPr>
          <a:xfrm>
            <a:off x="5954573" y="4888761"/>
            <a:ext cx="38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6" name="Google Shape;306;g3f8d577dd8f_1_97"/>
          <p:cNvSpPr txBox="1"/>
          <p:nvPr/>
        </p:nvSpPr>
        <p:spPr>
          <a:xfrm>
            <a:off x="6521501" y="4824753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Joriy binodagi imtihonni tanlash</a:t>
            </a:r>
            <a:endParaRPr/>
          </a:p>
        </p:txBody>
      </p:sp>
      <p:sp>
        <p:nvSpPr>
          <p:cNvPr id="307" name="Google Shape;307;g3f8d577dd8f_1_97"/>
          <p:cNvSpPr txBox="1"/>
          <p:nvPr/>
        </p:nvSpPr>
        <p:spPr>
          <a:xfrm>
            <a:off x="6521496" y="5112797"/>
            <a:ext cx="52809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Imtohon tanlangach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Yuklab olish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tugmasi bosiladi va talabgorlar ma’lumotlarini yuklab olishga biroz vaqt talab qilinadi, shuning uchun to’liq yuklab bo’lguncha progres ishlab turadi.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Yuklab olish jarayoni tugagach darhol nechta ma’lumot yuklab olingani haqida ma’lumot chiqadi.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8" name="Google Shape;308;g3f8d577dd8f_1_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96749" y="2646566"/>
            <a:ext cx="1922950" cy="1656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8d577dd8f_1_59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8d577dd8f_1_59"/>
          <p:cNvSpPr txBox="1"/>
          <p:nvPr/>
        </p:nvSpPr>
        <p:spPr>
          <a:xfrm>
            <a:off x="731520" y="38404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15" name="Google Shape;315;g3f8d577dd8f_1_59"/>
          <p:cNvSpPr txBox="1"/>
          <p:nvPr/>
        </p:nvSpPr>
        <p:spPr>
          <a:xfrm>
            <a:off x="731520" y="603504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316" name="Google Shape;316;g3f8d577dd8f_1_59"/>
          <p:cNvSpPr/>
          <p:nvPr/>
        </p:nvSpPr>
        <p:spPr>
          <a:xfrm>
            <a:off x="0" y="6291072"/>
            <a:ext cx="121917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8d577dd8f_1_59"/>
          <p:cNvSpPr txBox="1"/>
          <p:nvPr/>
        </p:nvSpPr>
        <p:spPr>
          <a:xfrm>
            <a:off x="731520" y="6437376"/>
            <a:ext cx="7772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318" name="Google Shape;318;g3f8d577dd8f_1_59"/>
          <p:cNvSpPr txBox="1"/>
          <p:nvPr/>
        </p:nvSpPr>
        <p:spPr>
          <a:xfrm>
            <a:off x="10362895" y="6437376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319" name="Google Shape;319;g3f8d577dd8f_1_59"/>
          <p:cNvSpPr/>
          <p:nvPr/>
        </p:nvSpPr>
        <p:spPr>
          <a:xfrm>
            <a:off x="1081240" y="1441172"/>
            <a:ext cx="335100" cy="3702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8d577dd8f_1_59"/>
          <p:cNvSpPr txBox="1"/>
          <p:nvPr/>
        </p:nvSpPr>
        <p:spPr>
          <a:xfrm>
            <a:off x="1139520" y="1524603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1" name="Google Shape;321;g3f8d577dd8f_1_59"/>
          <p:cNvSpPr txBox="1"/>
          <p:nvPr/>
        </p:nvSpPr>
        <p:spPr>
          <a:xfrm>
            <a:off x="1474554" y="1460592"/>
            <a:ext cx="60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sahifaga o’tish</a:t>
            </a:r>
            <a:endParaRPr/>
          </a:p>
        </p:txBody>
      </p:sp>
      <p:sp>
        <p:nvSpPr>
          <p:cNvPr id="322" name="Google Shape;322;g3f8d577dd8f_1_59"/>
          <p:cNvSpPr txBox="1"/>
          <p:nvPr/>
        </p:nvSpPr>
        <p:spPr>
          <a:xfrm>
            <a:off x="1474554" y="1748642"/>
            <a:ext cx="60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Dasturni yuz tekshiruv qismiga o’tish uchun quyidagi yashil rangdagi tugma bosiladi</a:t>
            </a: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  <p:pic>
        <p:nvPicPr>
          <p:cNvPr id="323" name="Google Shape;323;g3f8d577dd8f_1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769" y="2110100"/>
            <a:ext cx="8560949" cy="11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8d577dd8f_1_59"/>
          <p:cNvSpPr/>
          <p:nvPr/>
        </p:nvSpPr>
        <p:spPr>
          <a:xfrm>
            <a:off x="1061804" y="3507864"/>
            <a:ext cx="335100" cy="3702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8d577dd8f_1_59"/>
          <p:cNvSpPr txBox="1"/>
          <p:nvPr/>
        </p:nvSpPr>
        <p:spPr>
          <a:xfrm>
            <a:off x="1120084" y="3591294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6" name="Google Shape;326;g3f8d577dd8f_1_59"/>
          <p:cNvSpPr txBox="1"/>
          <p:nvPr/>
        </p:nvSpPr>
        <p:spPr>
          <a:xfrm>
            <a:off x="1455118" y="3527283"/>
            <a:ext cx="60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tadbirini va smenani tanlash oynasi</a:t>
            </a:r>
            <a:endParaRPr/>
          </a:p>
        </p:txBody>
      </p:sp>
      <p:sp>
        <p:nvSpPr>
          <p:cNvPr id="327" name="Google Shape;327;g3f8d577dd8f_1_59"/>
          <p:cNvSpPr txBox="1"/>
          <p:nvPr/>
        </p:nvSpPr>
        <p:spPr>
          <a:xfrm>
            <a:off x="1455128" y="3815325"/>
            <a:ext cx="8560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tadbiri va smena tanlanadi. Har bir sanadagi smenada talabgorlar soni keltirilgan. Agar talabgorlar soni 0 ga teng bo’lsa, demask shu smenada test tadbiri mavjud emas.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28" name="Google Shape;328;g3f8d577dd8f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794" y="4321800"/>
            <a:ext cx="8652076" cy="200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8d577dd8f_1_151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8d577dd8f_1_151"/>
          <p:cNvSpPr txBox="1"/>
          <p:nvPr/>
        </p:nvSpPr>
        <p:spPr>
          <a:xfrm>
            <a:off x="731520" y="38404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35" name="Google Shape;335;g3f8d577dd8f_1_151"/>
          <p:cNvSpPr txBox="1"/>
          <p:nvPr/>
        </p:nvSpPr>
        <p:spPr>
          <a:xfrm>
            <a:off x="731520" y="603504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336" name="Google Shape;336;g3f8d577dd8f_1_151"/>
          <p:cNvSpPr/>
          <p:nvPr/>
        </p:nvSpPr>
        <p:spPr>
          <a:xfrm>
            <a:off x="0" y="6291072"/>
            <a:ext cx="121917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8d577dd8f_1_151"/>
          <p:cNvSpPr txBox="1"/>
          <p:nvPr/>
        </p:nvSpPr>
        <p:spPr>
          <a:xfrm>
            <a:off x="731520" y="6437376"/>
            <a:ext cx="7772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338" name="Google Shape;338;g3f8d577dd8f_1_151"/>
          <p:cNvSpPr txBox="1"/>
          <p:nvPr/>
        </p:nvSpPr>
        <p:spPr>
          <a:xfrm>
            <a:off x="10362895" y="6437376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339" name="Google Shape;339;g3f8d577dd8f_1_151"/>
          <p:cNvSpPr/>
          <p:nvPr/>
        </p:nvSpPr>
        <p:spPr>
          <a:xfrm>
            <a:off x="1571097" y="1263990"/>
            <a:ext cx="335100" cy="3702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8d577dd8f_1_151"/>
          <p:cNvSpPr txBox="1"/>
          <p:nvPr/>
        </p:nvSpPr>
        <p:spPr>
          <a:xfrm>
            <a:off x="1629377" y="1347420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1" name="Google Shape;341;g3f8d577dd8f_1_151"/>
          <p:cNvSpPr txBox="1"/>
          <p:nvPr/>
        </p:nvSpPr>
        <p:spPr>
          <a:xfrm>
            <a:off x="1964411" y="1283409"/>
            <a:ext cx="60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Online yoki offline rejimni tanlash</a:t>
            </a:r>
            <a:endParaRPr/>
          </a:p>
        </p:txBody>
      </p:sp>
      <p:sp>
        <p:nvSpPr>
          <p:cNvPr id="342" name="Google Shape;342;g3f8d577dd8f_1_151"/>
          <p:cNvSpPr txBox="1"/>
          <p:nvPr/>
        </p:nvSpPr>
        <p:spPr>
          <a:xfrm>
            <a:off x="1964400" y="1571468"/>
            <a:ext cx="103029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sahifada 2 ta rejim bor: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Online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bu rejimda talabgorlar face identifikatsiya jarayoni real time serverga sinxronizatsiya qilinib boriladi. Tavsiya shu rejimda qolish;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Offline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bu rejimda oldin online holatda talabgorlar ma’lumotlari yuklab olingan bo’lsa va login qilingan bo’lsa face identifikatsiya jarayonini 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internetsiz davom ettirsa bo’ladi.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43" name="Google Shape;343;g3f8d577dd8f_1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0" y="2517988"/>
            <a:ext cx="7029548" cy="376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d577dd8f_1_175"/>
          <p:cNvSpPr/>
          <p:nvPr/>
        </p:nvSpPr>
        <p:spPr>
          <a:xfrm>
            <a:off x="0" y="76200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8d577dd8f_1_175"/>
          <p:cNvSpPr txBox="1"/>
          <p:nvPr/>
        </p:nvSpPr>
        <p:spPr>
          <a:xfrm>
            <a:off x="731520" y="46024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50" name="Google Shape;350;g3f8d577dd8f_1_175"/>
          <p:cNvSpPr txBox="1"/>
          <p:nvPr/>
        </p:nvSpPr>
        <p:spPr>
          <a:xfrm>
            <a:off x="731520" y="679704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351" name="Google Shape;351;g3f8d577dd8f_1_175"/>
          <p:cNvSpPr/>
          <p:nvPr/>
        </p:nvSpPr>
        <p:spPr>
          <a:xfrm>
            <a:off x="0" y="6291072"/>
            <a:ext cx="121917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8d577dd8f_1_175"/>
          <p:cNvSpPr txBox="1"/>
          <p:nvPr/>
        </p:nvSpPr>
        <p:spPr>
          <a:xfrm>
            <a:off x="731520" y="6437376"/>
            <a:ext cx="7772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353" name="Google Shape;353;g3f8d577dd8f_1_175"/>
          <p:cNvSpPr txBox="1"/>
          <p:nvPr/>
        </p:nvSpPr>
        <p:spPr>
          <a:xfrm>
            <a:off x="10362895" y="6437376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354" name="Google Shape;354;g3f8d577dd8f_1_175"/>
          <p:cNvSpPr/>
          <p:nvPr/>
        </p:nvSpPr>
        <p:spPr>
          <a:xfrm>
            <a:off x="768577" y="1265200"/>
            <a:ext cx="393300" cy="369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8d577dd8f_1_175"/>
          <p:cNvSpPr txBox="1"/>
          <p:nvPr/>
        </p:nvSpPr>
        <p:spPr>
          <a:xfrm>
            <a:off x="847690" y="1347420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6" name="Google Shape;356;g3f8d577dd8f_1_175"/>
          <p:cNvSpPr txBox="1"/>
          <p:nvPr/>
        </p:nvSpPr>
        <p:spPr>
          <a:xfrm>
            <a:off x="1255681" y="1283409"/>
            <a:ext cx="60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 yuzi orqali shaxsni aniqlash uchun web camerani ishga tushirish</a:t>
            </a:r>
            <a:endParaRPr/>
          </a:p>
        </p:txBody>
      </p:sp>
      <p:sp>
        <p:nvSpPr>
          <p:cNvPr id="357" name="Google Shape;357;g3f8d577dd8f_1_175"/>
          <p:cNvSpPr txBox="1"/>
          <p:nvPr/>
        </p:nvSpPr>
        <p:spPr>
          <a:xfrm>
            <a:off x="1266093" y="1508940"/>
            <a:ext cx="70302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Yuzni aniqlash va web camerani ishga tushirish uchun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tugmasi bosish kifoya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58" name="Google Shape;358;g3f8d577dd8f_1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175" y="1877950"/>
            <a:ext cx="7662617" cy="42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g3f8d577dd8f_1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800" y="776650"/>
            <a:ext cx="10678575" cy="59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f8d577dd8f_1_190"/>
          <p:cNvSpPr/>
          <p:nvPr/>
        </p:nvSpPr>
        <p:spPr>
          <a:xfrm>
            <a:off x="0" y="-1511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8d577dd8f_1_190"/>
          <p:cNvSpPr txBox="1"/>
          <p:nvPr/>
        </p:nvSpPr>
        <p:spPr>
          <a:xfrm>
            <a:off x="48564" y="119129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66" name="Google Shape;366;g3f8d577dd8f_1_190"/>
          <p:cNvSpPr txBox="1"/>
          <p:nvPr/>
        </p:nvSpPr>
        <p:spPr>
          <a:xfrm>
            <a:off x="1594651" y="225575"/>
            <a:ext cx="121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</a:t>
            </a:r>
            <a:r>
              <a:rPr b="1" lang="en-US" sz="2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yuzlar aniqlansa yashil border va aniqlandi yozuvi aks etgan holat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g3f8d577dd8f_1_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970" y="833310"/>
            <a:ext cx="10562001" cy="590829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f8d577dd8f_1_194"/>
          <p:cNvSpPr/>
          <p:nvPr/>
        </p:nvSpPr>
        <p:spPr>
          <a:xfrm>
            <a:off x="0" y="-1511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f8d577dd8f_1_194"/>
          <p:cNvSpPr txBox="1"/>
          <p:nvPr/>
        </p:nvSpPr>
        <p:spPr>
          <a:xfrm>
            <a:off x="48564" y="119129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74" name="Google Shape;374;g3f8d577dd8f_1_194"/>
          <p:cNvSpPr txBox="1"/>
          <p:nvPr/>
        </p:nvSpPr>
        <p:spPr>
          <a:xfrm>
            <a:off x="1594651" y="225575"/>
            <a:ext cx="121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</a:t>
            </a:r>
            <a:r>
              <a:rPr b="1" lang="en-US" sz="2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yuzlar aniqlansada lekin oldingi testlarda chetlatilgan holat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g3f8d577dd8f_1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313" y="975645"/>
            <a:ext cx="10370694" cy="581517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8d577dd8f_1_198"/>
          <p:cNvSpPr/>
          <p:nvPr/>
        </p:nvSpPr>
        <p:spPr>
          <a:xfrm>
            <a:off x="0" y="-1511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8d577dd8f_1_198"/>
          <p:cNvSpPr txBox="1"/>
          <p:nvPr/>
        </p:nvSpPr>
        <p:spPr>
          <a:xfrm>
            <a:off x="48564" y="119129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82" name="Google Shape;382;g3f8d577dd8f_1_198"/>
          <p:cNvSpPr txBox="1"/>
          <p:nvPr/>
        </p:nvSpPr>
        <p:spPr>
          <a:xfrm>
            <a:off x="229301" y="178825"/>
            <a:ext cx="1213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</a:t>
            </a:r>
            <a:r>
              <a:rPr b="1" lang="en-US" sz="2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yuzlar aniqlansada lekin joriy testda chetlashtirilgan </a:t>
            </a:r>
            <a:endParaRPr b="1" sz="21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qayta dasturdan o’tishdagi holat</a:t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g3f8d577dd8f_1_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75" y="2365900"/>
            <a:ext cx="4257701" cy="419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f8d577dd8f_1_2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1083" y="2365900"/>
            <a:ext cx="4681524" cy="41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f8d577dd8f_1_205"/>
          <p:cNvSpPr/>
          <p:nvPr/>
        </p:nvSpPr>
        <p:spPr>
          <a:xfrm>
            <a:off x="0" y="76200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8d577dd8f_1_205"/>
          <p:cNvSpPr txBox="1"/>
          <p:nvPr/>
        </p:nvSpPr>
        <p:spPr>
          <a:xfrm>
            <a:off x="731520" y="28539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391" name="Google Shape;391;g3f8d577dd8f_1_205"/>
          <p:cNvSpPr txBox="1"/>
          <p:nvPr/>
        </p:nvSpPr>
        <p:spPr>
          <a:xfrm>
            <a:off x="3045300" y="229300"/>
            <a:ext cx="677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392" name="Google Shape;392;g3f8d577dd8f_1_205"/>
          <p:cNvSpPr/>
          <p:nvPr/>
        </p:nvSpPr>
        <p:spPr>
          <a:xfrm>
            <a:off x="330832" y="952525"/>
            <a:ext cx="393300" cy="369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8d577dd8f_1_205"/>
          <p:cNvSpPr txBox="1"/>
          <p:nvPr/>
        </p:nvSpPr>
        <p:spPr>
          <a:xfrm>
            <a:off x="409945" y="1034745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4" name="Google Shape;394;g3f8d577dd8f_1_205"/>
          <p:cNvSpPr txBox="1"/>
          <p:nvPr/>
        </p:nvSpPr>
        <p:spPr>
          <a:xfrm>
            <a:off x="817937" y="970734"/>
            <a:ext cx="60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 JShShIR ni kiritish orqali davomat</a:t>
            </a:r>
            <a:endParaRPr/>
          </a:p>
        </p:txBody>
      </p:sp>
      <p:sp>
        <p:nvSpPr>
          <p:cNvPr id="395" name="Google Shape;395;g3f8d577dd8f_1_205"/>
          <p:cNvSpPr txBox="1"/>
          <p:nvPr/>
        </p:nvSpPr>
        <p:spPr>
          <a:xfrm>
            <a:off x="828350" y="1196275"/>
            <a:ext cx="5320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Face-id sahifada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JShShIR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tugmasini bosish orqali JShShIR kiritish uchun modal ochiladi: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Davomatdan olish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agar talabgor face-id dan o’tgan bo’lsa uni olib tashlash 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ya’ni kelmadi qilish;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Chetlatish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talabgorni JShShIR orqali chetlashtirish;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Qo’shish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talabgorni davomatga keldi qilish yani qo’shish.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6" name="Google Shape;396;g3f8d577dd8f_1_205"/>
          <p:cNvSpPr/>
          <p:nvPr/>
        </p:nvSpPr>
        <p:spPr>
          <a:xfrm>
            <a:off x="6072610" y="951370"/>
            <a:ext cx="393300" cy="369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8d577dd8f_1_205"/>
          <p:cNvSpPr txBox="1"/>
          <p:nvPr/>
        </p:nvSpPr>
        <p:spPr>
          <a:xfrm>
            <a:off x="6151723" y="1044013"/>
            <a:ext cx="226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8" name="Google Shape;398;g3f8d577dd8f_1_205"/>
          <p:cNvSpPr txBox="1"/>
          <p:nvPr/>
        </p:nvSpPr>
        <p:spPr>
          <a:xfrm>
            <a:off x="6559715" y="969580"/>
            <a:ext cx="60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 Pasport ma’lumotlari orqali birga-bir yuzni tekshirish</a:t>
            </a:r>
            <a:endParaRPr/>
          </a:p>
        </p:txBody>
      </p:sp>
      <p:sp>
        <p:nvSpPr>
          <p:cNvPr id="399" name="Google Shape;399;g3f8d577dd8f_1_205"/>
          <p:cNvSpPr txBox="1"/>
          <p:nvPr/>
        </p:nvSpPr>
        <p:spPr>
          <a:xfrm>
            <a:off x="6570128" y="1195120"/>
            <a:ext cx="58524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Face-id sahifada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1x1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tugmasini bosish orqali modal ochiladi va mos ravishda pasport 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ma’lumotlari kiritiladi: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Tekshirish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talabgorni yuz bo’yicha tekshiradi joriy testda joriy smenada bor yo’qligini ham;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Faqat o’zini tekshirish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talabgorni faqat o’zimi yoki yo’q shuni tekshiradi hech qanday 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davomatga qo’shilmaydi;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g3f8d577dd8f_1_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00" y="2117491"/>
            <a:ext cx="11235299" cy="42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8d577dd8f_1_225"/>
          <p:cNvSpPr/>
          <p:nvPr/>
        </p:nvSpPr>
        <p:spPr>
          <a:xfrm>
            <a:off x="0" y="17917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8d577dd8f_1_225"/>
          <p:cNvSpPr txBox="1"/>
          <p:nvPr/>
        </p:nvSpPr>
        <p:spPr>
          <a:xfrm>
            <a:off x="187543" y="15911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407" name="Google Shape;407;g3f8d577dd8f_1_225"/>
          <p:cNvSpPr txBox="1"/>
          <p:nvPr/>
        </p:nvSpPr>
        <p:spPr>
          <a:xfrm>
            <a:off x="731520" y="368860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408" name="Google Shape;408;g3f8d577dd8f_1_225"/>
          <p:cNvSpPr/>
          <p:nvPr/>
        </p:nvSpPr>
        <p:spPr>
          <a:xfrm>
            <a:off x="331452" y="983498"/>
            <a:ext cx="393300" cy="369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8d577dd8f_1_225"/>
          <p:cNvSpPr txBox="1"/>
          <p:nvPr/>
        </p:nvSpPr>
        <p:spPr>
          <a:xfrm>
            <a:off x="410565" y="1065718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0" name="Google Shape;410;g3f8d577dd8f_1_225"/>
          <p:cNvSpPr txBox="1"/>
          <p:nvPr/>
        </p:nvSpPr>
        <p:spPr>
          <a:xfrm>
            <a:off x="818547" y="1001700"/>
            <a:ext cx="850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va Server dagi davomatlar statistikasi-</a:t>
            </a: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Statistika tugmasini bosgandagi holat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1" name="Google Shape;411;g3f8d577dd8f_1_225"/>
          <p:cNvSpPr txBox="1"/>
          <p:nvPr/>
        </p:nvSpPr>
        <p:spPr>
          <a:xfrm>
            <a:off x="828979" y="1227225"/>
            <a:ext cx="108567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Statistika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joriy kompyuterdagi face-id dasturidan o’tgan talabgorlar statistikasi: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Yuborilmagan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qismi doim 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bo’lishi kerak, agar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0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dan katta son bo’lsa demak internet bilan uzilganini bildiradi. Buni internetga ulash orqali bartaraf etish mumkin;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Yuborish darajasi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doim 100% bo’lishi kerak.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 Statistika 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real time vaqtda joriy viloyatga tegishli binolardagi va umumiy viloyat miqyosidagi davomat ma’lumotlari ko’rinadi.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8d577dd8f_1_245"/>
          <p:cNvSpPr/>
          <p:nvPr/>
        </p:nvSpPr>
        <p:spPr>
          <a:xfrm>
            <a:off x="0" y="17917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8d577dd8f_1_245"/>
          <p:cNvSpPr txBox="1"/>
          <p:nvPr/>
        </p:nvSpPr>
        <p:spPr>
          <a:xfrm>
            <a:off x="187543" y="15911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418" name="Google Shape;418;g3f8d577dd8f_1_245"/>
          <p:cNvSpPr txBox="1"/>
          <p:nvPr/>
        </p:nvSpPr>
        <p:spPr>
          <a:xfrm>
            <a:off x="731520" y="368860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419" name="Google Shape;419;g3f8d577dd8f_1_245"/>
          <p:cNvSpPr/>
          <p:nvPr/>
        </p:nvSpPr>
        <p:spPr>
          <a:xfrm>
            <a:off x="331452" y="983498"/>
            <a:ext cx="393300" cy="369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8d577dd8f_1_245"/>
          <p:cNvSpPr txBox="1"/>
          <p:nvPr/>
        </p:nvSpPr>
        <p:spPr>
          <a:xfrm>
            <a:off x="410565" y="1065718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1" name="Google Shape;421;g3f8d577dd8f_1_245"/>
          <p:cNvSpPr txBox="1"/>
          <p:nvPr/>
        </p:nvSpPr>
        <p:spPr>
          <a:xfrm>
            <a:off x="818548" y="1001700"/>
            <a:ext cx="78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sahifadagi Davomat tugmasini bosgandagi holat</a:t>
            </a:r>
            <a:endParaRPr/>
          </a:p>
        </p:txBody>
      </p:sp>
      <p:sp>
        <p:nvSpPr>
          <p:cNvPr id="422" name="Google Shape;422;g3f8d577dd8f_1_245"/>
          <p:cNvSpPr txBox="1"/>
          <p:nvPr/>
        </p:nvSpPr>
        <p:spPr>
          <a:xfrm>
            <a:off x="828979" y="1246653"/>
            <a:ext cx="10856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sahifada “Davomat” tugmasini vazifasi quyidagilar: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Joriy bino va joriy smenadagi kelmaganlarni guruh bo’yicha davomati - har bir guruhda nechta talabgor kelmaganini ma’lumoti;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Joriy guruhda yani shu ro’yxatdagi bironta guruh ustiga bosilganda shu guruhdagi talabgorlar ro’yxati mavjud bo’ladi.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23" name="Google Shape;423;g3f8d577dd8f_1_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361735"/>
            <a:ext cx="6149125" cy="3712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f8d577dd8f_1_2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1050" y="2361725"/>
            <a:ext cx="5257300" cy="36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8d577dd8f_1_258"/>
          <p:cNvSpPr/>
          <p:nvPr/>
        </p:nvSpPr>
        <p:spPr>
          <a:xfrm>
            <a:off x="0" y="17917"/>
            <a:ext cx="12191700" cy="91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8d577dd8f_1_258"/>
          <p:cNvSpPr txBox="1"/>
          <p:nvPr/>
        </p:nvSpPr>
        <p:spPr>
          <a:xfrm>
            <a:off x="187543" y="15911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MARKAZI</a:t>
            </a:r>
            <a:endParaRPr/>
          </a:p>
        </p:txBody>
      </p:sp>
      <p:sp>
        <p:nvSpPr>
          <p:cNvPr id="431" name="Google Shape;431;g3f8d577dd8f_1_258"/>
          <p:cNvSpPr txBox="1"/>
          <p:nvPr/>
        </p:nvSpPr>
        <p:spPr>
          <a:xfrm>
            <a:off x="731520" y="368860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client — imtihon kunidagi tartib</a:t>
            </a:r>
            <a:endParaRPr/>
          </a:p>
        </p:txBody>
      </p:sp>
      <p:sp>
        <p:nvSpPr>
          <p:cNvPr id="432" name="Google Shape;432;g3f8d577dd8f_1_258"/>
          <p:cNvSpPr/>
          <p:nvPr/>
        </p:nvSpPr>
        <p:spPr>
          <a:xfrm>
            <a:off x="331452" y="983498"/>
            <a:ext cx="393300" cy="3690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d577dd8f_1_258"/>
          <p:cNvSpPr txBox="1"/>
          <p:nvPr/>
        </p:nvSpPr>
        <p:spPr>
          <a:xfrm>
            <a:off x="410565" y="1065718"/>
            <a:ext cx="22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4" name="Google Shape;434;g3f8d577dd8f_1_258"/>
          <p:cNvSpPr txBox="1"/>
          <p:nvPr/>
        </p:nvSpPr>
        <p:spPr>
          <a:xfrm>
            <a:off x="818548" y="1001700"/>
            <a:ext cx="78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sahifada orqali kelgan,kelmagan va chetlatilganlar ro’yxatini ko’rish imkoniyati</a:t>
            </a:r>
            <a:endParaRPr/>
          </a:p>
        </p:txBody>
      </p:sp>
      <p:sp>
        <p:nvSpPr>
          <p:cNvPr id="435" name="Google Shape;435;g3f8d577dd8f_1_258"/>
          <p:cNvSpPr txBox="1"/>
          <p:nvPr/>
        </p:nvSpPr>
        <p:spPr>
          <a:xfrm>
            <a:off x="828979" y="1246653"/>
            <a:ext cx="10856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sahifada “</a:t>
            </a:r>
            <a:r>
              <a:rPr b="1"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Ro’yxat</a:t>
            </a: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” tugmasini vazifasi quyidagilar: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Joriy bino va joriy smenadagi kelganlar,kelmaganlar va chetlatilganlar ro’yxati chiqadi;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Joriy talabgor ustiga bosilsa shu talabgorni pasportdagi va rael time tushgan rasmlari va qolgan ma’lumotlar ko’rish imkoniyati bo’ladi..</a:t>
            </a:r>
            <a:endParaRPr sz="11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36" name="Google Shape;436;g3f8d577dd8f_1_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800" y="2016400"/>
            <a:ext cx="9814050" cy="473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KUNDALIK TARTIB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kuni — qisqa checklist</a:t>
            </a:r>
            <a:endParaRPr/>
          </a:p>
        </p:txBody>
      </p:sp>
      <p:sp>
        <p:nvSpPr>
          <p:cNvPr id="444" name="Google Shape;444;p28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bosqichda bajarilishi kerak bo'lgan minimal amallar.</a:t>
            </a:r>
            <a:endParaRPr/>
          </a:p>
        </p:txBody>
      </p:sp>
      <p:sp>
        <p:nvSpPr>
          <p:cNvPr id="445" name="Google Shape;445;p28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447" name="Google Shape;447;p28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448" name="Google Shape;448;p28"/>
          <p:cNvSpPr/>
          <p:nvPr/>
        </p:nvSpPr>
        <p:spPr>
          <a:xfrm>
            <a:off x="731520" y="1783080"/>
            <a:ext cx="2476423" cy="30175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731520" y="1947672"/>
            <a:ext cx="50292" cy="2688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8"/>
          <p:cNvSpPr txBox="1"/>
          <p:nvPr/>
        </p:nvSpPr>
        <p:spPr>
          <a:xfrm>
            <a:off x="987552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Imtihondan 1 kun oldin</a:t>
            </a:r>
            <a:endParaRPr/>
          </a:p>
        </p:txBody>
      </p:sp>
      <p:sp>
        <p:nvSpPr>
          <p:cNvPr id="451" name="Google Shape;451;p28"/>
          <p:cNvSpPr txBox="1"/>
          <p:nvPr/>
        </p:nvSpPr>
        <p:spPr>
          <a:xfrm>
            <a:off x="987552" y="2313432"/>
            <a:ext cx="2019223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Sessiya FAOL holatga o'tganini tekshiring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Talabgorlar ro'yxati va binolar to'g'riligini ko'ring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Rasmi yo'q talabgorlarni filtr bilan toping va rasm torting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Botga kirish (/start) ishlashini tekshiring</a:t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3482263" y="1783080"/>
            <a:ext cx="2476423" cy="30175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3482263" y="1947672"/>
            <a:ext cx="50292" cy="2688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 txBox="1"/>
          <p:nvPr/>
        </p:nvSpPr>
        <p:spPr>
          <a:xfrm>
            <a:off x="3738295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Ertalab, smena oldidan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3738295" y="2313432"/>
            <a:ext cx="2019223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Desktop kompyuteri va kamera ishlayaptimi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Internet aloqasi barqarormi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Kun va smena to'g'ri tanlanganmi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Talabgorlar ro'yxati yuklab olinganmi</a:t>
            </a:r>
            <a:endParaRPr/>
          </a:p>
        </p:txBody>
      </p:sp>
      <p:sp>
        <p:nvSpPr>
          <p:cNvPr id="456" name="Google Shape;456;p28"/>
          <p:cNvSpPr/>
          <p:nvPr/>
        </p:nvSpPr>
        <p:spPr>
          <a:xfrm>
            <a:off x="6233007" y="1783080"/>
            <a:ext cx="2476423" cy="30175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6233007" y="1947672"/>
            <a:ext cx="50292" cy="2688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 txBox="1"/>
          <p:nvPr/>
        </p:nvSpPr>
        <p:spPr>
          <a:xfrm>
            <a:off x="6489039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Imtihon vaqtida</a:t>
            </a: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6489039" y="2313432"/>
            <a:ext cx="2019223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Kirishda har bir talabgorni tekshiring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Muammoli holatda botdagi Face ID dan foydalaning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Chetlatishni darhol, sababi bilan qayd eting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Vaqti-vaqti bilan sync qiling</a:t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8983751" y="1783080"/>
            <a:ext cx="2476423" cy="30175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8983751" y="1947672"/>
            <a:ext cx="50292" cy="2688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 txBox="1"/>
          <p:nvPr/>
        </p:nvSpPr>
        <p:spPr>
          <a:xfrm>
            <a:off x="9239783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Smena yakunida</a:t>
            </a:r>
            <a:endParaRPr/>
          </a:p>
        </p:txBody>
      </p:sp>
      <p:sp>
        <p:nvSpPr>
          <p:cNvPr id="463" name="Google Shape;463;p28"/>
          <p:cNvSpPr txBox="1"/>
          <p:nvPr/>
        </p:nvSpPr>
        <p:spPr>
          <a:xfrm>
            <a:off x="9239783" y="2313432"/>
            <a:ext cx="2019223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Yakuniy sync ni bajaring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Kelmaganlar ro'yxatini oling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Davomat sahifasidagi raqamlarni solishtiring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Nomuvofiqlik bo'lsa mas'ulga xabar bering</a:t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731520" y="512064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731520" y="5120640"/>
            <a:ext cx="6400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1005840" y="52578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 MUHIM QOIDA</a:t>
            </a:r>
            <a:endParaRPr/>
          </a:p>
        </p:txBody>
      </p:sp>
      <p:sp>
        <p:nvSpPr>
          <p:cNvPr id="467" name="Google Shape;467;p28"/>
          <p:cNvSpPr txBox="1"/>
          <p:nvPr/>
        </p:nvSpPr>
        <p:spPr>
          <a:xfrm>
            <a:off x="1005840" y="5513831"/>
            <a:ext cx="10179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 ko'p uchraydigan xato offli</a:t>
            </a:r>
            <a:r>
              <a:rPr lang="en-US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 rejimda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smena yakunida sync qilishni unutish. Sync qilinmagan davomat hisobotga tushmaydi va talabgor "kelmagan" bo'lib qoladi.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YORDAM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Tez-tez uchraydigan holatlar va yechimi</a:t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Quyidagi holatlarda birinchi navbatda o'zingiz quyidagicha harakat qiling.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478" name="Google Shape;478;p29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graphicFrame>
        <p:nvGraphicFramePr>
          <p:cNvPr id="479" name="Google Shape;479;p29"/>
          <p:cNvGraphicFramePr/>
          <p:nvPr/>
        </p:nvGraphicFramePr>
        <p:xfrm>
          <a:off x="731520" y="17373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{3ABECBBE-4748-4446-B8DB-F590DB760920}</a:tableStyleId>
              </a:tblPr>
              <a:tblGrid>
                <a:gridCol w="3017525"/>
                <a:gridCol w="2743200"/>
                <a:gridCol w="496792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Holat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Sababi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Nima qilish kerak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0F172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Menyuda bo'lim ko'rinmaydi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Rolingizda ruxsat yo'q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Administratorga murojaat qiling, qaysi sahifa kerakligini aniq ayting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Botda "ruxsat berilmadi"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Telegram ID ro'yxatda yo'q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Telegram ID raqamingizni administratorga yuboring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Botda faol sessiya ko'rinmaydi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Sessiya faollashtirilmagan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Mas'ul xodimdan sessiyani faollashtirishni so'rang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Yuz mos kelmadi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Yorug'lik, rakurs yoki eski rasm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Qayta suratga oling; takrorlansa davomatga qo'shmang va mas'ulga murojaat qiling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Eksport "juda katta" xatosi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Filtr juda keng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Sana, bino yoki "Range guruh" bilan ro'yxatni toraytiring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"Keyinroq urinib ko'ring"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Server band (navbat to'lgan)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10–20 soniya kutib qayta urining; takrorlansa mas'ul muhandisga ayting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8FAF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Bot rasmni qabul qilmadi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Rasm fayl sifatida yuborilgan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7556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Suratni FOTO sifatida yuboring (fayl/document emas)</a:t>
                      </a:r>
                      <a:endParaRPr/>
                    </a:p>
                  </a:txBody>
                  <a:tcPr marT="36575" marB="36575" marR="91450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868680" y="13716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487" name="Google Shape;487;p20"/>
          <p:cNvSpPr txBox="1"/>
          <p:nvPr/>
        </p:nvSpPr>
        <p:spPr>
          <a:xfrm>
            <a:off x="868680" y="2560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 (Telegram)</a:t>
            </a:r>
            <a:endParaRPr/>
          </a:p>
        </p:txBody>
      </p:sp>
      <p:sp>
        <p:nvSpPr>
          <p:cNvPr id="488" name="Google Shape;488;p20"/>
          <p:cNvSpPr txBox="1"/>
          <p:nvPr/>
        </p:nvSpPr>
        <p:spPr>
          <a:xfrm>
            <a:off x="868680" y="35661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Telefon orqali ishlaydigan vosita: davomat statistikasi, kelmaganlar ro'yxati, Face ID tekshiruvi va chetlatish.</a:t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>
            <a:off x="932688" y="4572000"/>
            <a:ext cx="91440" cy="9144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 txBox="1"/>
          <p:nvPr/>
        </p:nvSpPr>
        <p:spPr>
          <a:xfrm>
            <a:off x="1234440" y="44805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Botga kirish va bosh menyu</a:t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932688" y="4956048"/>
            <a:ext cx="91440" cy="9144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 txBox="1"/>
          <p:nvPr/>
        </p:nvSpPr>
        <p:spPr>
          <a:xfrm>
            <a:off x="1234440" y="486460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Davomatni olish va kelmaganlar ro'yxati (Excel)</a:t>
            </a:r>
            <a:endParaRPr/>
          </a:p>
        </p:txBody>
      </p:sp>
      <p:sp>
        <p:nvSpPr>
          <p:cNvPr id="493" name="Google Shape;493;p20"/>
          <p:cNvSpPr/>
          <p:nvPr/>
        </p:nvSpPr>
        <p:spPr>
          <a:xfrm>
            <a:off x="932688" y="5340096"/>
            <a:ext cx="91440" cy="9144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 txBox="1"/>
          <p:nvPr/>
        </p:nvSpPr>
        <p:spPr>
          <a:xfrm>
            <a:off x="1234440" y="524865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 ID: pasportni qo'lda kiritish yoki ID Card QR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932688" y="5724144"/>
            <a:ext cx="91440" cy="9144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 txBox="1"/>
          <p:nvPr/>
        </p:nvSpPr>
        <p:spPr>
          <a:xfrm>
            <a:off x="1234440" y="563270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Davomatdan olib tashlash va chetlatish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</a:t>
            </a:r>
            <a:endParaRPr/>
          </a:p>
        </p:txBody>
      </p:sp>
      <p:sp>
        <p:nvSpPr>
          <p:cNvPr id="503" name="Google Shape;503;p21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Botni ishga tushirish</a:t>
            </a:r>
            <a:endParaRPr/>
          </a:p>
        </p:txBody>
      </p:sp>
      <p:sp>
        <p:nvSpPr>
          <p:cNvPr id="504" name="Google Shape;504;p21"/>
          <p:cNvSpPr txBox="1"/>
          <p:nvPr/>
        </p:nvSpPr>
        <p:spPr>
          <a:xfrm>
            <a:off x="762781" y="1192285"/>
            <a:ext cx="540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sizni Telegram akkauntingiz bo'yicha taniydi — login va parol kiritilmaydi.</a:t>
            </a:r>
            <a:endParaRPr/>
          </a:p>
        </p:txBody>
      </p:sp>
      <p:sp>
        <p:nvSpPr>
          <p:cNvPr id="505" name="Google Shape;505;p21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507" name="Google Shape;507;p21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731520" y="1783080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 txBox="1"/>
          <p:nvPr/>
        </p:nvSpPr>
        <p:spPr>
          <a:xfrm>
            <a:off x="731520" y="1860804"/>
            <a:ext cx="38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10" name="Google Shape;510;p21"/>
          <p:cNvSpPr txBox="1"/>
          <p:nvPr/>
        </p:nvSpPr>
        <p:spPr>
          <a:xfrm>
            <a:off x="1298448" y="1796795"/>
            <a:ext cx="546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Botni oching va /start yuboring</a:t>
            </a:r>
            <a:endParaRPr/>
          </a:p>
        </p:txBody>
      </p:sp>
      <p:sp>
        <p:nvSpPr>
          <p:cNvPr id="511" name="Google Shape;511;p21"/>
          <p:cNvSpPr txBox="1"/>
          <p:nvPr/>
        </p:nvSpPr>
        <p:spPr>
          <a:xfrm>
            <a:off x="1298448" y="2084831"/>
            <a:ext cx="5468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havolasini administrator beradi.</a:t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731520" y="2488836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 txBox="1"/>
          <p:nvPr/>
        </p:nvSpPr>
        <p:spPr>
          <a:xfrm>
            <a:off x="731520" y="2566560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14" name="Google Shape;514;p21"/>
          <p:cNvSpPr txBox="1"/>
          <p:nvPr/>
        </p:nvSpPr>
        <p:spPr>
          <a:xfrm>
            <a:off x="1298448" y="2502552"/>
            <a:ext cx="546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Ruxsat tekshiriladi</a:t>
            </a:r>
            <a:endParaRPr/>
          </a:p>
        </p:txBody>
      </p:sp>
      <p:sp>
        <p:nvSpPr>
          <p:cNvPr id="515" name="Google Shape;515;p21"/>
          <p:cNvSpPr txBox="1"/>
          <p:nvPr/>
        </p:nvSpPr>
        <p:spPr>
          <a:xfrm>
            <a:off x="1298448" y="2790588"/>
            <a:ext cx="546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Telegram ID ro'yxatda bo'lsa — ismingiz bilan salomlashadi. Bo'lmasa, administrator sizni panelga qo'shishi kerak.</a:t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731520" y="3309239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 txBox="1"/>
          <p:nvPr/>
        </p:nvSpPr>
        <p:spPr>
          <a:xfrm>
            <a:off x="731520" y="3386963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18" name="Google Shape;518;p21"/>
          <p:cNvSpPr txBox="1"/>
          <p:nvPr/>
        </p:nvSpPr>
        <p:spPr>
          <a:xfrm>
            <a:off x="1298448" y="3322955"/>
            <a:ext cx="546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Viloyatni tanlang: </a:t>
            </a: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</a:t>
            </a: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arkaziy aparat va </a:t>
            </a:r>
            <a:r>
              <a:rPr b="1" lang="en-US" sz="13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hududiy vakil(xodim)</a:t>
            </a:r>
            <a:endParaRPr/>
          </a:p>
        </p:txBody>
      </p:sp>
      <p:sp>
        <p:nvSpPr>
          <p:cNvPr id="519" name="Google Shape;519;p21"/>
          <p:cNvSpPr txBox="1"/>
          <p:nvPr/>
        </p:nvSpPr>
        <p:spPr>
          <a:xfrm>
            <a:off x="1298448" y="3610991"/>
            <a:ext cx="54681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Markaziy aparat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xodimi rol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bo'lsa, 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"Regionni almashtirish" orqali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kerakli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regionni tanlash imkoniyati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mavjud;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Hududiy vakil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(xodim) - bu rolda Admin tomondan biriktiriladi viloyat.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731520" y="4338091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731520" y="4426238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522" name="Google Shape;522;p21"/>
          <p:cNvSpPr txBox="1"/>
          <p:nvPr/>
        </p:nvSpPr>
        <p:spPr>
          <a:xfrm>
            <a:off x="1298448" y="4351807"/>
            <a:ext cx="546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Bosh menyudan davom eting</a:t>
            </a:r>
            <a:endParaRPr/>
          </a:p>
        </p:txBody>
      </p:sp>
      <p:sp>
        <p:nvSpPr>
          <p:cNvPr id="523" name="Google Shape;523;p21"/>
          <p:cNvSpPr txBox="1"/>
          <p:nvPr/>
        </p:nvSpPr>
        <p:spPr>
          <a:xfrm>
            <a:off x="1298448" y="4671111"/>
            <a:ext cx="5468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Istalgan paytda /menu buyrug'i yoki "Bosh menyu" tugmasi sizni boshiga qaytaradi.</a:t>
            </a:r>
            <a:endParaRPr/>
          </a:p>
        </p:txBody>
      </p:sp>
      <p:pic>
        <p:nvPicPr>
          <p:cNvPr id="524" name="Google Shape;5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5382" y="954630"/>
            <a:ext cx="4531325" cy="33102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rgbClr val="000000">
                <a:alpha val="18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525" name="Google Shape;525;p21"/>
          <p:cNvSpPr/>
          <p:nvPr/>
        </p:nvSpPr>
        <p:spPr>
          <a:xfrm>
            <a:off x="945972" y="5466850"/>
            <a:ext cx="46500" cy="7857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1098694" y="5273477"/>
            <a:ext cx="310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RUXSAT MUAMMOSI</a:t>
            </a:r>
            <a:endParaRPr/>
          </a:p>
        </p:txBody>
      </p:sp>
      <p:sp>
        <p:nvSpPr>
          <p:cNvPr id="527" name="Google Shape;527;p21"/>
          <p:cNvSpPr txBox="1"/>
          <p:nvPr/>
        </p:nvSpPr>
        <p:spPr>
          <a:xfrm>
            <a:off x="1088271" y="5466858"/>
            <a:ext cx="3684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ochilmasa yoki "ruxsat berilmadi" desa: Telegram akkauntingiz ro'yxatdan o'tmagan. Administratorga Telegram ID raqamingizni yuboring.</a:t>
            </a:r>
            <a:endParaRPr/>
          </a:p>
        </p:txBody>
      </p:sp>
      <p:sp>
        <p:nvSpPr>
          <p:cNvPr id="528" name="Google Shape;528;p21"/>
          <p:cNvSpPr txBox="1"/>
          <p:nvPr/>
        </p:nvSpPr>
        <p:spPr>
          <a:xfrm>
            <a:off x="6721502" y="5338745"/>
            <a:ext cx="225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XAVFSIZLIK</a:t>
            </a:r>
            <a:endParaRPr/>
          </a:p>
        </p:txBody>
      </p:sp>
      <p:sp>
        <p:nvSpPr>
          <p:cNvPr id="529" name="Google Shape;529;p21"/>
          <p:cNvSpPr/>
          <p:nvPr/>
        </p:nvSpPr>
        <p:spPr>
          <a:xfrm>
            <a:off x="6522451" y="5442923"/>
            <a:ext cx="46500" cy="7857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 txBox="1"/>
          <p:nvPr/>
        </p:nvSpPr>
        <p:spPr>
          <a:xfrm>
            <a:off x="6721498" y="5648182"/>
            <a:ext cx="364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Botdagi barcha amal sizning nomingizdan yoziladi — </a:t>
            </a:r>
            <a:endParaRPr b="0" i="0" sz="1200" u="none" cap="none" strike="noStrike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telefoningizni qulfsiz qoldirmang.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8d577dd8f_1_1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8d577dd8f_1_1"/>
          <p:cNvSpPr txBox="1"/>
          <p:nvPr/>
        </p:nvSpPr>
        <p:spPr>
          <a:xfrm>
            <a:off x="731520" y="38404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</a:t>
            </a:r>
            <a:endParaRPr/>
          </a:p>
        </p:txBody>
      </p:sp>
      <p:sp>
        <p:nvSpPr>
          <p:cNvPr id="537" name="Google Shape;537;g3f8d577dd8f_1_1"/>
          <p:cNvSpPr txBox="1"/>
          <p:nvPr/>
        </p:nvSpPr>
        <p:spPr>
          <a:xfrm>
            <a:off x="2878553" y="217872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Telegram b</a:t>
            </a: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</a:t>
            </a:r>
            <a:r>
              <a:rPr b="1" lang="en-US" sz="27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 biriktirilgan hudud</a:t>
            </a:r>
            <a:endParaRPr/>
          </a:p>
        </p:txBody>
      </p:sp>
      <p:sp>
        <p:nvSpPr>
          <p:cNvPr id="538" name="Google Shape;538;g3f8d577dd8f_1_1"/>
          <p:cNvSpPr/>
          <p:nvPr/>
        </p:nvSpPr>
        <p:spPr>
          <a:xfrm>
            <a:off x="0" y="6291072"/>
            <a:ext cx="121917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8d577dd8f_1_1"/>
          <p:cNvSpPr txBox="1"/>
          <p:nvPr/>
        </p:nvSpPr>
        <p:spPr>
          <a:xfrm>
            <a:off x="731520" y="6437376"/>
            <a:ext cx="7772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540" name="Google Shape;540;g3f8d577dd8f_1_1"/>
          <p:cNvSpPr txBox="1"/>
          <p:nvPr/>
        </p:nvSpPr>
        <p:spPr>
          <a:xfrm>
            <a:off x="10362895" y="6437376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541" name="Google Shape;541;g3f8d577dd8f_1_1"/>
          <p:cNvSpPr txBox="1"/>
          <p:nvPr/>
        </p:nvSpPr>
        <p:spPr>
          <a:xfrm>
            <a:off x="731520" y="1860804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42" name="Google Shape;542;g3f8d577dd8f_1_1"/>
          <p:cNvSpPr txBox="1"/>
          <p:nvPr/>
        </p:nvSpPr>
        <p:spPr>
          <a:xfrm>
            <a:off x="6447150" y="5559555"/>
            <a:ext cx="5285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Markaziy aparat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xodimi rol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bo'lsa, 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"Regionni almashtirish" orqali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kerakli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regionni tanlash imkoniyati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mavjud;</a:t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43" name="Google Shape;543;g3f8d577dd8f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50" y="1248650"/>
            <a:ext cx="3787000" cy="38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f8d577dd8f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375" y="885900"/>
            <a:ext cx="4298450" cy="45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f8d577dd8f_1_1"/>
          <p:cNvSpPr txBox="1"/>
          <p:nvPr/>
        </p:nvSpPr>
        <p:spPr>
          <a:xfrm>
            <a:off x="559187" y="5476600"/>
            <a:ext cx="45246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Hududiy vakil</a:t>
            </a:r>
            <a:r>
              <a:rPr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(xodim) - bu rolda Admin tomondan biriktiriladi viloyat.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 txBox="1"/>
          <p:nvPr/>
        </p:nvSpPr>
        <p:spPr>
          <a:xfrm>
            <a:off x="293775" y="258978"/>
            <a:ext cx="107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</a:t>
            </a:r>
            <a:endParaRPr/>
          </a:p>
        </p:txBody>
      </p:sp>
      <p:sp>
        <p:nvSpPr>
          <p:cNvPr id="552" name="Google Shape;552;p22"/>
          <p:cNvSpPr txBox="1"/>
          <p:nvPr/>
        </p:nvSpPr>
        <p:spPr>
          <a:xfrm>
            <a:off x="293775" y="478434"/>
            <a:ext cx="107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Davomatni olish va kelmaganlar ro'yxati</a:t>
            </a:r>
            <a:endParaRPr/>
          </a:p>
        </p:txBody>
      </p:sp>
      <p:sp>
        <p:nvSpPr>
          <p:cNvPr id="553" name="Google Shape;553;p22"/>
          <p:cNvSpPr txBox="1"/>
          <p:nvPr/>
        </p:nvSpPr>
        <p:spPr>
          <a:xfrm>
            <a:off x="293775" y="942416"/>
            <a:ext cx="1045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Faqat FAOL sessiyalar ko'rinadi. Ro'yxat bo'sh bo'lsa — sessiya hali faollashtirilmagan.</a:t>
            </a: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556" name="Google Shape;556;p22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231240" y="1355758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 txBox="1"/>
          <p:nvPr/>
        </p:nvSpPr>
        <p:spPr>
          <a:xfrm>
            <a:off x="231240" y="1433482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59" name="Google Shape;559;p22"/>
          <p:cNvSpPr txBox="1"/>
          <p:nvPr/>
        </p:nvSpPr>
        <p:spPr>
          <a:xfrm>
            <a:off x="798168" y="1369473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📋 Faol test tadbirlari ro'yxati → tadbirni tanlang</a:t>
            </a:r>
            <a:endParaRPr/>
          </a:p>
        </p:txBody>
      </p:sp>
      <p:sp>
        <p:nvSpPr>
          <p:cNvPr id="560" name="Google Shape;560;p22"/>
          <p:cNvSpPr txBox="1"/>
          <p:nvPr/>
        </p:nvSpPr>
        <p:spPr>
          <a:xfrm>
            <a:off x="798168" y="1657509"/>
            <a:ext cx="1016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Ro'yxatda sizning viloyatingizga tegishli faol imtihon tadbirlari chiqadi.</a:t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262508" y="1978133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262508" y="2055857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63" name="Google Shape;563;p22"/>
          <p:cNvSpPr txBox="1"/>
          <p:nvPr/>
        </p:nvSpPr>
        <p:spPr>
          <a:xfrm>
            <a:off x="829436" y="1991849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 va smenani tanlang</a:t>
            </a:r>
            <a:endParaRPr/>
          </a:p>
        </p:txBody>
      </p:sp>
      <p:sp>
        <p:nvSpPr>
          <p:cNvPr id="564" name="Google Shape;564;p22"/>
          <p:cNvSpPr txBox="1"/>
          <p:nvPr/>
        </p:nvSpPr>
        <p:spPr>
          <a:xfrm>
            <a:off x="829436" y="2279885"/>
            <a:ext cx="1016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Masalan: 12-sentabr, 1-smena. Keyin amallar menyusi ochiladi.</a:t>
            </a:r>
            <a:endParaRPr/>
          </a:p>
        </p:txBody>
      </p:sp>
      <p:sp>
        <p:nvSpPr>
          <p:cNvPr id="565" name="Google Shape;565;p22"/>
          <p:cNvSpPr/>
          <p:nvPr/>
        </p:nvSpPr>
        <p:spPr>
          <a:xfrm>
            <a:off x="263973" y="2546924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 txBox="1"/>
          <p:nvPr/>
        </p:nvSpPr>
        <p:spPr>
          <a:xfrm>
            <a:off x="263973" y="2624648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67" name="Google Shape;567;p22"/>
          <p:cNvSpPr txBox="1"/>
          <p:nvPr/>
        </p:nvSpPr>
        <p:spPr>
          <a:xfrm>
            <a:off x="830901" y="2560640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Davomatni olish</a:t>
            </a:r>
            <a:endParaRPr/>
          </a:p>
        </p:txBody>
      </p:sp>
      <p:sp>
        <p:nvSpPr>
          <p:cNvPr id="568" name="Google Shape;568;p22"/>
          <p:cNvSpPr txBox="1"/>
          <p:nvPr/>
        </p:nvSpPr>
        <p:spPr>
          <a:xfrm>
            <a:off x="830901" y="2848676"/>
            <a:ext cx="10161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Tanlangan kun/smena bo'yicha biriktirilgan viloyat va binolar kesimida 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kelgan/kelmaganlar soni va foizi chiqadi.</a:t>
            </a:r>
            <a:endParaRPr/>
          </a:p>
        </p:txBody>
      </p:sp>
      <p:sp>
        <p:nvSpPr>
          <p:cNvPr id="569" name="Google Shape;569;p22"/>
          <p:cNvSpPr/>
          <p:nvPr/>
        </p:nvSpPr>
        <p:spPr>
          <a:xfrm>
            <a:off x="283353" y="5349073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2"/>
          <p:cNvSpPr txBox="1"/>
          <p:nvPr/>
        </p:nvSpPr>
        <p:spPr>
          <a:xfrm>
            <a:off x="283353" y="5426797"/>
            <a:ext cx="38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571" name="Google Shape;571;p22"/>
          <p:cNvSpPr txBox="1"/>
          <p:nvPr/>
        </p:nvSpPr>
        <p:spPr>
          <a:xfrm>
            <a:off x="850281" y="5362789"/>
            <a:ext cx="1016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📥 Kelmaganlar ro'yxatini olish</a:t>
            </a:r>
            <a:endParaRPr/>
          </a:p>
        </p:txBody>
      </p:sp>
      <p:sp>
        <p:nvSpPr>
          <p:cNvPr id="572" name="Google Shape;572;p22"/>
          <p:cNvSpPr txBox="1"/>
          <p:nvPr/>
        </p:nvSpPr>
        <p:spPr>
          <a:xfrm>
            <a:off x="850279" y="5650825"/>
            <a:ext cx="39504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Excel fayl tayyorlab yuboradi: 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 → smena → viloyat → bino → guruh → joy tartibida </a:t>
            </a:r>
            <a:endParaRPr b="0" i="0" sz="11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saralangan bo'ladi.</a:t>
            </a: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4754594" y="5401375"/>
            <a:ext cx="7295100" cy="77730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4755639" y="5401300"/>
            <a:ext cx="45000" cy="7773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 txBox="1"/>
          <p:nvPr/>
        </p:nvSpPr>
        <p:spPr>
          <a:xfrm>
            <a:off x="4951182" y="5401364"/>
            <a:ext cx="2227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MASLAHAT</a:t>
            </a:r>
            <a:endParaRPr/>
          </a:p>
        </p:txBody>
      </p:sp>
      <p:sp>
        <p:nvSpPr>
          <p:cNvPr id="576" name="Google Shape;576;p22"/>
          <p:cNvSpPr txBox="1"/>
          <p:nvPr/>
        </p:nvSpPr>
        <p:spPr>
          <a:xfrm>
            <a:off x="4951182" y="5657388"/>
            <a:ext cx="7295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 tayyorlanishi bir necha soniya vaqt olishi mumkin — "Excel tayyorlanmoqda..." xabaridan keyin kuting, </a:t>
            </a:r>
            <a:endParaRPr b="0" i="0" sz="1200" u="none" cap="none" strike="noStrike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tugmani qayta-qayta bosmang.</a:t>
            </a:r>
            <a:endParaRPr/>
          </a:p>
        </p:txBody>
      </p:sp>
      <p:pic>
        <p:nvPicPr>
          <p:cNvPr id="577" name="Google Shape;5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7190" y="570488"/>
            <a:ext cx="2215915" cy="9102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78" name="Google Shape;57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660" y="1537536"/>
            <a:ext cx="2661120" cy="34811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79" name="Google Shape;57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37403" y="1543058"/>
            <a:ext cx="2685186" cy="3380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80" name="Google Shape;58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482" y="3306933"/>
            <a:ext cx="3037925" cy="19203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</a:t>
            </a:r>
            <a:endParaRPr/>
          </a:p>
        </p:txBody>
      </p:sp>
      <p:sp>
        <p:nvSpPr>
          <p:cNvPr id="587" name="Google Shape;587;p23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 ID tekshiruvi</a:t>
            </a:r>
            <a:endParaRPr/>
          </a:p>
        </p:txBody>
      </p:sp>
      <p:sp>
        <p:nvSpPr>
          <p:cNvPr id="588" name="Google Shape;588;p23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Talabgorning yuzi davlat bazasidagi (GTSP) rasmi bilan solishtiriladi va u shu smenaga tegishli ekani tekshiriladi.</a:t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591" name="Google Shape;591;p23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731520" y="1737360"/>
            <a:ext cx="5257800" cy="2606040"/>
          </a:xfrm>
          <a:prstGeom prst="roundRect">
            <a:avLst>
              <a:gd fmla="val 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 txBox="1"/>
          <p:nvPr/>
        </p:nvSpPr>
        <p:spPr>
          <a:xfrm>
            <a:off x="1005840" y="1874519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· ✍️ Pasportni qo'lda kiritish</a:t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1005840" y="235458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1298448" y="2258568"/>
            <a:ext cx="4416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1/3 —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pasport seriya va raqami (masalan AA1234567).</a:t>
            </a: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1005840" y="285750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1298448" y="2761488"/>
            <a:ext cx="4416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2/3 —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JShShIR: 14 ta raqam.</a:t>
            </a:r>
            <a:endParaRPr/>
          </a:p>
        </p:txBody>
      </p:sp>
      <p:sp>
        <p:nvSpPr>
          <p:cNvPr id="598" name="Google Shape;598;p23"/>
          <p:cNvSpPr/>
          <p:nvPr/>
        </p:nvSpPr>
        <p:spPr>
          <a:xfrm>
            <a:off x="1005840" y="336042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 txBox="1"/>
          <p:nvPr/>
        </p:nvSpPr>
        <p:spPr>
          <a:xfrm>
            <a:off x="1298448" y="3264408"/>
            <a:ext cx="4416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3/3 —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talabgorning selfie surati.</a:t>
            </a:r>
            <a:endParaRPr/>
          </a:p>
        </p:txBody>
      </p:sp>
      <p:sp>
        <p:nvSpPr>
          <p:cNvPr id="600" name="Google Shape;600;p23"/>
          <p:cNvSpPr/>
          <p:nvPr/>
        </p:nvSpPr>
        <p:spPr>
          <a:xfrm>
            <a:off x="6217920" y="1737360"/>
            <a:ext cx="5239512" cy="2606040"/>
          </a:xfrm>
          <a:prstGeom prst="roundRect">
            <a:avLst>
              <a:gd fmla="val 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 txBox="1"/>
          <p:nvPr/>
        </p:nvSpPr>
        <p:spPr>
          <a:xfrm>
            <a:off x="6492240" y="1874519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 · 📷 ID Card QR kodini yuborish</a:t>
            </a: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6492240" y="235458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6784848" y="2258568"/>
            <a:ext cx="43982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1/2 —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 kartaning ORQA tomonidagi QR kodni suratga oling.</a:t>
            </a:r>
            <a:endParaRPr/>
          </a:p>
        </p:txBody>
      </p:sp>
      <p:sp>
        <p:nvSpPr>
          <p:cNvPr id="604" name="Google Shape;604;p23"/>
          <p:cNvSpPr/>
          <p:nvPr/>
        </p:nvSpPr>
        <p:spPr>
          <a:xfrm>
            <a:off x="6492240" y="285750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6784848" y="2761488"/>
            <a:ext cx="43982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o'zi o'qiydi —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pasport ma'lumotini qo'lda kiritish shart emas.</a:t>
            </a:r>
            <a:endParaRPr/>
          </a:p>
        </p:txBody>
      </p:sp>
      <p:sp>
        <p:nvSpPr>
          <p:cNvPr id="606" name="Google Shape;606;p23"/>
          <p:cNvSpPr/>
          <p:nvPr/>
        </p:nvSpPr>
        <p:spPr>
          <a:xfrm>
            <a:off x="6492240" y="336042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6784848" y="3264408"/>
            <a:ext cx="43982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2/2 —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so'ng talabgorning selfie suratini yuboring.</a:t>
            </a:r>
            <a:endParaRPr/>
          </a:p>
        </p:txBody>
      </p:sp>
      <p:sp>
        <p:nvSpPr>
          <p:cNvPr id="608" name="Google Shape;608;p23"/>
          <p:cNvSpPr/>
          <p:nvPr/>
        </p:nvSpPr>
        <p:spPr>
          <a:xfrm>
            <a:off x="731520" y="4526280"/>
            <a:ext cx="5257800" cy="1554480"/>
          </a:xfrm>
          <a:prstGeom prst="roundRect">
            <a:avLst>
              <a:gd fmla="val 9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731520" y="4526280"/>
            <a:ext cx="64008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1005840" y="46634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NATIJA IJOBIY</a:t>
            </a:r>
            <a:endParaRPr/>
          </a:p>
        </p:txBody>
      </p:sp>
      <p:sp>
        <p:nvSpPr>
          <p:cNvPr id="611" name="Google Shape;611;p23"/>
          <p:cNvSpPr txBox="1"/>
          <p:nvPr/>
        </p:nvSpPr>
        <p:spPr>
          <a:xfrm>
            <a:off x="1005840" y="4919472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Natija ijobiy bo'lsa — "✅ Davomatga qo'shish" tugmasi chiqadi. Bosilgach talabgor "Keldi" deb belgilanadi va bu admin panelda ham ko'rinadi.</a:t>
            </a:r>
            <a:endParaRPr/>
          </a:p>
        </p:txBody>
      </p:sp>
      <p:sp>
        <p:nvSpPr>
          <p:cNvPr id="612" name="Google Shape;612;p23"/>
          <p:cNvSpPr/>
          <p:nvPr/>
        </p:nvSpPr>
        <p:spPr>
          <a:xfrm>
            <a:off x="6217920" y="4526280"/>
            <a:ext cx="5239512" cy="155448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6217920" y="4526280"/>
            <a:ext cx="64008" cy="15544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3"/>
          <p:cNvSpPr txBox="1"/>
          <p:nvPr/>
        </p:nvSpPr>
        <p:spPr>
          <a:xfrm>
            <a:off x="6492240" y="46634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NATIJA SALBIY</a:t>
            </a:r>
            <a:endParaRPr/>
          </a:p>
        </p:txBody>
      </p:sp>
      <p:sp>
        <p:nvSpPr>
          <p:cNvPr id="615" name="Google Shape;615;p23"/>
          <p:cNvSpPr txBox="1"/>
          <p:nvPr/>
        </p:nvSpPr>
        <p:spPr>
          <a:xfrm>
            <a:off x="6492240" y="4919472"/>
            <a:ext cx="46908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 mos kelmasa yoki talabgor boshqa smenaga tegishli bo'lsa — davomatga QO'SHMANG. "❌ Bekor qilish" ni bosing va mas'ul xodimga murojaat qiling.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BOT</a:t>
            </a:r>
            <a:endParaRPr/>
          </a:p>
        </p:txBody>
      </p:sp>
      <p:sp>
        <p:nvSpPr>
          <p:cNvPr id="622" name="Google Shape;622;p24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Selfie qoidalari, tuzatish va chetlatish</a:t>
            </a:r>
            <a:endParaRPr/>
          </a:p>
        </p:txBody>
      </p:sp>
      <p:sp>
        <p:nvSpPr>
          <p:cNvPr id="623" name="Google Shape;623;p24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Surat sifati natijaga bevosita ta'sir qiladi. Xatoni esa bot orqali o'zingiz tuzatishingiz mumkin.</a:t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626" name="Google Shape;626;p24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731520" y="1737360"/>
            <a:ext cx="3393338" cy="224028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731520" y="1901952"/>
            <a:ext cx="50292" cy="19110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 txBox="1"/>
          <p:nvPr/>
        </p:nvSpPr>
        <p:spPr>
          <a:xfrm>
            <a:off x="987552" y="1911095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📸 Selfie qoidalari</a:t>
            </a:r>
            <a:endParaRPr/>
          </a:p>
        </p:txBody>
      </p:sp>
      <p:sp>
        <p:nvSpPr>
          <p:cNvPr id="630" name="Google Shape;630;p24"/>
          <p:cNvSpPr txBox="1"/>
          <p:nvPr/>
        </p:nvSpPr>
        <p:spPr>
          <a:xfrm>
            <a:off x="987552" y="2267712"/>
            <a:ext cx="2936138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Yorug' joyda, yuz to'liq va to'g'ri ko'rinsin. Bosh kiyim, quyosh ko'zoynagi va niqob bo'lmasin. Suratni albatta FOTO sifatida yuboring — fayl (document) sifatida yuborilgan rasm qabul qilinmaydi.</a:t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4399178" y="1737360"/>
            <a:ext cx="3393338" cy="224028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4399178" y="1901952"/>
            <a:ext cx="50292" cy="19110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 txBox="1"/>
          <p:nvPr/>
        </p:nvSpPr>
        <p:spPr>
          <a:xfrm>
            <a:off x="4655210" y="1911095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🗑 Davomatdan olib tashlash</a:t>
            </a:r>
            <a:endParaRPr/>
          </a:p>
        </p:txBody>
      </p:sp>
      <p:sp>
        <p:nvSpPr>
          <p:cNvPr id="634" name="Google Shape;634;p24"/>
          <p:cNvSpPr txBox="1"/>
          <p:nvPr/>
        </p:nvSpPr>
        <p:spPr>
          <a:xfrm>
            <a:off x="4655210" y="2267712"/>
            <a:ext cx="2936138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Xato belgilangan davomatni tuzatish uchun: JShShIR (14 raqam) kiriting → topilgan talabgorni tekshiring → "✅ Ha, olib tashlansin". Kirish tarixi (log) o'chmaydi, faqat "Keldi" belgisi olinadi.</a:t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8066836" y="1737360"/>
            <a:ext cx="3393338" cy="224028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8066836" y="1901952"/>
            <a:ext cx="50292" cy="19110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 txBox="1"/>
          <p:nvPr/>
        </p:nvSpPr>
        <p:spPr>
          <a:xfrm>
            <a:off x="8322868" y="1911095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🚫 Chetlatish</a:t>
            </a:r>
            <a:endParaRPr/>
          </a:p>
        </p:txBody>
      </p:sp>
      <p:sp>
        <p:nvSpPr>
          <p:cNvPr id="638" name="Google Shape;638;p24"/>
          <p:cNvSpPr txBox="1"/>
          <p:nvPr/>
        </p:nvSpPr>
        <p:spPr>
          <a:xfrm>
            <a:off x="8322868" y="2267712"/>
            <a:ext cx="2936138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Chetlatish turini tanlang → JShShIR kiriting → sababni tanlang → "✅ Ha, chetlatilsin". Yozuv admin paneldagi "Chetlatilganlar" sahifasida darhol ko'rinadi.</a:t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731520" y="425196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731520" y="4251960"/>
            <a:ext cx="6400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 txBox="1"/>
          <p:nvPr/>
        </p:nvSpPr>
        <p:spPr>
          <a:xfrm>
            <a:off x="1005840" y="438912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OLTIN QOIDA</a:t>
            </a:r>
            <a:endParaRPr/>
          </a:p>
        </p:txBody>
      </p:sp>
      <p:sp>
        <p:nvSpPr>
          <p:cNvPr id="642" name="Google Shape;642;p24"/>
          <p:cNvSpPr txBox="1"/>
          <p:nvPr/>
        </p:nvSpPr>
        <p:spPr>
          <a:xfrm>
            <a:off x="1005840" y="4645152"/>
            <a:ext cx="1018001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Tasdiqlash tugmasini bosishdan OLDIN ekrandagi F.I.Sh, guruh va joy raqamini diqqat bilan o'qing. Noto'g'ri talabgorni chetlatish yoki davomatdan chiqarish jiddiy xatolik hisoblanadi.</a:t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731520" y="5303520"/>
            <a:ext cx="10728655" cy="77724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731520" y="5303520"/>
            <a:ext cx="64008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 txBox="1"/>
          <p:nvPr/>
        </p:nvSpPr>
        <p:spPr>
          <a:xfrm>
            <a:off x="1005840" y="54406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TEZ-TEZ UCHRAYDI</a:t>
            </a:r>
            <a:endParaRPr/>
          </a:p>
        </p:txBody>
      </p:sp>
      <p:sp>
        <p:nvSpPr>
          <p:cNvPr id="646" name="Google Shape;646;p24"/>
          <p:cNvSpPr txBox="1"/>
          <p:nvPr/>
        </p:nvSpPr>
        <p:spPr>
          <a:xfrm>
            <a:off x="1005840" y="5696712"/>
            <a:ext cx="10180015" cy="27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"Sessiya ma'lumotlari yo'qoldi" desa — /start bilan qaytadan boshlang, ma'lumot yo'qolmaydi.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7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7"/>
          <p:cNvSpPr txBox="1"/>
          <p:nvPr/>
        </p:nvSpPr>
        <p:spPr>
          <a:xfrm>
            <a:off x="868680" y="13716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654" name="Google Shape;654;p7"/>
          <p:cNvSpPr txBox="1"/>
          <p:nvPr/>
        </p:nvSpPr>
        <p:spPr>
          <a:xfrm>
            <a:off x="868680" y="2560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(web)</a:t>
            </a:r>
            <a:endParaRPr/>
          </a:p>
        </p:txBody>
      </p:sp>
      <p:sp>
        <p:nvSpPr>
          <p:cNvPr id="655" name="Google Shape;655;p7"/>
          <p:cNvSpPr txBox="1"/>
          <p:nvPr/>
        </p:nvSpPr>
        <p:spPr>
          <a:xfrm>
            <a:off x="868680" y="35661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BEAF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Brauzer orqali ishlaydigan asosiy boshqaruv paneli — ro'yxatlar, filtrlar, hisobotlar va statistika.</a:t>
            </a:r>
            <a:endParaRPr/>
          </a:p>
        </p:txBody>
      </p:sp>
      <p:sp>
        <p:nvSpPr>
          <p:cNvPr id="656" name="Google Shape;656;p7"/>
          <p:cNvSpPr/>
          <p:nvPr/>
        </p:nvSpPr>
        <p:spPr>
          <a:xfrm>
            <a:off x="932688" y="4572000"/>
            <a:ext cx="91440" cy="9144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7"/>
          <p:cNvSpPr txBox="1"/>
          <p:nvPr/>
        </p:nvSpPr>
        <p:spPr>
          <a:xfrm>
            <a:off x="1234440" y="44805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Tizimga kirish va xavfsizlik</a:t>
            </a:r>
            <a:endParaRPr/>
          </a:p>
        </p:txBody>
      </p:sp>
      <p:sp>
        <p:nvSpPr>
          <p:cNvPr id="658" name="Google Shape;658;p7"/>
          <p:cNvSpPr/>
          <p:nvPr/>
        </p:nvSpPr>
        <p:spPr>
          <a:xfrm>
            <a:off x="932688" y="4956048"/>
            <a:ext cx="91440" cy="9144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7"/>
          <p:cNvSpPr txBox="1"/>
          <p:nvPr/>
        </p:nvSpPr>
        <p:spPr>
          <a:xfrm>
            <a:off x="1234440" y="486460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Menyu tuzilishi va ruxsatlar</a:t>
            </a:r>
            <a:endParaRPr/>
          </a:p>
        </p:txBody>
      </p:sp>
      <p:sp>
        <p:nvSpPr>
          <p:cNvPr id="660" name="Google Shape;660;p7"/>
          <p:cNvSpPr/>
          <p:nvPr/>
        </p:nvSpPr>
        <p:spPr>
          <a:xfrm>
            <a:off x="932688" y="5340096"/>
            <a:ext cx="91440" cy="9144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7"/>
          <p:cNvSpPr txBox="1"/>
          <p:nvPr/>
        </p:nvSpPr>
        <p:spPr>
          <a:xfrm>
            <a:off x="1234440" y="524865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sahifasi: qidiruv, filtrlar, "Range guruh"</a:t>
            </a:r>
            <a:endParaRPr/>
          </a:p>
        </p:txBody>
      </p:sp>
      <p:sp>
        <p:nvSpPr>
          <p:cNvPr id="662" name="Google Shape;662;p7"/>
          <p:cNvSpPr/>
          <p:nvPr/>
        </p:nvSpPr>
        <p:spPr>
          <a:xfrm>
            <a:off x="932688" y="5724144"/>
            <a:ext cx="91440" cy="9144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7"/>
          <p:cNvSpPr txBox="1"/>
          <p:nvPr/>
        </p:nvSpPr>
        <p:spPr>
          <a:xfrm>
            <a:off x="1234440" y="563270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Eksport va ommaviy amallar</a:t>
            </a:r>
            <a:endParaRPr/>
          </a:p>
        </p:txBody>
      </p:sp>
      <p:sp>
        <p:nvSpPr>
          <p:cNvPr id="664" name="Google Shape;664;p7"/>
          <p:cNvSpPr/>
          <p:nvPr/>
        </p:nvSpPr>
        <p:spPr>
          <a:xfrm>
            <a:off x="932688" y="6108192"/>
            <a:ext cx="91440" cy="9144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7"/>
          <p:cNvSpPr txBox="1"/>
          <p:nvPr/>
        </p:nvSpPr>
        <p:spPr>
          <a:xfrm>
            <a:off x="1234440" y="601675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Davomat, test sessiyalar, loglar va xizmatlar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8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</a:t>
            </a:r>
            <a:endParaRPr/>
          </a:p>
        </p:txBody>
      </p:sp>
      <p:sp>
        <p:nvSpPr>
          <p:cNvPr id="672" name="Google Shape;672;p8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Tizimga kirish</a:t>
            </a:r>
            <a:endParaRPr/>
          </a:p>
        </p:txBody>
      </p:sp>
      <p:sp>
        <p:nvSpPr>
          <p:cNvPr id="673" name="Google Shape;673;p8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Panelga faqat sizga berilgan shaxsiy login va parol bilan kiriladi.</a:t>
            </a:r>
            <a:endParaRPr/>
          </a:p>
        </p:txBody>
      </p:sp>
      <p:sp>
        <p:nvSpPr>
          <p:cNvPr id="674" name="Google Shape;674;p8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8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676" name="Google Shape;676;p8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677" name="Google Shape;677;p8"/>
          <p:cNvSpPr/>
          <p:nvPr/>
        </p:nvSpPr>
        <p:spPr>
          <a:xfrm>
            <a:off x="731520" y="178308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8"/>
          <p:cNvSpPr txBox="1"/>
          <p:nvPr/>
        </p:nvSpPr>
        <p:spPr>
          <a:xfrm>
            <a:off x="731520" y="186080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79" name="Google Shape;679;p8"/>
          <p:cNvSpPr txBox="1"/>
          <p:nvPr/>
        </p:nvSpPr>
        <p:spPr>
          <a:xfrm>
            <a:off x="1298448" y="1796795"/>
            <a:ext cx="5833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Brauzerda manzilni oching</a:t>
            </a:r>
            <a:endParaRPr/>
          </a:p>
        </p:txBody>
      </p:sp>
      <p:sp>
        <p:nvSpPr>
          <p:cNvPr id="680" name="Google Shape;680;p8"/>
          <p:cNvSpPr txBox="1"/>
          <p:nvPr/>
        </p:nvSpPr>
        <p:spPr>
          <a:xfrm>
            <a:off x="1298448" y="2084831"/>
            <a:ext cx="5833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Administrator bergan manzil, masalan: face-id.uzbmb.uz. Chrome yoki Edge tavsiya etiladi.</a:t>
            </a:r>
            <a:endParaRPr/>
          </a:p>
        </p:txBody>
      </p:sp>
      <p:sp>
        <p:nvSpPr>
          <p:cNvPr id="681" name="Google Shape;681;p8"/>
          <p:cNvSpPr/>
          <p:nvPr/>
        </p:nvSpPr>
        <p:spPr>
          <a:xfrm>
            <a:off x="731520" y="26060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8"/>
          <p:cNvSpPr txBox="1"/>
          <p:nvPr/>
        </p:nvSpPr>
        <p:spPr>
          <a:xfrm>
            <a:off x="731520" y="268376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83" name="Google Shape;683;p8"/>
          <p:cNvSpPr txBox="1"/>
          <p:nvPr/>
        </p:nvSpPr>
        <p:spPr>
          <a:xfrm>
            <a:off x="1298448" y="2619756"/>
            <a:ext cx="5833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"Login" va "Parol" maydonlarini to'ldiring</a:t>
            </a:r>
            <a:endParaRPr/>
          </a:p>
        </p:txBody>
      </p:sp>
      <p:sp>
        <p:nvSpPr>
          <p:cNvPr id="684" name="Google Shape;684;p8"/>
          <p:cNvSpPr txBox="1"/>
          <p:nvPr/>
        </p:nvSpPr>
        <p:spPr>
          <a:xfrm>
            <a:off x="1298448" y="2907792"/>
            <a:ext cx="5833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 — sizga berilgan foydalanuvchi nomi. Parolni faqat siz bilasiz.</a:t>
            </a:r>
            <a:endParaRPr/>
          </a:p>
        </p:txBody>
      </p:sp>
      <p:sp>
        <p:nvSpPr>
          <p:cNvPr id="685" name="Google Shape;685;p8"/>
          <p:cNvSpPr/>
          <p:nvPr/>
        </p:nvSpPr>
        <p:spPr>
          <a:xfrm>
            <a:off x="731520" y="342900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8"/>
          <p:cNvSpPr txBox="1"/>
          <p:nvPr/>
        </p:nvSpPr>
        <p:spPr>
          <a:xfrm>
            <a:off x="731520" y="350672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87" name="Google Shape;687;p8"/>
          <p:cNvSpPr txBox="1"/>
          <p:nvPr/>
        </p:nvSpPr>
        <p:spPr>
          <a:xfrm>
            <a:off x="1298448" y="3442716"/>
            <a:ext cx="5833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"Kirish" tugmasini bosing</a:t>
            </a:r>
            <a:endParaRPr/>
          </a:p>
        </p:txBody>
      </p:sp>
      <p:sp>
        <p:nvSpPr>
          <p:cNvPr id="688" name="Google Shape;688;p8"/>
          <p:cNvSpPr txBox="1"/>
          <p:nvPr/>
        </p:nvSpPr>
        <p:spPr>
          <a:xfrm>
            <a:off x="1298448" y="3792477"/>
            <a:ext cx="5833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Parol xato bo'lsa — urinish tizimda qayd etiladi (Failed login audit).</a:t>
            </a:r>
            <a:endParaRPr/>
          </a:p>
        </p:txBody>
      </p:sp>
      <p:sp>
        <p:nvSpPr>
          <p:cNvPr id="689" name="Google Shape;689;p8"/>
          <p:cNvSpPr/>
          <p:nvPr/>
        </p:nvSpPr>
        <p:spPr>
          <a:xfrm>
            <a:off x="731520" y="425196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8"/>
          <p:cNvSpPr txBox="1"/>
          <p:nvPr/>
        </p:nvSpPr>
        <p:spPr>
          <a:xfrm>
            <a:off x="731520" y="432968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91" name="Google Shape;691;p8"/>
          <p:cNvSpPr txBox="1"/>
          <p:nvPr/>
        </p:nvSpPr>
        <p:spPr>
          <a:xfrm>
            <a:off x="1298448" y="4265676"/>
            <a:ext cx="5833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Ish tugagach — tizimdan chiqing</a:t>
            </a:r>
            <a:endParaRPr/>
          </a:p>
        </p:txBody>
      </p:sp>
      <p:sp>
        <p:nvSpPr>
          <p:cNvPr id="692" name="Google Shape;692;p8"/>
          <p:cNvSpPr txBox="1"/>
          <p:nvPr/>
        </p:nvSpPr>
        <p:spPr>
          <a:xfrm>
            <a:off x="1298448" y="4553712"/>
            <a:ext cx="5833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Ayniqsa umumiy kompyuterda. Brauzerni shunchaki yopish yetarli emas.</a:t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>
            <a:off x="7733500" y="957003"/>
            <a:ext cx="12600" cy="4056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8"/>
          <p:cNvSpPr/>
          <p:nvPr/>
        </p:nvSpPr>
        <p:spPr>
          <a:xfrm>
            <a:off x="731520" y="5212080"/>
            <a:ext cx="10728600" cy="86880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8"/>
          <p:cNvSpPr/>
          <p:nvPr/>
        </p:nvSpPr>
        <p:spPr>
          <a:xfrm>
            <a:off x="731520" y="5212080"/>
            <a:ext cx="64008" cy="8686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8"/>
          <p:cNvSpPr txBox="1"/>
          <p:nvPr/>
        </p:nvSpPr>
        <p:spPr>
          <a:xfrm>
            <a:off x="1005840" y="53492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XAVFSIZLIK</a:t>
            </a:r>
            <a:endParaRPr/>
          </a:p>
        </p:txBody>
      </p:sp>
      <p:sp>
        <p:nvSpPr>
          <p:cNvPr id="697" name="Google Shape;697;p8"/>
          <p:cNvSpPr txBox="1"/>
          <p:nvPr/>
        </p:nvSpPr>
        <p:spPr>
          <a:xfrm>
            <a:off x="1005840" y="5605272"/>
            <a:ext cx="10180015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amal (kim, qachon, qaysi IP) tizimda saqlanadi. Boshqa xodimning hisobi bilan ishlamang — javobgarlik hisob egasiga yuklanadi.</a:t>
            </a:r>
            <a:endParaRPr/>
          </a:p>
        </p:txBody>
      </p:sp>
      <p:pic>
        <p:nvPicPr>
          <p:cNvPr id="698" name="Google Shape;6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9175" y="956988"/>
            <a:ext cx="3615275" cy="3782737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9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</a:t>
            </a:r>
            <a:endParaRPr/>
          </a:p>
        </p:txBody>
      </p:sp>
      <p:sp>
        <p:nvSpPr>
          <p:cNvPr id="705" name="Google Shape;705;p9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Ekran tuzilishi va menyu</a:t>
            </a:r>
            <a:endParaRPr/>
          </a:p>
        </p:txBody>
      </p:sp>
      <p:sp>
        <p:nvSpPr>
          <p:cNvPr id="706" name="Google Shape;706;p9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9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708" name="Google Shape;708;p9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709" name="Google Shape;709;p9"/>
          <p:cNvSpPr/>
          <p:nvPr/>
        </p:nvSpPr>
        <p:spPr>
          <a:xfrm>
            <a:off x="731525" y="5349248"/>
            <a:ext cx="10728600" cy="685800"/>
          </a:xfrm>
          <a:prstGeom prst="roundRect">
            <a:avLst>
              <a:gd fmla="val 9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9"/>
          <p:cNvSpPr/>
          <p:nvPr/>
        </p:nvSpPr>
        <p:spPr>
          <a:xfrm>
            <a:off x="731524" y="5349248"/>
            <a:ext cx="639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9"/>
          <p:cNvSpPr txBox="1"/>
          <p:nvPr/>
        </p:nvSpPr>
        <p:spPr>
          <a:xfrm>
            <a:off x="1005840" y="53492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ESLATMA</a:t>
            </a:r>
            <a:endParaRPr/>
          </a:p>
        </p:txBody>
      </p:sp>
      <p:sp>
        <p:nvSpPr>
          <p:cNvPr id="712" name="Google Shape;712;p9"/>
          <p:cNvSpPr txBox="1"/>
          <p:nvPr/>
        </p:nvSpPr>
        <p:spPr>
          <a:xfrm>
            <a:off x="1005840" y="5605272"/>
            <a:ext cx="101800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Oddiy xodim uchun asosiy ish maydoni — "Test markazi" bo'limi. Qolgan bo'limlar ko'rinmasa, ular sizga kerak emas degani.</a:t>
            </a:r>
            <a:endParaRPr/>
          </a:p>
        </p:txBody>
      </p:sp>
      <p:pic>
        <p:nvPicPr>
          <p:cNvPr id="713" name="Google Shape;71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575" y="1327412"/>
            <a:ext cx="7225015" cy="380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1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· ASOSIY ISH MAYDONI</a:t>
            </a:r>
            <a:endParaRPr/>
          </a:p>
        </p:txBody>
      </p:sp>
      <p:sp>
        <p:nvSpPr>
          <p:cNvPr id="720" name="Google Shape;720;p11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sahifasi</a:t>
            </a:r>
            <a:endParaRPr/>
          </a:p>
        </p:txBody>
      </p:sp>
      <p:sp>
        <p:nvSpPr>
          <p:cNvPr id="721" name="Google Shape;721;p11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yerda talabgorni qidirasiz, holatini ko'rasiz, ro'yxatni filtrlab Excel yoki PDF qilib yuklab olasiz.</a:t>
            </a:r>
            <a:endParaRPr/>
          </a:p>
        </p:txBody>
      </p:sp>
      <p:sp>
        <p:nvSpPr>
          <p:cNvPr id="722" name="Google Shape;722;p11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1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724" name="Google Shape;724;p11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725" name="Google Shape;725;p11"/>
          <p:cNvSpPr/>
          <p:nvPr/>
        </p:nvSpPr>
        <p:spPr>
          <a:xfrm>
            <a:off x="731520" y="18516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1"/>
          <p:cNvSpPr txBox="1"/>
          <p:nvPr/>
        </p:nvSpPr>
        <p:spPr>
          <a:xfrm>
            <a:off x="1024128" y="1755648"/>
            <a:ext cx="5376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Qidiruv maydoni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familiya, ism yoki PINFL (JShShIR) bo'yicha.</a:t>
            </a:r>
            <a:endParaRPr/>
          </a:p>
        </p:txBody>
      </p:sp>
      <p:sp>
        <p:nvSpPr>
          <p:cNvPr id="727" name="Google Shape;727;p11"/>
          <p:cNvSpPr/>
          <p:nvPr/>
        </p:nvSpPr>
        <p:spPr>
          <a:xfrm>
            <a:off x="731520" y="2418588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1"/>
          <p:cNvSpPr txBox="1"/>
          <p:nvPr/>
        </p:nvSpPr>
        <p:spPr>
          <a:xfrm>
            <a:off x="1024128" y="2322576"/>
            <a:ext cx="5376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Filterlar tugmasi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 panelini ochadi; yonidagi raqam nechta filtr yoqilganini bildiradi.</a:t>
            </a:r>
            <a:endParaRPr/>
          </a:p>
        </p:txBody>
      </p:sp>
      <p:sp>
        <p:nvSpPr>
          <p:cNvPr id="729" name="Google Shape;729;p11"/>
          <p:cNvSpPr/>
          <p:nvPr/>
        </p:nvSpPr>
        <p:spPr>
          <a:xfrm>
            <a:off x="731520" y="298551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1"/>
          <p:cNvSpPr txBox="1"/>
          <p:nvPr/>
        </p:nvSpPr>
        <p:spPr>
          <a:xfrm>
            <a:off x="1024128" y="2889504"/>
            <a:ext cx="5376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Jadval ustunlari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Test, Sessiya, Viloyat, F.I.Sh, JShShIR, Sana, Smena, Guruh, Chetlatish, Keldi, Holat.</a:t>
            </a:r>
            <a:endParaRPr/>
          </a:p>
        </p:txBody>
      </p:sp>
      <p:sp>
        <p:nvSpPr>
          <p:cNvPr id="731" name="Google Shape;731;p11"/>
          <p:cNvSpPr/>
          <p:nvPr/>
        </p:nvSpPr>
        <p:spPr>
          <a:xfrm>
            <a:off x="731520" y="355244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1"/>
          <p:cNvSpPr txBox="1"/>
          <p:nvPr/>
        </p:nvSpPr>
        <p:spPr>
          <a:xfrm>
            <a:off x="1024128" y="3456432"/>
            <a:ext cx="5376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Qatorga bosing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o'ng tomonda talabgorning to'liq kartasi ochiladi.</a:t>
            </a:r>
            <a:endParaRPr/>
          </a:p>
        </p:txBody>
      </p:sp>
      <p:sp>
        <p:nvSpPr>
          <p:cNvPr id="733" name="Google Shape;733;p11"/>
          <p:cNvSpPr/>
          <p:nvPr/>
        </p:nvSpPr>
        <p:spPr>
          <a:xfrm>
            <a:off x="731520" y="411937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1"/>
          <p:cNvSpPr txBox="1"/>
          <p:nvPr/>
        </p:nvSpPr>
        <p:spPr>
          <a:xfrm>
            <a:off x="1024128" y="4023359"/>
            <a:ext cx="5376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Sahifalash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 sahifada 20 ta yozuv; pastdagi raqamlar bilan o'tiladi.</a:t>
            </a:r>
            <a:endParaRPr/>
          </a:p>
        </p:txBody>
      </p:sp>
      <p:sp>
        <p:nvSpPr>
          <p:cNvPr id="735" name="Google Shape;735;p11"/>
          <p:cNvSpPr/>
          <p:nvPr/>
        </p:nvSpPr>
        <p:spPr>
          <a:xfrm>
            <a:off x="6766559" y="1783080"/>
            <a:ext cx="4690872" cy="29260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1"/>
          <p:cNvSpPr/>
          <p:nvPr/>
        </p:nvSpPr>
        <p:spPr>
          <a:xfrm>
            <a:off x="6766559" y="1783080"/>
            <a:ext cx="4690872" cy="384048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1"/>
          <p:cNvSpPr txBox="1"/>
          <p:nvPr/>
        </p:nvSpPr>
        <p:spPr>
          <a:xfrm>
            <a:off x="6931151" y="188366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</a:t>
            </a:r>
            <a:endParaRPr/>
          </a:p>
        </p:txBody>
      </p:sp>
      <p:sp>
        <p:nvSpPr>
          <p:cNvPr id="738" name="Google Shape;738;p11"/>
          <p:cNvSpPr txBox="1"/>
          <p:nvPr/>
        </p:nvSpPr>
        <p:spPr>
          <a:xfrm>
            <a:off x="9354312" y="1892807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 · PDF · Rasm tortish</a:t>
            </a:r>
            <a:endParaRPr/>
          </a:p>
        </p:txBody>
      </p:sp>
      <p:sp>
        <p:nvSpPr>
          <p:cNvPr id="739" name="Google Shape;739;p11"/>
          <p:cNvSpPr/>
          <p:nvPr/>
        </p:nvSpPr>
        <p:spPr>
          <a:xfrm>
            <a:off x="6931151" y="2313432"/>
            <a:ext cx="2404872" cy="27432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1"/>
          <p:cNvSpPr txBox="1"/>
          <p:nvPr/>
        </p:nvSpPr>
        <p:spPr>
          <a:xfrm>
            <a:off x="7077455" y="23591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Familiya, ism yoki PINFL...</a:t>
            </a:r>
            <a:endParaRPr/>
          </a:p>
        </p:txBody>
      </p:sp>
      <p:sp>
        <p:nvSpPr>
          <p:cNvPr id="741" name="Google Shape;741;p11"/>
          <p:cNvSpPr/>
          <p:nvPr/>
        </p:nvSpPr>
        <p:spPr>
          <a:xfrm>
            <a:off x="9445751" y="2313432"/>
            <a:ext cx="1051560" cy="274320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1"/>
          <p:cNvSpPr txBox="1"/>
          <p:nvPr/>
        </p:nvSpPr>
        <p:spPr>
          <a:xfrm>
            <a:off x="9445751" y="235915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Filterlar 3</a:t>
            </a:r>
            <a:endParaRPr/>
          </a:p>
        </p:txBody>
      </p:sp>
      <p:sp>
        <p:nvSpPr>
          <p:cNvPr id="743" name="Google Shape;743;p11"/>
          <p:cNvSpPr/>
          <p:nvPr/>
        </p:nvSpPr>
        <p:spPr>
          <a:xfrm>
            <a:off x="10588752" y="2313432"/>
            <a:ext cx="704088" cy="27432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1"/>
          <p:cNvSpPr txBox="1"/>
          <p:nvPr/>
        </p:nvSpPr>
        <p:spPr>
          <a:xfrm>
            <a:off x="10588752" y="2359152"/>
            <a:ext cx="704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Tozalash</a:t>
            </a:r>
            <a:endParaRPr/>
          </a:p>
        </p:txBody>
      </p:sp>
      <p:sp>
        <p:nvSpPr>
          <p:cNvPr id="745" name="Google Shape;745;p11"/>
          <p:cNvSpPr/>
          <p:nvPr/>
        </p:nvSpPr>
        <p:spPr>
          <a:xfrm>
            <a:off x="6931151" y="2715768"/>
            <a:ext cx="4361688" cy="2377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1"/>
          <p:cNvSpPr txBox="1"/>
          <p:nvPr/>
        </p:nvSpPr>
        <p:spPr>
          <a:xfrm>
            <a:off x="7022592" y="276148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Familiya</a:t>
            </a:r>
            <a:endParaRPr/>
          </a:p>
        </p:txBody>
      </p:sp>
      <p:sp>
        <p:nvSpPr>
          <p:cNvPr id="747" name="Google Shape;747;p11"/>
          <p:cNvSpPr txBox="1"/>
          <p:nvPr/>
        </p:nvSpPr>
        <p:spPr>
          <a:xfrm>
            <a:off x="7869326" y="276148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JShShIR</a:t>
            </a:r>
            <a:endParaRPr/>
          </a:p>
        </p:txBody>
      </p:sp>
      <p:sp>
        <p:nvSpPr>
          <p:cNvPr id="748" name="Google Shape;748;p11"/>
          <p:cNvSpPr txBox="1"/>
          <p:nvPr/>
        </p:nvSpPr>
        <p:spPr>
          <a:xfrm>
            <a:off x="8716060" y="276148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Smena</a:t>
            </a:r>
            <a:endParaRPr/>
          </a:p>
        </p:txBody>
      </p:sp>
      <p:sp>
        <p:nvSpPr>
          <p:cNvPr id="749" name="Google Shape;749;p11"/>
          <p:cNvSpPr txBox="1"/>
          <p:nvPr/>
        </p:nvSpPr>
        <p:spPr>
          <a:xfrm>
            <a:off x="9562795" y="276148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Guruh</a:t>
            </a:r>
            <a:endParaRPr/>
          </a:p>
        </p:txBody>
      </p:sp>
      <p:sp>
        <p:nvSpPr>
          <p:cNvPr id="750" name="Google Shape;750;p11"/>
          <p:cNvSpPr txBox="1"/>
          <p:nvPr/>
        </p:nvSpPr>
        <p:spPr>
          <a:xfrm>
            <a:off x="10409529" y="276148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Keldi</a:t>
            </a:r>
            <a:endParaRPr/>
          </a:p>
        </p:txBody>
      </p:sp>
      <p:sp>
        <p:nvSpPr>
          <p:cNvPr id="751" name="Google Shape;751;p11"/>
          <p:cNvSpPr txBox="1"/>
          <p:nvPr/>
        </p:nvSpPr>
        <p:spPr>
          <a:xfrm>
            <a:off x="7022592" y="3026664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1</a:t>
            </a:r>
            <a:endParaRPr/>
          </a:p>
        </p:txBody>
      </p:sp>
      <p:sp>
        <p:nvSpPr>
          <p:cNvPr id="752" name="Google Shape;752;p11"/>
          <p:cNvSpPr txBox="1"/>
          <p:nvPr/>
        </p:nvSpPr>
        <p:spPr>
          <a:xfrm>
            <a:off x="7869326" y="3026664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3xxxxxxxxxxxx0</a:t>
            </a:r>
            <a:endParaRPr/>
          </a:p>
        </p:txBody>
      </p:sp>
      <p:sp>
        <p:nvSpPr>
          <p:cNvPr id="753" name="Google Shape;753;p11"/>
          <p:cNvSpPr txBox="1"/>
          <p:nvPr/>
        </p:nvSpPr>
        <p:spPr>
          <a:xfrm>
            <a:off x="8716060" y="3026664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1-smena</a:t>
            </a:r>
            <a:endParaRPr/>
          </a:p>
        </p:txBody>
      </p:sp>
      <p:sp>
        <p:nvSpPr>
          <p:cNvPr id="754" name="Google Shape;754;p11"/>
          <p:cNvSpPr txBox="1"/>
          <p:nvPr/>
        </p:nvSpPr>
        <p:spPr>
          <a:xfrm>
            <a:off x="9562795" y="3026664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755" name="Google Shape;755;p11"/>
          <p:cNvSpPr/>
          <p:nvPr/>
        </p:nvSpPr>
        <p:spPr>
          <a:xfrm>
            <a:off x="10409529" y="3017520"/>
            <a:ext cx="475488" cy="201168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1"/>
          <p:cNvSpPr txBox="1"/>
          <p:nvPr/>
        </p:nvSpPr>
        <p:spPr>
          <a:xfrm>
            <a:off x="10409529" y="304952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</a:t>
            </a:r>
            <a:endParaRPr/>
          </a:p>
        </p:txBody>
      </p:sp>
      <p:sp>
        <p:nvSpPr>
          <p:cNvPr id="757" name="Google Shape;757;p11"/>
          <p:cNvSpPr/>
          <p:nvPr/>
        </p:nvSpPr>
        <p:spPr>
          <a:xfrm>
            <a:off x="6931151" y="3264408"/>
            <a:ext cx="4361688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1"/>
          <p:cNvSpPr txBox="1"/>
          <p:nvPr/>
        </p:nvSpPr>
        <p:spPr>
          <a:xfrm>
            <a:off x="7022592" y="3374136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2</a:t>
            </a:r>
            <a:endParaRPr/>
          </a:p>
        </p:txBody>
      </p:sp>
      <p:sp>
        <p:nvSpPr>
          <p:cNvPr id="759" name="Google Shape;759;p11"/>
          <p:cNvSpPr txBox="1"/>
          <p:nvPr/>
        </p:nvSpPr>
        <p:spPr>
          <a:xfrm>
            <a:off x="7869326" y="3374136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3xxxxxxxxxxxx1</a:t>
            </a:r>
            <a:endParaRPr/>
          </a:p>
        </p:txBody>
      </p:sp>
      <p:sp>
        <p:nvSpPr>
          <p:cNvPr id="760" name="Google Shape;760;p11"/>
          <p:cNvSpPr txBox="1"/>
          <p:nvPr/>
        </p:nvSpPr>
        <p:spPr>
          <a:xfrm>
            <a:off x="8716060" y="3374136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1-smena</a:t>
            </a:r>
            <a:endParaRPr/>
          </a:p>
        </p:txBody>
      </p:sp>
      <p:sp>
        <p:nvSpPr>
          <p:cNvPr id="761" name="Google Shape;761;p11"/>
          <p:cNvSpPr txBox="1"/>
          <p:nvPr/>
        </p:nvSpPr>
        <p:spPr>
          <a:xfrm>
            <a:off x="9562795" y="3374136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62" name="Google Shape;762;p11"/>
          <p:cNvSpPr/>
          <p:nvPr/>
        </p:nvSpPr>
        <p:spPr>
          <a:xfrm>
            <a:off x="10409529" y="3364992"/>
            <a:ext cx="475488" cy="201168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1"/>
          <p:cNvSpPr txBox="1"/>
          <p:nvPr/>
        </p:nvSpPr>
        <p:spPr>
          <a:xfrm>
            <a:off x="10409529" y="3396996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</a:t>
            </a:r>
            <a:endParaRPr/>
          </a:p>
        </p:txBody>
      </p:sp>
      <p:sp>
        <p:nvSpPr>
          <p:cNvPr id="764" name="Google Shape;764;p11"/>
          <p:cNvSpPr/>
          <p:nvPr/>
        </p:nvSpPr>
        <p:spPr>
          <a:xfrm>
            <a:off x="6931151" y="3611880"/>
            <a:ext cx="4361688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1"/>
          <p:cNvSpPr txBox="1"/>
          <p:nvPr/>
        </p:nvSpPr>
        <p:spPr>
          <a:xfrm>
            <a:off x="7022592" y="372160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3</a:t>
            </a:r>
            <a:endParaRPr/>
          </a:p>
        </p:txBody>
      </p:sp>
      <p:sp>
        <p:nvSpPr>
          <p:cNvPr id="766" name="Google Shape;766;p11"/>
          <p:cNvSpPr txBox="1"/>
          <p:nvPr/>
        </p:nvSpPr>
        <p:spPr>
          <a:xfrm>
            <a:off x="7869326" y="372160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3xxxxxxxxxxxx2</a:t>
            </a:r>
            <a:endParaRPr/>
          </a:p>
        </p:txBody>
      </p:sp>
      <p:sp>
        <p:nvSpPr>
          <p:cNvPr id="767" name="Google Shape;767;p11"/>
          <p:cNvSpPr txBox="1"/>
          <p:nvPr/>
        </p:nvSpPr>
        <p:spPr>
          <a:xfrm>
            <a:off x="8716060" y="372160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1-smena</a:t>
            </a:r>
            <a:endParaRPr/>
          </a:p>
        </p:txBody>
      </p:sp>
      <p:sp>
        <p:nvSpPr>
          <p:cNvPr id="768" name="Google Shape;768;p11"/>
          <p:cNvSpPr txBox="1"/>
          <p:nvPr/>
        </p:nvSpPr>
        <p:spPr>
          <a:xfrm>
            <a:off x="9562795" y="3721608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769" name="Google Shape;769;p11"/>
          <p:cNvSpPr/>
          <p:nvPr/>
        </p:nvSpPr>
        <p:spPr>
          <a:xfrm>
            <a:off x="10409529" y="3712464"/>
            <a:ext cx="475488" cy="201168"/>
          </a:xfrm>
          <a:prstGeom prst="roundRect">
            <a:avLst>
              <a:gd fmla="val 50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1"/>
          <p:cNvSpPr txBox="1"/>
          <p:nvPr/>
        </p:nvSpPr>
        <p:spPr>
          <a:xfrm>
            <a:off x="10409529" y="3744468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Yo'q</a:t>
            </a:r>
            <a:endParaRPr/>
          </a:p>
        </p:txBody>
      </p:sp>
      <p:sp>
        <p:nvSpPr>
          <p:cNvPr id="771" name="Google Shape;771;p11"/>
          <p:cNvSpPr/>
          <p:nvPr/>
        </p:nvSpPr>
        <p:spPr>
          <a:xfrm>
            <a:off x="6931151" y="3959352"/>
            <a:ext cx="4361688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1"/>
          <p:cNvSpPr txBox="1"/>
          <p:nvPr/>
        </p:nvSpPr>
        <p:spPr>
          <a:xfrm>
            <a:off x="7022592" y="4069080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4</a:t>
            </a:r>
            <a:endParaRPr/>
          </a:p>
        </p:txBody>
      </p:sp>
      <p:sp>
        <p:nvSpPr>
          <p:cNvPr id="773" name="Google Shape;773;p11"/>
          <p:cNvSpPr txBox="1"/>
          <p:nvPr/>
        </p:nvSpPr>
        <p:spPr>
          <a:xfrm>
            <a:off x="7869326" y="4069080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3xxxxxxxxxxxx3</a:t>
            </a:r>
            <a:endParaRPr/>
          </a:p>
        </p:txBody>
      </p:sp>
      <p:sp>
        <p:nvSpPr>
          <p:cNvPr id="774" name="Google Shape;774;p11"/>
          <p:cNvSpPr txBox="1"/>
          <p:nvPr/>
        </p:nvSpPr>
        <p:spPr>
          <a:xfrm>
            <a:off x="8716060" y="4069080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1-smena</a:t>
            </a:r>
            <a:endParaRPr/>
          </a:p>
        </p:txBody>
      </p:sp>
      <p:sp>
        <p:nvSpPr>
          <p:cNvPr id="775" name="Google Shape;775;p11"/>
          <p:cNvSpPr txBox="1"/>
          <p:nvPr/>
        </p:nvSpPr>
        <p:spPr>
          <a:xfrm>
            <a:off x="9562795" y="4069080"/>
            <a:ext cx="8467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/>
          </a:p>
        </p:txBody>
      </p:sp>
      <p:sp>
        <p:nvSpPr>
          <p:cNvPr id="776" name="Google Shape;776;p11"/>
          <p:cNvSpPr/>
          <p:nvPr/>
        </p:nvSpPr>
        <p:spPr>
          <a:xfrm>
            <a:off x="10409529" y="4059936"/>
            <a:ext cx="475488" cy="201168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1"/>
          <p:cNvSpPr txBox="1"/>
          <p:nvPr/>
        </p:nvSpPr>
        <p:spPr>
          <a:xfrm>
            <a:off x="10409529" y="4091940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</a:t>
            </a:r>
            <a:endParaRPr/>
          </a:p>
        </p:txBody>
      </p:sp>
      <p:sp>
        <p:nvSpPr>
          <p:cNvPr id="778" name="Google Shape;778;p11"/>
          <p:cNvSpPr/>
          <p:nvPr/>
        </p:nvSpPr>
        <p:spPr>
          <a:xfrm>
            <a:off x="6931151" y="4306824"/>
            <a:ext cx="4361688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1"/>
          <p:cNvSpPr/>
          <p:nvPr/>
        </p:nvSpPr>
        <p:spPr>
          <a:xfrm>
            <a:off x="731520" y="4892040"/>
            <a:ext cx="10728655" cy="86868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1"/>
          <p:cNvSpPr/>
          <p:nvPr/>
        </p:nvSpPr>
        <p:spPr>
          <a:xfrm>
            <a:off x="731520" y="4892040"/>
            <a:ext cx="64008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1"/>
          <p:cNvSpPr txBox="1"/>
          <p:nvPr/>
        </p:nvSpPr>
        <p:spPr>
          <a:xfrm>
            <a:off x="1005840" y="50292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DIQQAT</a:t>
            </a:r>
            <a:endParaRPr/>
          </a:p>
        </p:txBody>
      </p:sp>
      <p:sp>
        <p:nvSpPr>
          <p:cNvPr id="782" name="Google Shape;782;p11"/>
          <p:cNvSpPr txBox="1"/>
          <p:nvPr/>
        </p:nvSpPr>
        <p:spPr>
          <a:xfrm>
            <a:off x="1005840" y="5285231"/>
            <a:ext cx="10180015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Yuqoridagi "Keldi" ustuni davomatni ko'rsatadi: Ha — talabgor binoga kirgan. Bu belgini qo'lda o'zgartirmang, u davomat jarayonida avtomatik qo'yiladi.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2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SAHIFASI</a:t>
            </a:r>
            <a:endParaRPr/>
          </a:p>
        </p:txBody>
      </p:sp>
      <p:sp>
        <p:nvSpPr>
          <p:cNvPr id="789" name="Google Shape;789;p12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Qidiruv va filtrlar</a:t>
            </a:r>
            <a:endParaRPr/>
          </a:p>
        </p:txBody>
      </p:sp>
      <p:sp>
        <p:nvSpPr>
          <p:cNvPr id="790" name="Google Shape;790;p12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Filtrlar birgalikda ishlaydi: bir vaqtda viloyat, smena va sanani cheklashingiz mumkin. Har o'zgarishda ro'yxat avtomatik yangilanadi.</a:t>
            </a:r>
            <a:endParaRPr/>
          </a:p>
        </p:txBody>
      </p:sp>
      <p:sp>
        <p:nvSpPr>
          <p:cNvPr id="791" name="Google Shape;791;p12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2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793" name="Google Shape;793;p12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794" name="Google Shape;794;p12"/>
          <p:cNvSpPr txBox="1"/>
          <p:nvPr/>
        </p:nvSpPr>
        <p:spPr>
          <a:xfrm>
            <a:off x="731520" y="178308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Mavjud filtrlar:</a:t>
            </a:r>
            <a:endParaRPr/>
          </a:p>
        </p:txBody>
      </p:sp>
      <p:sp>
        <p:nvSpPr>
          <p:cNvPr id="795" name="Google Shape;795;p12"/>
          <p:cNvSpPr/>
          <p:nvPr/>
        </p:nvSpPr>
        <p:spPr>
          <a:xfrm>
            <a:off x="731520" y="2103120"/>
            <a:ext cx="665683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2"/>
          <p:cNvSpPr txBox="1"/>
          <p:nvPr/>
        </p:nvSpPr>
        <p:spPr>
          <a:xfrm>
            <a:off x="731520" y="2171700"/>
            <a:ext cx="6656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</a:t>
            </a:r>
            <a:endParaRPr/>
          </a:p>
        </p:txBody>
      </p:sp>
      <p:sp>
        <p:nvSpPr>
          <p:cNvPr id="797" name="Google Shape;797;p12"/>
          <p:cNvSpPr/>
          <p:nvPr/>
        </p:nvSpPr>
        <p:spPr>
          <a:xfrm>
            <a:off x="1488643" y="2103120"/>
            <a:ext cx="890625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2"/>
          <p:cNvSpPr txBox="1"/>
          <p:nvPr/>
        </p:nvSpPr>
        <p:spPr>
          <a:xfrm>
            <a:off x="1488643" y="2171700"/>
            <a:ext cx="89062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Viloyat</a:t>
            </a:r>
            <a:endParaRPr/>
          </a:p>
        </p:txBody>
      </p:sp>
      <p:sp>
        <p:nvSpPr>
          <p:cNvPr id="799" name="Google Shape;799;p12"/>
          <p:cNvSpPr/>
          <p:nvPr/>
        </p:nvSpPr>
        <p:spPr>
          <a:xfrm>
            <a:off x="2470708" y="2103120"/>
            <a:ext cx="665683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2"/>
          <p:cNvSpPr txBox="1"/>
          <p:nvPr/>
        </p:nvSpPr>
        <p:spPr>
          <a:xfrm>
            <a:off x="2470708" y="2171700"/>
            <a:ext cx="6656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</a:t>
            </a:r>
            <a:endParaRPr/>
          </a:p>
        </p:txBody>
      </p:sp>
      <p:sp>
        <p:nvSpPr>
          <p:cNvPr id="801" name="Google Shape;801;p12"/>
          <p:cNvSpPr/>
          <p:nvPr/>
        </p:nvSpPr>
        <p:spPr>
          <a:xfrm>
            <a:off x="3227832" y="2103120"/>
            <a:ext cx="740664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2"/>
          <p:cNvSpPr txBox="1"/>
          <p:nvPr/>
        </p:nvSpPr>
        <p:spPr>
          <a:xfrm>
            <a:off x="3227832" y="2171700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Smena</a:t>
            </a:r>
            <a:endParaRPr/>
          </a:p>
        </p:txBody>
      </p:sp>
      <p:sp>
        <p:nvSpPr>
          <p:cNvPr id="803" name="Google Shape;803;p12"/>
          <p:cNvSpPr/>
          <p:nvPr/>
        </p:nvSpPr>
        <p:spPr>
          <a:xfrm>
            <a:off x="4059935" y="2103120"/>
            <a:ext cx="740664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2"/>
          <p:cNvSpPr txBox="1"/>
          <p:nvPr/>
        </p:nvSpPr>
        <p:spPr>
          <a:xfrm>
            <a:off x="4059935" y="2171700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Jinsi</a:t>
            </a:r>
            <a:endParaRPr/>
          </a:p>
        </p:txBody>
      </p:sp>
      <p:sp>
        <p:nvSpPr>
          <p:cNvPr id="805" name="Google Shape;805;p12"/>
          <p:cNvSpPr/>
          <p:nvPr/>
        </p:nvSpPr>
        <p:spPr>
          <a:xfrm>
            <a:off x="4892040" y="2103120"/>
            <a:ext cx="740664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2"/>
          <p:cNvSpPr txBox="1"/>
          <p:nvPr/>
        </p:nvSpPr>
        <p:spPr>
          <a:xfrm>
            <a:off x="4892040" y="2171700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Guruh</a:t>
            </a:r>
            <a:endParaRPr/>
          </a:p>
        </p:txBody>
      </p:sp>
      <p:sp>
        <p:nvSpPr>
          <p:cNvPr id="807" name="Google Shape;807;p12"/>
          <p:cNvSpPr/>
          <p:nvPr/>
        </p:nvSpPr>
        <p:spPr>
          <a:xfrm>
            <a:off x="5724144" y="2103120"/>
            <a:ext cx="1190548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2"/>
          <p:cNvSpPr txBox="1"/>
          <p:nvPr/>
        </p:nvSpPr>
        <p:spPr>
          <a:xfrm>
            <a:off x="5724144" y="2171700"/>
            <a:ext cx="11905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Range guruh</a:t>
            </a:r>
            <a:endParaRPr/>
          </a:p>
        </p:txBody>
      </p:sp>
      <p:sp>
        <p:nvSpPr>
          <p:cNvPr id="809" name="Google Shape;809;p12"/>
          <p:cNvSpPr/>
          <p:nvPr/>
        </p:nvSpPr>
        <p:spPr>
          <a:xfrm>
            <a:off x="7006132" y="2103120"/>
            <a:ext cx="1115568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2"/>
          <p:cNvSpPr txBox="1"/>
          <p:nvPr/>
        </p:nvSpPr>
        <p:spPr>
          <a:xfrm>
            <a:off x="7006132" y="2171700"/>
            <a:ext cx="11155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Sana (dan)</a:t>
            </a:r>
            <a:endParaRPr/>
          </a:p>
        </p:txBody>
      </p:sp>
      <p:sp>
        <p:nvSpPr>
          <p:cNvPr id="811" name="Google Shape;811;p12"/>
          <p:cNvSpPr/>
          <p:nvPr/>
        </p:nvSpPr>
        <p:spPr>
          <a:xfrm>
            <a:off x="8213140" y="2103120"/>
            <a:ext cx="1265529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2"/>
          <p:cNvSpPr txBox="1"/>
          <p:nvPr/>
        </p:nvSpPr>
        <p:spPr>
          <a:xfrm>
            <a:off x="8213140" y="2171700"/>
            <a:ext cx="126552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Sana (gacha)</a:t>
            </a:r>
            <a:endParaRPr/>
          </a:p>
        </p:txBody>
      </p:sp>
      <p:sp>
        <p:nvSpPr>
          <p:cNvPr id="813" name="Google Shape;813;p12"/>
          <p:cNvSpPr/>
          <p:nvPr/>
        </p:nvSpPr>
        <p:spPr>
          <a:xfrm>
            <a:off x="9570110" y="2103120"/>
            <a:ext cx="815644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2"/>
          <p:cNvSpPr txBox="1"/>
          <p:nvPr/>
        </p:nvSpPr>
        <p:spPr>
          <a:xfrm>
            <a:off x="9570110" y="2171700"/>
            <a:ext cx="8156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Kirgan</a:t>
            </a:r>
            <a:endParaRPr/>
          </a:p>
        </p:txBody>
      </p:sp>
      <p:sp>
        <p:nvSpPr>
          <p:cNvPr id="815" name="Google Shape;815;p12"/>
          <p:cNvSpPr/>
          <p:nvPr/>
        </p:nvSpPr>
        <p:spPr>
          <a:xfrm>
            <a:off x="10477195" y="2103120"/>
            <a:ext cx="965606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2"/>
          <p:cNvSpPr txBox="1"/>
          <p:nvPr/>
        </p:nvSpPr>
        <p:spPr>
          <a:xfrm>
            <a:off x="10477195" y="2171700"/>
            <a:ext cx="96560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Cheating</a:t>
            </a:r>
            <a:endParaRPr/>
          </a:p>
        </p:txBody>
      </p:sp>
      <p:sp>
        <p:nvSpPr>
          <p:cNvPr id="817" name="Google Shape;817;p12"/>
          <p:cNvSpPr/>
          <p:nvPr/>
        </p:nvSpPr>
        <p:spPr>
          <a:xfrm>
            <a:off x="731520" y="2505456"/>
            <a:ext cx="1265529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2"/>
          <p:cNvSpPr txBox="1"/>
          <p:nvPr/>
        </p:nvSpPr>
        <p:spPr>
          <a:xfrm>
            <a:off x="731520" y="2574036"/>
            <a:ext cx="126552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Qora ro'yxat</a:t>
            </a:r>
            <a:endParaRPr/>
          </a:p>
        </p:txBody>
      </p:sp>
      <p:sp>
        <p:nvSpPr>
          <p:cNvPr id="819" name="Google Shape;819;p12"/>
          <p:cNvSpPr/>
          <p:nvPr/>
        </p:nvSpPr>
        <p:spPr>
          <a:xfrm>
            <a:off x="2088489" y="2505456"/>
            <a:ext cx="590702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2"/>
          <p:cNvSpPr txBox="1"/>
          <p:nvPr/>
        </p:nvSpPr>
        <p:spPr>
          <a:xfrm>
            <a:off x="2088489" y="2574036"/>
            <a:ext cx="5907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</a:t>
            </a:r>
            <a:endParaRPr/>
          </a:p>
        </p:txBody>
      </p:sp>
      <p:sp>
        <p:nvSpPr>
          <p:cNvPr id="821" name="Google Shape;821;p12"/>
          <p:cNvSpPr/>
          <p:nvPr/>
        </p:nvSpPr>
        <p:spPr>
          <a:xfrm>
            <a:off x="2770632" y="2505456"/>
            <a:ext cx="665683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2"/>
          <p:cNvSpPr txBox="1"/>
          <p:nvPr/>
        </p:nvSpPr>
        <p:spPr>
          <a:xfrm>
            <a:off x="2770632" y="2574036"/>
            <a:ext cx="6656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Rasm</a:t>
            </a:r>
            <a:endParaRPr/>
          </a:p>
        </p:txBody>
      </p:sp>
      <p:sp>
        <p:nvSpPr>
          <p:cNvPr id="823" name="Google Shape;823;p12"/>
          <p:cNvSpPr/>
          <p:nvPr/>
        </p:nvSpPr>
        <p:spPr>
          <a:xfrm>
            <a:off x="3527755" y="2505456"/>
            <a:ext cx="815644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2"/>
          <p:cNvSpPr txBox="1"/>
          <p:nvPr/>
        </p:nvSpPr>
        <p:spPr>
          <a:xfrm>
            <a:off x="3527755" y="2574036"/>
            <a:ext cx="8156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Tayyor</a:t>
            </a:r>
            <a:endParaRPr/>
          </a:p>
        </p:txBody>
      </p:sp>
      <p:sp>
        <p:nvSpPr>
          <p:cNvPr id="825" name="Google Shape;825;p12"/>
          <p:cNvSpPr/>
          <p:nvPr/>
        </p:nvSpPr>
        <p:spPr>
          <a:xfrm>
            <a:off x="4434840" y="2505456"/>
            <a:ext cx="740664" cy="31089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2"/>
          <p:cNvSpPr txBox="1"/>
          <p:nvPr/>
        </p:nvSpPr>
        <p:spPr>
          <a:xfrm>
            <a:off x="4434840" y="2574036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Ariza</a:t>
            </a:r>
            <a:endParaRPr/>
          </a:p>
        </p:txBody>
      </p:sp>
      <p:sp>
        <p:nvSpPr>
          <p:cNvPr id="827" name="Google Shape;827;p12"/>
          <p:cNvSpPr/>
          <p:nvPr/>
        </p:nvSpPr>
        <p:spPr>
          <a:xfrm>
            <a:off x="731520" y="320497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2"/>
          <p:cNvSpPr txBox="1"/>
          <p:nvPr/>
        </p:nvSpPr>
        <p:spPr>
          <a:xfrm>
            <a:off x="1024128" y="3108960"/>
            <a:ext cx="10436047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Qidirish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matnni kiritib Enter bosing yoki "Qidirish" tugmasini bosing.</a:t>
            </a:r>
            <a:endParaRPr/>
          </a:p>
        </p:txBody>
      </p:sp>
      <p:sp>
        <p:nvSpPr>
          <p:cNvPr id="829" name="Google Shape;829;p12"/>
          <p:cNvSpPr/>
          <p:nvPr/>
        </p:nvSpPr>
        <p:spPr>
          <a:xfrm>
            <a:off x="731520" y="3717035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2"/>
          <p:cNvSpPr txBox="1"/>
          <p:nvPr/>
        </p:nvSpPr>
        <p:spPr>
          <a:xfrm>
            <a:off x="1024128" y="3621024"/>
            <a:ext cx="10436047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Tozalash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barcha filtrlarni va qidiruvni bir zumda bekor qiladi.</a:t>
            </a:r>
            <a:endParaRPr/>
          </a:p>
        </p:txBody>
      </p:sp>
      <p:sp>
        <p:nvSpPr>
          <p:cNvPr id="831" name="Google Shape;831;p12"/>
          <p:cNvSpPr/>
          <p:nvPr/>
        </p:nvSpPr>
        <p:spPr>
          <a:xfrm>
            <a:off x="731520" y="422910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2"/>
          <p:cNvSpPr txBox="1"/>
          <p:nvPr/>
        </p:nvSpPr>
        <p:spPr>
          <a:xfrm>
            <a:off x="1024128" y="4133087"/>
            <a:ext cx="10436047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 o'zgarsa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ro'yxat 1-sahifaga qaytadi va yuqorida topilgan yozuvlar soni yangilanadi.</a:t>
            </a:r>
            <a:endParaRPr/>
          </a:p>
        </p:txBody>
      </p:sp>
      <p:sp>
        <p:nvSpPr>
          <p:cNvPr id="833" name="Google Shape;833;p12"/>
          <p:cNvSpPr/>
          <p:nvPr/>
        </p:nvSpPr>
        <p:spPr>
          <a:xfrm>
            <a:off x="731520" y="474116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2"/>
          <p:cNvSpPr txBox="1"/>
          <p:nvPr/>
        </p:nvSpPr>
        <p:spPr>
          <a:xfrm>
            <a:off x="1024128" y="4645151"/>
            <a:ext cx="10436047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Viloyat → Bino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avval viloyatni tanlang, keyin binolar ro'yxati shunga mos qisqaradi.</a:t>
            </a:r>
            <a:endParaRPr/>
          </a:p>
        </p:txBody>
      </p:sp>
      <p:sp>
        <p:nvSpPr>
          <p:cNvPr id="835" name="Google Shape;835;p12"/>
          <p:cNvSpPr/>
          <p:nvPr/>
        </p:nvSpPr>
        <p:spPr>
          <a:xfrm>
            <a:off x="731520" y="521208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2"/>
          <p:cNvSpPr/>
          <p:nvPr/>
        </p:nvSpPr>
        <p:spPr>
          <a:xfrm>
            <a:off x="731520" y="5212080"/>
            <a:ext cx="64008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2"/>
          <p:cNvSpPr txBox="1"/>
          <p:nvPr/>
        </p:nvSpPr>
        <p:spPr>
          <a:xfrm>
            <a:off x="1005840" y="53492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DIQQAT</a:t>
            </a:r>
            <a:endParaRPr/>
          </a:p>
        </p:txBody>
      </p:sp>
      <p:sp>
        <p:nvSpPr>
          <p:cNvPr id="838" name="Google Shape;838;p12"/>
          <p:cNvSpPr txBox="1"/>
          <p:nvPr/>
        </p:nvSpPr>
        <p:spPr>
          <a:xfrm>
            <a:off x="1005840" y="5605272"/>
            <a:ext cx="1018001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Eksport va ommaviy amallar HAR DOIM joriy filtr bo'yicha ishlaydi. Shuning uchun tugmani bosishdan oldin yuqoridagi yozuvlar soniga e'tibor bering.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3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YANGI IMKONIYAT</a:t>
            </a:r>
            <a:endParaRPr/>
          </a:p>
        </p:txBody>
      </p:sp>
      <p:sp>
        <p:nvSpPr>
          <p:cNvPr id="845" name="Google Shape;845;p13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"Range guruh" filtri — guruhlar kesmasi</a:t>
            </a:r>
            <a:endParaRPr/>
          </a:p>
        </p:txBody>
      </p:sp>
      <p:sp>
        <p:nvSpPr>
          <p:cNvPr id="846" name="Google Shape;846;p13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Bitta guruh o'rniga bir nechta guruhni birdaniga ko'rish uchun. Masalan, 1-guruhdan 34-guruhgacha.</a:t>
            </a:r>
            <a:endParaRPr/>
          </a:p>
        </p:txBody>
      </p:sp>
      <p:sp>
        <p:nvSpPr>
          <p:cNvPr id="847" name="Google Shape;847;p13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3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849" name="Google Shape;849;p13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850" name="Google Shape;850;p13"/>
          <p:cNvSpPr/>
          <p:nvPr/>
        </p:nvSpPr>
        <p:spPr>
          <a:xfrm>
            <a:off x="731520" y="1737360"/>
            <a:ext cx="5257800" cy="137160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3"/>
          <p:cNvSpPr txBox="1"/>
          <p:nvPr/>
        </p:nvSpPr>
        <p:spPr>
          <a:xfrm>
            <a:off x="960120" y="1874519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RANGE GURUH</a:t>
            </a:r>
            <a:endParaRPr/>
          </a:p>
        </p:txBody>
      </p:sp>
      <p:sp>
        <p:nvSpPr>
          <p:cNvPr id="852" name="Google Shape;852;p13"/>
          <p:cNvSpPr/>
          <p:nvPr/>
        </p:nvSpPr>
        <p:spPr>
          <a:xfrm>
            <a:off x="960120" y="2176272"/>
            <a:ext cx="1463040" cy="38404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3"/>
          <p:cNvSpPr txBox="1"/>
          <p:nvPr/>
        </p:nvSpPr>
        <p:spPr>
          <a:xfrm>
            <a:off x="960120" y="226771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54" name="Google Shape;854;p13"/>
          <p:cNvSpPr txBox="1"/>
          <p:nvPr/>
        </p:nvSpPr>
        <p:spPr>
          <a:xfrm>
            <a:off x="2514600" y="22494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55" name="Google Shape;855;p13"/>
          <p:cNvSpPr/>
          <p:nvPr/>
        </p:nvSpPr>
        <p:spPr>
          <a:xfrm>
            <a:off x="2880360" y="2176272"/>
            <a:ext cx="1463040" cy="38404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3"/>
          <p:cNvSpPr txBox="1"/>
          <p:nvPr/>
        </p:nvSpPr>
        <p:spPr>
          <a:xfrm>
            <a:off x="2880360" y="226771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</p:txBody>
      </p:sp>
      <p:sp>
        <p:nvSpPr>
          <p:cNvPr id="857" name="Google Shape;857;p13"/>
          <p:cNvSpPr txBox="1"/>
          <p:nvPr/>
        </p:nvSpPr>
        <p:spPr>
          <a:xfrm>
            <a:off x="960120" y="26700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Ikkala chegara ham kiradi: 1, 2, 3 ... 33, 34</a:t>
            </a:r>
            <a:endParaRPr/>
          </a:p>
        </p:txBody>
      </p:sp>
      <p:sp>
        <p:nvSpPr>
          <p:cNvPr id="858" name="Google Shape;858;p13"/>
          <p:cNvSpPr/>
          <p:nvPr/>
        </p:nvSpPr>
        <p:spPr>
          <a:xfrm>
            <a:off x="6492240" y="18516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3"/>
          <p:cNvSpPr txBox="1"/>
          <p:nvPr/>
        </p:nvSpPr>
        <p:spPr>
          <a:xfrm>
            <a:off x="6784848" y="1755648"/>
            <a:ext cx="467258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"dan" va "gacha" —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ikkala chegara ham natijaga KIRADI.</a:t>
            </a:r>
            <a:endParaRPr/>
          </a:p>
        </p:txBody>
      </p:sp>
      <p:sp>
        <p:nvSpPr>
          <p:cNvPr id="860" name="Google Shape;860;p13"/>
          <p:cNvSpPr/>
          <p:nvPr/>
        </p:nvSpPr>
        <p:spPr>
          <a:xfrm>
            <a:off x="6492240" y="240030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3"/>
          <p:cNvSpPr txBox="1"/>
          <p:nvPr/>
        </p:nvSpPr>
        <p:spPr>
          <a:xfrm>
            <a:off x="6784848" y="2304288"/>
            <a:ext cx="467258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Bitta chegara ham mumkin: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faqat "dan"=10 bo'lsa — 10 va undan yuqori barcha guruhlar.</a:t>
            </a:r>
            <a:endParaRPr/>
          </a:p>
        </p:txBody>
      </p:sp>
      <p:sp>
        <p:nvSpPr>
          <p:cNvPr id="862" name="Google Shape;862;p13"/>
          <p:cNvSpPr/>
          <p:nvPr/>
        </p:nvSpPr>
        <p:spPr>
          <a:xfrm>
            <a:off x="6492240" y="294894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3"/>
          <p:cNvSpPr txBox="1"/>
          <p:nvPr/>
        </p:nvSpPr>
        <p:spPr>
          <a:xfrm>
            <a:off x="6784848" y="2852928"/>
            <a:ext cx="467258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"Guruh" bilan birga ishlamaydi: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biri kiritilsa, ikkinchisi avtomatik tozalanadi.</a:t>
            </a:r>
            <a:endParaRPr/>
          </a:p>
        </p:txBody>
      </p:sp>
      <p:sp>
        <p:nvSpPr>
          <p:cNvPr id="864" name="Google Shape;864;p13"/>
          <p:cNvSpPr/>
          <p:nvPr/>
        </p:nvSpPr>
        <p:spPr>
          <a:xfrm>
            <a:off x="6492240" y="349758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3"/>
          <p:cNvSpPr txBox="1"/>
          <p:nvPr/>
        </p:nvSpPr>
        <p:spPr>
          <a:xfrm>
            <a:off x="6784848" y="3401568"/>
            <a:ext cx="467258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Xato kesma: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"dan" &gt; "gacha" bo'lsa qizil ogohlantirish chiqadi va kesma qo'llanmaydi.</a:t>
            </a:r>
            <a:endParaRPr/>
          </a:p>
        </p:txBody>
      </p:sp>
      <p:sp>
        <p:nvSpPr>
          <p:cNvPr id="866" name="Google Shape;866;p13"/>
          <p:cNvSpPr/>
          <p:nvPr/>
        </p:nvSpPr>
        <p:spPr>
          <a:xfrm>
            <a:off x="731520" y="3383280"/>
            <a:ext cx="5257800" cy="960120"/>
          </a:xfrm>
          <a:prstGeom prst="roundRect">
            <a:avLst>
              <a:gd fmla="val 9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3"/>
          <p:cNvSpPr/>
          <p:nvPr/>
        </p:nvSpPr>
        <p:spPr>
          <a:xfrm>
            <a:off x="731520" y="33832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3"/>
          <p:cNvSpPr txBox="1"/>
          <p:nvPr/>
        </p:nvSpPr>
        <p:spPr>
          <a:xfrm>
            <a:off x="1005840" y="35204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QAYERDA ISHLAYDI</a:t>
            </a:r>
            <a:endParaRPr/>
          </a:p>
        </p:txBody>
      </p:sp>
      <p:sp>
        <p:nvSpPr>
          <p:cNvPr id="869" name="Google Shape;869;p13"/>
          <p:cNvSpPr txBox="1"/>
          <p:nvPr/>
        </p:nvSpPr>
        <p:spPr>
          <a:xfrm>
            <a:off x="1005840" y="3776472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Kesma eksport (Excel/PDF), "Rasm tortish" va "Binoni o'zgartirish" amallariga ham to'liq ta'sir qiladi.</a:t>
            </a:r>
            <a:endParaRPr/>
          </a:p>
        </p:txBody>
      </p:sp>
      <p:sp>
        <p:nvSpPr>
          <p:cNvPr id="870" name="Google Shape;870;p13"/>
          <p:cNvSpPr/>
          <p:nvPr/>
        </p:nvSpPr>
        <p:spPr>
          <a:xfrm>
            <a:off x="731520" y="4572000"/>
            <a:ext cx="10728655" cy="1417320"/>
          </a:xfrm>
          <a:prstGeom prst="roundRect">
            <a:avLst>
              <a:gd fmla="val 9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3"/>
          <p:cNvSpPr/>
          <p:nvPr/>
        </p:nvSpPr>
        <p:spPr>
          <a:xfrm>
            <a:off x="731520" y="4572000"/>
            <a:ext cx="64008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3"/>
          <p:cNvSpPr txBox="1"/>
          <p:nvPr/>
        </p:nvSpPr>
        <p:spPr>
          <a:xfrm>
            <a:off x="1005840" y="470916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MISOL</a:t>
            </a:r>
            <a:endParaRPr/>
          </a:p>
        </p:txBody>
      </p:sp>
      <p:sp>
        <p:nvSpPr>
          <p:cNvPr id="873" name="Google Shape;873;p13"/>
          <p:cNvSpPr txBox="1"/>
          <p:nvPr/>
        </p:nvSpPr>
        <p:spPr>
          <a:xfrm>
            <a:off x="1005840" y="4965192"/>
            <a:ext cx="101800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Amaliy misol: bitta binoda 1–34-guruhlar imtihon topshiryapti. "Bino" ni tanlang, "Range guruh" ga 1 va 34 ni kiriting — ro'yxatda faqat shu guruhlar qoladi. Endi "Excel" tugmasi shu kesmani yuklab beradi, "Rasm tortish" esa faqat shu guruhlar rasmini tortadi.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4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SAHIFASI</a:t>
            </a:r>
            <a:endParaRPr/>
          </a:p>
        </p:txBody>
      </p:sp>
      <p:sp>
        <p:nvSpPr>
          <p:cNvPr id="880" name="Google Shape;880;p14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Eksport va ommaviy amallar</a:t>
            </a:r>
            <a:endParaRPr/>
          </a:p>
        </p:txBody>
      </p:sp>
      <p:sp>
        <p:nvSpPr>
          <p:cNvPr id="881" name="Google Shape;881;p14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tugmalar joriy filtrga mos BARCHA talabgorlarga qo'llaniladi — faqat ekrandagi 20 tasiga emas.</a:t>
            </a:r>
            <a:endParaRPr/>
          </a:p>
        </p:txBody>
      </p:sp>
      <p:sp>
        <p:nvSpPr>
          <p:cNvPr id="882" name="Google Shape;882;p14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4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884" name="Google Shape;884;p14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885" name="Google Shape;885;p14"/>
          <p:cNvSpPr/>
          <p:nvPr/>
        </p:nvSpPr>
        <p:spPr>
          <a:xfrm>
            <a:off x="731520" y="1783080"/>
            <a:ext cx="3393338" cy="21031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4"/>
          <p:cNvSpPr/>
          <p:nvPr/>
        </p:nvSpPr>
        <p:spPr>
          <a:xfrm>
            <a:off x="731520" y="1947672"/>
            <a:ext cx="50292" cy="17739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4"/>
          <p:cNvSpPr txBox="1"/>
          <p:nvPr/>
        </p:nvSpPr>
        <p:spPr>
          <a:xfrm>
            <a:off x="987552" y="195681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 / PDF</a:t>
            </a:r>
            <a:endParaRPr/>
          </a:p>
        </p:txBody>
      </p:sp>
      <p:sp>
        <p:nvSpPr>
          <p:cNvPr id="888" name="Google Shape;888;p14"/>
          <p:cNvSpPr txBox="1"/>
          <p:nvPr/>
        </p:nvSpPr>
        <p:spPr>
          <a:xfrm>
            <a:off x="987552" y="2313432"/>
            <a:ext cx="2936138" cy="1444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Filtrlangan ro'yxatni faylga chiqaradi. Excel — 100 000 qatorgacha, PDF — 10 000 qatorgacha. Ko'proq bo'lsa xato chiqadi: filtrni toraytiring (sana, bino, Range guruh).</a:t>
            </a:r>
            <a:endParaRPr/>
          </a:p>
        </p:txBody>
      </p:sp>
      <p:sp>
        <p:nvSpPr>
          <p:cNvPr id="889" name="Google Shape;889;p14"/>
          <p:cNvSpPr/>
          <p:nvPr/>
        </p:nvSpPr>
        <p:spPr>
          <a:xfrm>
            <a:off x="4399178" y="1783080"/>
            <a:ext cx="3393338" cy="21031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4"/>
          <p:cNvSpPr/>
          <p:nvPr/>
        </p:nvSpPr>
        <p:spPr>
          <a:xfrm>
            <a:off x="4399178" y="1947672"/>
            <a:ext cx="50292" cy="17739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4"/>
          <p:cNvSpPr txBox="1"/>
          <p:nvPr/>
        </p:nvSpPr>
        <p:spPr>
          <a:xfrm>
            <a:off x="4655210" y="195681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Rasm tortish (N)</a:t>
            </a:r>
            <a:endParaRPr/>
          </a:p>
        </p:txBody>
      </p:sp>
      <p:sp>
        <p:nvSpPr>
          <p:cNvPr id="892" name="Google Shape;892;p14"/>
          <p:cNvSpPr txBox="1"/>
          <p:nvPr/>
        </p:nvSpPr>
        <p:spPr>
          <a:xfrm>
            <a:off x="4655210" y="2313432"/>
            <a:ext cx="2936138" cy="1444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Filtrlangan talabgorlarning rasmini davlat bazasidan (GTSP) yuklaydi. Avval filtr qo'llash shart. Ko'p talabgorda bir necha daqiqa vaqt oladi — sahifani yopmang.</a:t>
            </a:r>
            <a:endParaRPr/>
          </a:p>
        </p:txBody>
      </p:sp>
      <p:sp>
        <p:nvSpPr>
          <p:cNvPr id="893" name="Google Shape;893;p14"/>
          <p:cNvSpPr/>
          <p:nvPr/>
        </p:nvSpPr>
        <p:spPr>
          <a:xfrm>
            <a:off x="8066836" y="1783080"/>
            <a:ext cx="3393338" cy="21031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4"/>
          <p:cNvSpPr/>
          <p:nvPr/>
        </p:nvSpPr>
        <p:spPr>
          <a:xfrm>
            <a:off x="8066836" y="1947672"/>
            <a:ext cx="50292" cy="17739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4"/>
          <p:cNvSpPr txBox="1"/>
          <p:nvPr/>
        </p:nvSpPr>
        <p:spPr>
          <a:xfrm>
            <a:off x="8322868" y="1956816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Binoni o'zgartirish (N)</a:t>
            </a:r>
            <a:endParaRPr/>
          </a:p>
        </p:txBody>
      </p:sp>
      <p:sp>
        <p:nvSpPr>
          <p:cNvPr id="896" name="Google Shape;896;p14"/>
          <p:cNvSpPr txBox="1"/>
          <p:nvPr/>
        </p:nvSpPr>
        <p:spPr>
          <a:xfrm>
            <a:off x="8322868" y="2313432"/>
            <a:ext cx="2936138" cy="1444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Filtrlangan barcha talabgorni boshqa binoga biriktiradi. Filtrsiz ishlamaydi. Amal qaytarilmaydi — avval N sonini va filtrlarni tekshiring.</a:t>
            </a:r>
            <a:endParaRPr/>
          </a:p>
        </p:txBody>
      </p:sp>
      <p:sp>
        <p:nvSpPr>
          <p:cNvPr id="897" name="Google Shape;897;p14"/>
          <p:cNvSpPr/>
          <p:nvPr/>
        </p:nvSpPr>
        <p:spPr>
          <a:xfrm>
            <a:off x="731520" y="416052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4"/>
          <p:cNvSpPr/>
          <p:nvPr/>
        </p:nvSpPr>
        <p:spPr>
          <a:xfrm>
            <a:off x="731520" y="4160520"/>
            <a:ext cx="6400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4"/>
          <p:cNvSpPr txBox="1"/>
          <p:nvPr/>
        </p:nvSpPr>
        <p:spPr>
          <a:xfrm>
            <a:off x="1005840" y="42976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OLTIN QOIDA</a:t>
            </a:r>
            <a:endParaRPr/>
          </a:p>
        </p:txBody>
      </p:sp>
      <p:sp>
        <p:nvSpPr>
          <p:cNvPr id="900" name="Google Shape;900;p14"/>
          <p:cNvSpPr txBox="1"/>
          <p:nvPr/>
        </p:nvSpPr>
        <p:spPr>
          <a:xfrm>
            <a:off x="1005840" y="4553712"/>
            <a:ext cx="1018001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Tugmadagi qavs ichidagi raqam (N) — nechta talabgorga ta'sir qilishini ko'rsatadi. Agar u kutganingizdan katta bo'lsa, demak filtr noto'g'ri: to'xtang va filtrni qayta tekshiring.</a:t>
            </a:r>
            <a:endParaRPr/>
          </a:p>
        </p:txBody>
      </p:sp>
      <p:sp>
        <p:nvSpPr>
          <p:cNvPr id="901" name="Google Shape;901;p14"/>
          <p:cNvSpPr/>
          <p:nvPr/>
        </p:nvSpPr>
        <p:spPr>
          <a:xfrm>
            <a:off x="731520" y="516636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4"/>
          <p:cNvSpPr/>
          <p:nvPr/>
        </p:nvSpPr>
        <p:spPr>
          <a:xfrm>
            <a:off x="731520" y="5166360"/>
            <a:ext cx="64008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4"/>
          <p:cNvSpPr txBox="1"/>
          <p:nvPr/>
        </p:nvSpPr>
        <p:spPr>
          <a:xfrm>
            <a:off x="1005840" y="530352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MAXFIYLIK</a:t>
            </a:r>
            <a:endParaRPr/>
          </a:p>
        </p:txBody>
      </p:sp>
      <p:sp>
        <p:nvSpPr>
          <p:cNvPr id="904" name="Google Shape;904;p14"/>
          <p:cNvSpPr txBox="1"/>
          <p:nvPr/>
        </p:nvSpPr>
        <p:spPr>
          <a:xfrm>
            <a:off x="1005840" y="5559552"/>
            <a:ext cx="1018001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Yuklab olingan fayllarda shaxsiy ma'lumot bor. Ularni shaxsiy telefon yoki messenjer orqali tarqatmang, ish tugagach o'chirib tashlang.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5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TALABGORLAR SAHIFASI</a:t>
            </a:r>
            <a:endParaRPr/>
          </a:p>
        </p:txBody>
      </p:sp>
      <p:sp>
        <p:nvSpPr>
          <p:cNvPr id="911" name="Google Shape;911;p15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kartasi</a:t>
            </a:r>
            <a:endParaRPr/>
          </a:p>
        </p:txBody>
      </p:sp>
      <p:sp>
        <p:nvSpPr>
          <p:cNvPr id="912" name="Google Shape;912;p15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Jadvaldagi qatorga bosilganda o'ng tomonda talabgorning to'liq ma'lumoti ochiladi.</a:t>
            </a:r>
            <a:endParaRPr/>
          </a:p>
        </p:txBody>
      </p:sp>
      <p:sp>
        <p:nvSpPr>
          <p:cNvPr id="913" name="Google Shape;913;p15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5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915" name="Google Shape;915;p15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916" name="Google Shape;916;p15"/>
          <p:cNvSpPr/>
          <p:nvPr/>
        </p:nvSpPr>
        <p:spPr>
          <a:xfrm>
            <a:off x="731520" y="1783080"/>
            <a:ext cx="2476423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5"/>
          <p:cNvSpPr/>
          <p:nvPr/>
        </p:nvSpPr>
        <p:spPr>
          <a:xfrm>
            <a:off x="731520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5"/>
          <p:cNvSpPr txBox="1"/>
          <p:nvPr/>
        </p:nvSpPr>
        <p:spPr>
          <a:xfrm>
            <a:off x="987552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Shaxsiy ma'lumotlar</a:t>
            </a:r>
            <a:endParaRPr/>
          </a:p>
        </p:txBody>
      </p:sp>
      <p:sp>
        <p:nvSpPr>
          <p:cNvPr id="919" name="Google Shape;919;p15"/>
          <p:cNvSpPr txBox="1"/>
          <p:nvPr/>
        </p:nvSpPr>
        <p:spPr>
          <a:xfrm>
            <a:off x="987552" y="2313432"/>
            <a:ext cx="2019223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F.I.Sh, JShShIR, jinsi, tug'ilgan sana va rasm.</a:t>
            </a:r>
            <a:endParaRPr/>
          </a:p>
        </p:txBody>
      </p:sp>
      <p:sp>
        <p:nvSpPr>
          <p:cNvPr id="920" name="Google Shape;920;p15"/>
          <p:cNvSpPr/>
          <p:nvPr/>
        </p:nvSpPr>
        <p:spPr>
          <a:xfrm>
            <a:off x="3482263" y="1783080"/>
            <a:ext cx="2476423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5"/>
          <p:cNvSpPr/>
          <p:nvPr/>
        </p:nvSpPr>
        <p:spPr>
          <a:xfrm>
            <a:off x="3482263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5"/>
          <p:cNvSpPr txBox="1"/>
          <p:nvPr/>
        </p:nvSpPr>
        <p:spPr>
          <a:xfrm>
            <a:off x="3738295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ma'lumotlari</a:t>
            </a:r>
            <a:endParaRPr/>
          </a:p>
        </p:txBody>
      </p:sp>
      <p:sp>
        <p:nvSpPr>
          <p:cNvPr id="923" name="Google Shape;923;p15"/>
          <p:cNvSpPr txBox="1"/>
          <p:nvPr/>
        </p:nvSpPr>
        <p:spPr>
          <a:xfrm>
            <a:off x="3738295" y="2313432"/>
            <a:ext cx="2019223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Test, sessiya, sana, smena, bino, guruh va o'tirish joyi.</a:t>
            </a:r>
            <a:endParaRPr/>
          </a:p>
        </p:txBody>
      </p:sp>
      <p:sp>
        <p:nvSpPr>
          <p:cNvPr id="924" name="Google Shape;924;p15"/>
          <p:cNvSpPr/>
          <p:nvPr/>
        </p:nvSpPr>
        <p:spPr>
          <a:xfrm>
            <a:off x="6233007" y="1783080"/>
            <a:ext cx="2476423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5"/>
          <p:cNvSpPr/>
          <p:nvPr/>
        </p:nvSpPr>
        <p:spPr>
          <a:xfrm>
            <a:off x="6233007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5"/>
          <p:cNvSpPr txBox="1"/>
          <p:nvPr/>
        </p:nvSpPr>
        <p:spPr>
          <a:xfrm>
            <a:off x="6489039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Pasport ma'lumotlari</a:t>
            </a:r>
            <a:endParaRPr/>
          </a:p>
        </p:txBody>
      </p:sp>
      <p:sp>
        <p:nvSpPr>
          <p:cNvPr id="927" name="Google Shape;927;p15"/>
          <p:cNvSpPr txBox="1"/>
          <p:nvPr/>
        </p:nvSpPr>
        <p:spPr>
          <a:xfrm>
            <a:off x="6489039" y="2313432"/>
            <a:ext cx="2019223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Seriya va raqam, telefon; rasm GTSP dan olingan bo'ladi.</a:t>
            </a:r>
            <a:endParaRPr/>
          </a:p>
        </p:txBody>
      </p:sp>
      <p:sp>
        <p:nvSpPr>
          <p:cNvPr id="928" name="Google Shape;928;p15"/>
          <p:cNvSpPr/>
          <p:nvPr/>
        </p:nvSpPr>
        <p:spPr>
          <a:xfrm>
            <a:off x="8983751" y="1783080"/>
            <a:ext cx="2476423" cy="14630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5"/>
          <p:cNvSpPr/>
          <p:nvPr/>
        </p:nvSpPr>
        <p:spPr>
          <a:xfrm>
            <a:off x="8983751" y="1947672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5"/>
          <p:cNvSpPr txBox="1"/>
          <p:nvPr/>
        </p:nvSpPr>
        <p:spPr>
          <a:xfrm>
            <a:off x="9239783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Holat bayroqlari</a:t>
            </a:r>
            <a:endParaRPr/>
          </a:p>
        </p:txBody>
      </p:sp>
      <p:sp>
        <p:nvSpPr>
          <p:cNvPr id="931" name="Google Shape;931;p15"/>
          <p:cNvSpPr txBox="1"/>
          <p:nvPr/>
        </p:nvSpPr>
        <p:spPr>
          <a:xfrm>
            <a:off x="9239783" y="2313432"/>
            <a:ext cx="2019223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Keldi, Tayyor, Rasm bor, Yuz bor, Chetlatilgan, Qora ro'yxat.</a:t>
            </a:r>
            <a:endParaRPr/>
          </a:p>
        </p:txBody>
      </p:sp>
      <p:sp>
        <p:nvSpPr>
          <p:cNvPr id="932" name="Google Shape;932;p15"/>
          <p:cNvSpPr/>
          <p:nvPr/>
        </p:nvSpPr>
        <p:spPr>
          <a:xfrm>
            <a:off x="731520" y="358902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5"/>
          <p:cNvSpPr txBox="1"/>
          <p:nvPr/>
        </p:nvSpPr>
        <p:spPr>
          <a:xfrm>
            <a:off x="1024128" y="3493008"/>
            <a:ext cx="1043604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Tahrirlash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faqat tegishli ruxsat bo'lsa. Ism-familiyani o'zboshimchalik bilan o'zgartirmang, manba tizimdan keladi.</a:t>
            </a:r>
            <a:endParaRPr/>
          </a:p>
        </p:txBody>
      </p:sp>
      <p:sp>
        <p:nvSpPr>
          <p:cNvPr id="934" name="Google Shape;934;p15"/>
          <p:cNvSpPr/>
          <p:nvPr/>
        </p:nvSpPr>
        <p:spPr>
          <a:xfrm>
            <a:off x="731520" y="4155948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5"/>
          <p:cNvSpPr txBox="1"/>
          <p:nvPr/>
        </p:nvSpPr>
        <p:spPr>
          <a:xfrm>
            <a:off x="1024128" y="4059935"/>
            <a:ext cx="1043604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Rasm yo'q bo'lsa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kartadagi GTSP tugmasi orqali bitta talabgor rasmini alohida yuklash mumkin.</a:t>
            </a:r>
            <a:endParaRPr/>
          </a:p>
        </p:txBody>
      </p:sp>
      <p:sp>
        <p:nvSpPr>
          <p:cNvPr id="936" name="Google Shape;936;p15"/>
          <p:cNvSpPr/>
          <p:nvPr/>
        </p:nvSpPr>
        <p:spPr>
          <a:xfrm>
            <a:off x="731520" y="472287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5"/>
          <p:cNvSpPr txBox="1"/>
          <p:nvPr/>
        </p:nvSpPr>
        <p:spPr>
          <a:xfrm>
            <a:off x="1024128" y="4626864"/>
            <a:ext cx="1043604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 bo'lmasa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talabgor "tayyor" hisoblanmaydi va yuz tekshiruvidan o'tmaydi.</a:t>
            </a:r>
            <a:endParaRPr/>
          </a:p>
        </p:txBody>
      </p:sp>
      <p:sp>
        <p:nvSpPr>
          <p:cNvPr id="938" name="Google Shape;938;p15"/>
          <p:cNvSpPr/>
          <p:nvPr/>
        </p:nvSpPr>
        <p:spPr>
          <a:xfrm>
            <a:off x="731520" y="5303520"/>
            <a:ext cx="10728655" cy="77724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5"/>
          <p:cNvSpPr/>
          <p:nvPr/>
        </p:nvSpPr>
        <p:spPr>
          <a:xfrm>
            <a:off x="731520" y="530352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5"/>
          <p:cNvSpPr txBox="1"/>
          <p:nvPr/>
        </p:nvSpPr>
        <p:spPr>
          <a:xfrm>
            <a:off x="1005840" y="54406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DIQQAT</a:t>
            </a:r>
            <a:endParaRPr/>
          </a:p>
        </p:txBody>
      </p:sp>
      <p:sp>
        <p:nvSpPr>
          <p:cNvPr id="941" name="Google Shape;941;p15"/>
          <p:cNvSpPr txBox="1"/>
          <p:nvPr/>
        </p:nvSpPr>
        <p:spPr>
          <a:xfrm>
            <a:off x="1005840" y="5696712"/>
            <a:ext cx="10180015" cy="27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O'chirish amalini faqat administrator bajaradi va u qaytarilmaydi. Shubha bo'lsa — o'chirmang, mas'ul xodimga murojaat qiling.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6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· TEST MARKAZI</a:t>
            </a:r>
            <a:endParaRPr/>
          </a:p>
        </p:txBody>
      </p:sp>
      <p:sp>
        <p:nvSpPr>
          <p:cNvPr id="948" name="Google Shape;948;p16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sahifasi</a:t>
            </a:r>
            <a:endParaRPr/>
          </a:p>
        </p:txBody>
      </p:sp>
      <p:sp>
        <p:nvSpPr>
          <p:cNvPr id="949" name="Google Shape;949;p16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Menyu: Test markazi → Davomat. Sessiya, kun va smena kesimida kim kelgan-kelmagani real vaqtda ko'rinadi.</a:t>
            </a:r>
            <a:endParaRPr/>
          </a:p>
        </p:txBody>
      </p:sp>
      <p:sp>
        <p:nvSpPr>
          <p:cNvPr id="950" name="Google Shape;950;p1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952" name="Google Shape;952;p16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953" name="Google Shape;953;p16"/>
          <p:cNvSpPr/>
          <p:nvPr/>
        </p:nvSpPr>
        <p:spPr>
          <a:xfrm>
            <a:off x="731520" y="1783080"/>
            <a:ext cx="1940905" cy="1051560"/>
          </a:xfrm>
          <a:prstGeom prst="roundRect">
            <a:avLst>
              <a:gd fmla="val 1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6"/>
          <p:cNvSpPr txBox="1"/>
          <p:nvPr/>
        </p:nvSpPr>
        <p:spPr>
          <a:xfrm>
            <a:off x="932688" y="1892807"/>
            <a:ext cx="153856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Jami</a:t>
            </a:r>
            <a:endParaRPr/>
          </a:p>
        </p:txBody>
      </p:sp>
      <p:sp>
        <p:nvSpPr>
          <p:cNvPr id="955" name="Google Shape;955;p16"/>
          <p:cNvSpPr txBox="1"/>
          <p:nvPr/>
        </p:nvSpPr>
        <p:spPr>
          <a:xfrm>
            <a:off x="932688" y="2295144"/>
            <a:ext cx="153856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Sessiyaga biriktirilgan talabgorlar soni</a:t>
            </a:r>
            <a:endParaRPr/>
          </a:p>
        </p:txBody>
      </p:sp>
      <p:sp>
        <p:nvSpPr>
          <p:cNvPr id="956" name="Google Shape;956;p16"/>
          <p:cNvSpPr/>
          <p:nvPr/>
        </p:nvSpPr>
        <p:spPr>
          <a:xfrm>
            <a:off x="2928457" y="1783080"/>
            <a:ext cx="1940905" cy="1051560"/>
          </a:xfrm>
          <a:prstGeom prst="roundRect">
            <a:avLst>
              <a:gd fmla="val 1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6"/>
          <p:cNvSpPr txBox="1"/>
          <p:nvPr/>
        </p:nvSpPr>
        <p:spPr>
          <a:xfrm>
            <a:off x="3129625" y="1892807"/>
            <a:ext cx="153856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Keldi</a:t>
            </a:r>
            <a:endParaRPr/>
          </a:p>
        </p:txBody>
      </p:sp>
      <p:sp>
        <p:nvSpPr>
          <p:cNvPr id="958" name="Google Shape;958;p16"/>
          <p:cNvSpPr txBox="1"/>
          <p:nvPr/>
        </p:nvSpPr>
        <p:spPr>
          <a:xfrm>
            <a:off x="3129625" y="2295144"/>
            <a:ext cx="153856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Binoga kirgani tasdiqlangan talabgorlar</a:t>
            </a:r>
            <a:endParaRPr/>
          </a:p>
        </p:txBody>
      </p:sp>
      <p:sp>
        <p:nvSpPr>
          <p:cNvPr id="959" name="Google Shape;959;p16"/>
          <p:cNvSpPr/>
          <p:nvPr/>
        </p:nvSpPr>
        <p:spPr>
          <a:xfrm>
            <a:off x="5125394" y="1783080"/>
            <a:ext cx="1940905" cy="1051560"/>
          </a:xfrm>
          <a:prstGeom prst="roundRect">
            <a:avLst>
              <a:gd fmla="val 1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6"/>
          <p:cNvSpPr txBox="1"/>
          <p:nvPr/>
        </p:nvSpPr>
        <p:spPr>
          <a:xfrm>
            <a:off x="5326562" y="1892807"/>
            <a:ext cx="153856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Kelmadi</a:t>
            </a:r>
            <a:endParaRPr/>
          </a:p>
        </p:txBody>
      </p:sp>
      <p:sp>
        <p:nvSpPr>
          <p:cNvPr id="961" name="Google Shape;961;p16"/>
          <p:cNvSpPr txBox="1"/>
          <p:nvPr/>
        </p:nvSpPr>
        <p:spPr>
          <a:xfrm>
            <a:off x="5326562" y="2295144"/>
            <a:ext cx="153856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Hali kirmagan talabgorlar</a:t>
            </a:r>
            <a:endParaRPr/>
          </a:p>
        </p:txBody>
      </p:sp>
      <p:sp>
        <p:nvSpPr>
          <p:cNvPr id="962" name="Google Shape;962;p16"/>
          <p:cNvSpPr/>
          <p:nvPr/>
        </p:nvSpPr>
        <p:spPr>
          <a:xfrm>
            <a:off x="7322332" y="1783080"/>
            <a:ext cx="1940905" cy="1051560"/>
          </a:xfrm>
          <a:prstGeom prst="roundRect">
            <a:avLst>
              <a:gd fmla="val 1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6"/>
          <p:cNvSpPr txBox="1"/>
          <p:nvPr/>
        </p:nvSpPr>
        <p:spPr>
          <a:xfrm>
            <a:off x="7523500" y="1892807"/>
            <a:ext cx="153856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Chetlatilgan</a:t>
            </a:r>
            <a:endParaRPr/>
          </a:p>
        </p:txBody>
      </p:sp>
      <p:sp>
        <p:nvSpPr>
          <p:cNvPr id="964" name="Google Shape;964;p16"/>
          <p:cNvSpPr txBox="1"/>
          <p:nvPr/>
        </p:nvSpPr>
        <p:spPr>
          <a:xfrm>
            <a:off x="7523500" y="2295144"/>
            <a:ext cx="153856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Qoida buzilishi bo'yicha chetlatilganlar</a:t>
            </a:r>
            <a:endParaRPr/>
          </a:p>
        </p:txBody>
      </p:sp>
      <p:sp>
        <p:nvSpPr>
          <p:cNvPr id="965" name="Google Shape;965;p16"/>
          <p:cNvSpPr/>
          <p:nvPr/>
        </p:nvSpPr>
        <p:spPr>
          <a:xfrm>
            <a:off x="9519269" y="1783080"/>
            <a:ext cx="1940905" cy="1051560"/>
          </a:xfrm>
          <a:prstGeom prst="roundRect">
            <a:avLst>
              <a:gd fmla="val 1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6"/>
          <p:cNvSpPr txBox="1"/>
          <p:nvPr/>
        </p:nvSpPr>
        <p:spPr>
          <a:xfrm>
            <a:off x="9720437" y="1892807"/>
            <a:ext cx="153856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Foiz</a:t>
            </a:r>
            <a:endParaRPr/>
          </a:p>
        </p:txBody>
      </p:sp>
      <p:sp>
        <p:nvSpPr>
          <p:cNvPr id="967" name="Google Shape;967;p16"/>
          <p:cNvSpPr txBox="1"/>
          <p:nvPr/>
        </p:nvSpPr>
        <p:spPr>
          <a:xfrm>
            <a:off x="9720437" y="2295144"/>
            <a:ext cx="153856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Davomat foizi — viloyat va bino kesimida</a:t>
            </a:r>
            <a:endParaRPr/>
          </a:p>
        </p:txBody>
      </p:sp>
      <p:sp>
        <p:nvSpPr>
          <p:cNvPr id="968" name="Google Shape;968;p16"/>
          <p:cNvSpPr/>
          <p:nvPr/>
        </p:nvSpPr>
        <p:spPr>
          <a:xfrm>
            <a:off x="731520" y="317754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6"/>
          <p:cNvSpPr txBox="1"/>
          <p:nvPr/>
        </p:nvSpPr>
        <p:spPr>
          <a:xfrm>
            <a:off x="1024128" y="3081528"/>
            <a:ext cx="104360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Kesim tanlash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yuqoridan test sessiyasi, kun va smenani tanlaysiz.</a:t>
            </a:r>
            <a:endParaRPr/>
          </a:p>
        </p:txBody>
      </p:sp>
      <p:sp>
        <p:nvSpPr>
          <p:cNvPr id="970" name="Google Shape;970;p16"/>
          <p:cNvSpPr/>
          <p:nvPr/>
        </p:nvSpPr>
        <p:spPr>
          <a:xfrm>
            <a:off x="731520" y="372618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6"/>
          <p:cNvSpPr txBox="1"/>
          <p:nvPr/>
        </p:nvSpPr>
        <p:spPr>
          <a:xfrm>
            <a:off x="1024128" y="3630168"/>
            <a:ext cx="104360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Viloyat va bino kesimi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bino bo'yicha kelgan/kelmaganlar alohida ko'rinadi.</a:t>
            </a:r>
            <a:endParaRPr/>
          </a:p>
        </p:txBody>
      </p:sp>
      <p:sp>
        <p:nvSpPr>
          <p:cNvPr id="972" name="Google Shape;972;p16"/>
          <p:cNvSpPr/>
          <p:nvPr/>
        </p:nvSpPr>
        <p:spPr>
          <a:xfrm>
            <a:off x="731520" y="427482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6"/>
          <p:cNvSpPr txBox="1"/>
          <p:nvPr/>
        </p:nvSpPr>
        <p:spPr>
          <a:xfrm>
            <a:off x="1024128" y="4178807"/>
            <a:ext cx="104360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Yangilanish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sync qilgani yoki botda davomat belgilangani zahoti raqamlar o'zgaradi.</a:t>
            </a:r>
            <a:endParaRPr/>
          </a:p>
        </p:txBody>
      </p:sp>
      <p:sp>
        <p:nvSpPr>
          <p:cNvPr id="974" name="Google Shape;974;p16"/>
          <p:cNvSpPr/>
          <p:nvPr/>
        </p:nvSpPr>
        <p:spPr>
          <a:xfrm>
            <a:off x="731520" y="4823459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6"/>
          <p:cNvSpPr txBox="1"/>
          <p:nvPr/>
        </p:nvSpPr>
        <p:spPr>
          <a:xfrm>
            <a:off x="1024128" y="4727447"/>
            <a:ext cx="104360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Eksport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ruxsat bo'lsa, kesim bo'yicha hisobotni faylga chiqarish mumkin.</a:t>
            </a:r>
            <a:endParaRPr/>
          </a:p>
        </p:txBody>
      </p:sp>
      <p:sp>
        <p:nvSpPr>
          <p:cNvPr id="976" name="Google Shape;976;p16"/>
          <p:cNvSpPr/>
          <p:nvPr/>
        </p:nvSpPr>
        <p:spPr>
          <a:xfrm>
            <a:off x="731520" y="5394960"/>
            <a:ext cx="10728655" cy="73152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6"/>
          <p:cNvSpPr/>
          <p:nvPr/>
        </p:nvSpPr>
        <p:spPr>
          <a:xfrm>
            <a:off x="731520" y="5394960"/>
            <a:ext cx="64008" cy="731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6"/>
          <p:cNvSpPr txBox="1"/>
          <p:nvPr/>
        </p:nvSpPr>
        <p:spPr>
          <a:xfrm>
            <a:off x="1005840" y="553212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TEKSHIRING</a:t>
            </a:r>
            <a:endParaRPr/>
          </a:p>
        </p:txBody>
      </p:sp>
      <p:sp>
        <p:nvSpPr>
          <p:cNvPr id="979" name="Google Shape;979;p16"/>
          <p:cNvSpPr txBox="1"/>
          <p:nvPr/>
        </p:nvSpPr>
        <p:spPr>
          <a:xfrm>
            <a:off x="1005840" y="5788152"/>
            <a:ext cx="101800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Raqam kutilganidan kam bo'lsa — avval desktop clientda sync qilinganini tekshiring: sync qilinmagan davomat bu yerda ko'rinmaydi.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7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· TEST MARKAZI</a:t>
            </a:r>
            <a:endParaRPr/>
          </a:p>
        </p:txBody>
      </p:sp>
      <p:sp>
        <p:nvSpPr>
          <p:cNvPr id="986" name="Google Shape;986;p17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Dashboard va Test sessiyalar</a:t>
            </a:r>
            <a:endParaRPr/>
          </a:p>
        </p:txBody>
      </p:sp>
      <p:sp>
        <p:nvSpPr>
          <p:cNvPr id="987" name="Google Shape;987;p17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ikki sahifa imtihon tadbirlarining umumiy manzarasini beradi.</a:t>
            </a:r>
            <a:endParaRPr/>
          </a:p>
        </p:txBody>
      </p:sp>
      <p:sp>
        <p:nvSpPr>
          <p:cNvPr id="988" name="Google Shape;988;p17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990" name="Google Shape;990;p17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991" name="Google Shape;991;p17"/>
          <p:cNvSpPr/>
          <p:nvPr/>
        </p:nvSpPr>
        <p:spPr>
          <a:xfrm>
            <a:off x="731520" y="1783080"/>
            <a:ext cx="5227167" cy="16459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731520" y="1947672"/>
            <a:ext cx="50292" cy="13167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 txBox="1"/>
          <p:nvPr/>
        </p:nvSpPr>
        <p:spPr>
          <a:xfrm>
            <a:off x="987552" y="1956816"/>
            <a:ext cx="47699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Dashboard</a:t>
            </a:r>
            <a:endParaRPr/>
          </a:p>
        </p:txBody>
      </p:sp>
      <p:sp>
        <p:nvSpPr>
          <p:cNvPr id="994" name="Google Shape;994;p17"/>
          <p:cNvSpPr txBox="1"/>
          <p:nvPr/>
        </p:nvSpPr>
        <p:spPr>
          <a:xfrm>
            <a:off x="987552" y="2313432"/>
            <a:ext cx="4769967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Umumiy ko'rsatkichlar: nechta sessiya bor, qaysi holatda, jami talabgorlar soni, taqsimot grafiklari. Kunlik nazorat uchun qulay boshlang'ich ekran.</a:t>
            </a:r>
            <a:endParaRPr/>
          </a:p>
        </p:txBody>
      </p:sp>
      <p:sp>
        <p:nvSpPr>
          <p:cNvPr id="995" name="Google Shape;995;p17"/>
          <p:cNvSpPr/>
          <p:nvPr/>
        </p:nvSpPr>
        <p:spPr>
          <a:xfrm>
            <a:off x="6233007" y="1783080"/>
            <a:ext cx="5227167" cy="164592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6233007" y="1947672"/>
            <a:ext cx="50292" cy="13167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6489039" y="1956816"/>
            <a:ext cx="47699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sessiyalar</a:t>
            </a:r>
            <a:endParaRPr/>
          </a:p>
        </p:txBody>
      </p:sp>
      <p:sp>
        <p:nvSpPr>
          <p:cNvPr id="998" name="Google Shape;998;p17"/>
          <p:cNvSpPr txBox="1"/>
          <p:nvPr/>
        </p:nvSpPr>
        <p:spPr>
          <a:xfrm>
            <a:off x="6489039" y="2313432"/>
            <a:ext cx="4769967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tadbir alohida karta. Ichiga kirsangiz: kun va smenalar, binolar, talabgorlar soni, yuklash va embedding jarayonining foizi ko'rinadi.</a:t>
            </a:r>
            <a:endParaRPr/>
          </a:p>
        </p:txBody>
      </p:sp>
      <p:sp>
        <p:nvSpPr>
          <p:cNvPr id="999" name="Google Shape;999;p17"/>
          <p:cNvSpPr/>
          <p:nvPr/>
        </p:nvSpPr>
        <p:spPr>
          <a:xfrm>
            <a:off x="731520" y="372618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7"/>
          <p:cNvSpPr txBox="1"/>
          <p:nvPr/>
        </p:nvSpPr>
        <p:spPr>
          <a:xfrm>
            <a:off x="1024128" y="3630168"/>
            <a:ext cx="1043604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Oddiy xodim uchun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sahifalar asosan KO'RISH uchun.</a:t>
            </a:r>
            <a:endParaRPr/>
          </a:p>
        </p:txBody>
      </p:sp>
      <p:sp>
        <p:nvSpPr>
          <p:cNvPr id="1001" name="Google Shape;1001;p17"/>
          <p:cNvSpPr/>
          <p:nvPr/>
        </p:nvSpPr>
        <p:spPr>
          <a:xfrm>
            <a:off x="731520" y="434797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7"/>
          <p:cNvSpPr txBox="1"/>
          <p:nvPr/>
        </p:nvSpPr>
        <p:spPr>
          <a:xfrm>
            <a:off x="1024128" y="4251959"/>
            <a:ext cx="1043604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Holatni o'zgartirish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alohida ruxsat talab qiladi; imtihon oldidan mas'ul xodim bajaradi.</a:t>
            </a:r>
            <a:endParaRPr/>
          </a:p>
        </p:txBody>
      </p:sp>
      <p:sp>
        <p:nvSpPr>
          <p:cNvPr id="1003" name="Google Shape;1003;p17"/>
          <p:cNvSpPr/>
          <p:nvPr/>
        </p:nvSpPr>
        <p:spPr>
          <a:xfrm>
            <a:off x="731520" y="496976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17"/>
          <p:cNvSpPr txBox="1"/>
          <p:nvPr/>
        </p:nvSpPr>
        <p:spPr>
          <a:xfrm>
            <a:off x="1024128" y="4873751"/>
            <a:ext cx="1043604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Jarayon foizi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yuklash/embedding ketayotganda foiz o'zgaradi; sahifani yopsangiz ham jarayon davom etadi.</a:t>
            </a:r>
            <a:endParaRPr/>
          </a:p>
        </p:txBody>
      </p:sp>
      <p:sp>
        <p:nvSpPr>
          <p:cNvPr id="1005" name="Google Shape;1005;p17"/>
          <p:cNvSpPr/>
          <p:nvPr/>
        </p:nvSpPr>
        <p:spPr>
          <a:xfrm>
            <a:off x="731520" y="5591555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17"/>
          <p:cNvSpPr txBox="1"/>
          <p:nvPr/>
        </p:nvSpPr>
        <p:spPr>
          <a:xfrm>
            <a:off x="1024128" y="5495543"/>
            <a:ext cx="1043604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Faollashtirish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faqat barcha talabgor tayyor bo'lgandagina mumkin.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8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 · TEST MARKAZI</a:t>
            </a:r>
            <a:endParaRPr/>
          </a:p>
        </p:txBody>
      </p:sp>
      <p:sp>
        <p:nvSpPr>
          <p:cNvPr id="1013" name="Google Shape;1013;p18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Binoga kirish loglari va Chetlatilganlar</a:t>
            </a:r>
            <a:endParaRPr/>
          </a:p>
        </p:txBody>
      </p:sp>
      <p:sp>
        <p:nvSpPr>
          <p:cNvPr id="1014" name="Google Shape;1014;p18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Ikkala sahifa ham TARIX: ular o'chirilmaydi, faqat ko'rish, filtrlash va hisobot uchun ishlatiladi.</a:t>
            </a:r>
            <a:endParaRPr/>
          </a:p>
        </p:txBody>
      </p:sp>
      <p:sp>
        <p:nvSpPr>
          <p:cNvPr id="1015" name="Google Shape;1015;p18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18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017" name="Google Shape;1017;p18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1018" name="Google Shape;1018;p18"/>
          <p:cNvSpPr/>
          <p:nvPr/>
        </p:nvSpPr>
        <p:spPr>
          <a:xfrm>
            <a:off x="731520" y="1783080"/>
            <a:ext cx="5227167" cy="16002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18"/>
          <p:cNvSpPr/>
          <p:nvPr/>
        </p:nvSpPr>
        <p:spPr>
          <a:xfrm>
            <a:off x="731520" y="1947672"/>
            <a:ext cx="50292" cy="1271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8"/>
          <p:cNvSpPr txBox="1"/>
          <p:nvPr/>
        </p:nvSpPr>
        <p:spPr>
          <a:xfrm>
            <a:off x="987552" y="1956816"/>
            <a:ext cx="47699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Binoga kirish loglari</a:t>
            </a:r>
            <a:endParaRPr/>
          </a:p>
        </p:txBody>
      </p:sp>
      <p:sp>
        <p:nvSpPr>
          <p:cNvPr id="1021" name="Google Shape;1021;p18"/>
          <p:cNvSpPr txBox="1"/>
          <p:nvPr/>
        </p:nvSpPr>
        <p:spPr>
          <a:xfrm>
            <a:off x="987552" y="2313432"/>
            <a:ext cx="4769967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Kim, qachon, qaysi binoga kirgani. Birinchi va oxirgi kirish vaqti hamda kirish paytida olingan surat saqlanadi. Nizoli holatlarda asosiy dalil shu.</a:t>
            </a:r>
            <a:endParaRPr/>
          </a:p>
        </p:txBody>
      </p:sp>
      <p:sp>
        <p:nvSpPr>
          <p:cNvPr id="1022" name="Google Shape;1022;p18"/>
          <p:cNvSpPr/>
          <p:nvPr/>
        </p:nvSpPr>
        <p:spPr>
          <a:xfrm>
            <a:off x="6233007" y="1783080"/>
            <a:ext cx="5227167" cy="16002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8"/>
          <p:cNvSpPr/>
          <p:nvPr/>
        </p:nvSpPr>
        <p:spPr>
          <a:xfrm>
            <a:off x="6233007" y="1947672"/>
            <a:ext cx="50292" cy="1271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8"/>
          <p:cNvSpPr txBox="1"/>
          <p:nvPr/>
        </p:nvSpPr>
        <p:spPr>
          <a:xfrm>
            <a:off x="6489039" y="1956816"/>
            <a:ext cx="47699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Chetlatilganlar</a:t>
            </a:r>
            <a:endParaRPr/>
          </a:p>
        </p:txBody>
      </p:sp>
      <p:sp>
        <p:nvSpPr>
          <p:cNvPr id="1025" name="Google Shape;1025;p18"/>
          <p:cNvSpPr txBox="1"/>
          <p:nvPr/>
        </p:nvSpPr>
        <p:spPr>
          <a:xfrm>
            <a:off x="6489039" y="2313432"/>
            <a:ext cx="4769967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Chetlatish turi, sababi, izohi va vaqti. Bot orqali yoki panel orqali kiritilgan chetlatishlar shu yerda yig'iladi.</a:t>
            </a:r>
            <a:endParaRPr/>
          </a:p>
        </p:txBody>
      </p:sp>
      <p:sp>
        <p:nvSpPr>
          <p:cNvPr id="1026" name="Google Shape;1026;p18"/>
          <p:cNvSpPr/>
          <p:nvPr/>
        </p:nvSpPr>
        <p:spPr>
          <a:xfrm>
            <a:off x="731520" y="36804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8"/>
          <p:cNvSpPr txBox="1"/>
          <p:nvPr/>
        </p:nvSpPr>
        <p:spPr>
          <a:xfrm>
            <a:off x="1024128" y="3584448"/>
            <a:ext cx="1043604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Filtrlar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test, viloyat, bino, smena, guruh va sana oralig'i bo'yicha.</a:t>
            </a:r>
            <a:endParaRPr/>
          </a:p>
        </p:txBody>
      </p:sp>
      <p:sp>
        <p:nvSpPr>
          <p:cNvPr id="1028" name="Google Shape;1028;p18"/>
          <p:cNvSpPr/>
          <p:nvPr/>
        </p:nvSpPr>
        <p:spPr>
          <a:xfrm>
            <a:off x="731520" y="4247388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8"/>
          <p:cNvSpPr txBox="1"/>
          <p:nvPr/>
        </p:nvSpPr>
        <p:spPr>
          <a:xfrm>
            <a:off x="1024128" y="4151376"/>
            <a:ext cx="1043604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Qatorni oching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batafsil ma'lumot va surat ko'rinadi.</a:t>
            </a:r>
            <a:endParaRPr/>
          </a:p>
        </p:txBody>
      </p:sp>
      <p:sp>
        <p:nvSpPr>
          <p:cNvPr id="1030" name="Google Shape;1030;p18"/>
          <p:cNvSpPr/>
          <p:nvPr/>
        </p:nvSpPr>
        <p:spPr>
          <a:xfrm>
            <a:off x="731520" y="481431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8"/>
          <p:cNvSpPr txBox="1"/>
          <p:nvPr/>
        </p:nvSpPr>
        <p:spPr>
          <a:xfrm>
            <a:off x="1024128" y="4718304"/>
            <a:ext cx="1043604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Hisobot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ruxsat bo'lsa, natijani faylga chiqarib rasmiylashtirish mumkin.</a:t>
            </a:r>
            <a:endParaRPr/>
          </a:p>
        </p:txBody>
      </p:sp>
      <p:sp>
        <p:nvSpPr>
          <p:cNvPr id="1032" name="Google Shape;1032;p18"/>
          <p:cNvSpPr/>
          <p:nvPr/>
        </p:nvSpPr>
        <p:spPr>
          <a:xfrm>
            <a:off x="731520" y="5440680"/>
            <a:ext cx="10728655" cy="73152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8"/>
          <p:cNvSpPr/>
          <p:nvPr/>
        </p:nvSpPr>
        <p:spPr>
          <a:xfrm>
            <a:off x="731520" y="5440680"/>
            <a:ext cx="64008" cy="7315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 txBox="1"/>
          <p:nvPr/>
        </p:nvSpPr>
        <p:spPr>
          <a:xfrm>
            <a:off x="1005840" y="55778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MAXFIYLIK</a:t>
            </a:r>
            <a:endParaRPr/>
          </a:p>
        </p:txBody>
      </p:sp>
      <p:sp>
        <p:nvSpPr>
          <p:cNvPr id="1035" name="Google Shape;1035;p18"/>
          <p:cNvSpPr txBox="1"/>
          <p:nvPr/>
        </p:nvSpPr>
        <p:spPr>
          <a:xfrm>
            <a:off x="1005840" y="5833872"/>
            <a:ext cx="101800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Loglardagi suratlar — shaxsiy ma'lumot. Ekran suratini olib tarqatish taqiqlanadi.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9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PANEL</a:t>
            </a:r>
            <a:endParaRPr/>
          </a:p>
        </p:txBody>
      </p:sp>
      <p:sp>
        <p:nvSpPr>
          <p:cNvPr id="1042" name="Google Shape;1042;p19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Xizmatlar bo'limi</a:t>
            </a:r>
            <a:endParaRPr/>
          </a:p>
        </p:txBody>
      </p:sp>
      <p:sp>
        <p:nvSpPr>
          <p:cNvPr id="1043" name="Google Shape;1043;p19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Kundalik ish uchun shart emas, lekin ba'zi holatlarda qo'l keladi. Har biri alohida ruxsat bilan ochiladi.</a:t>
            </a:r>
            <a:endParaRPr/>
          </a:p>
        </p:txBody>
      </p:sp>
      <p:sp>
        <p:nvSpPr>
          <p:cNvPr id="1044" name="Google Shape;1044;p19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9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046" name="Google Shape;1046;p19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1047" name="Google Shape;1047;p19"/>
          <p:cNvSpPr/>
          <p:nvPr/>
        </p:nvSpPr>
        <p:spPr>
          <a:xfrm>
            <a:off x="731520" y="1783080"/>
            <a:ext cx="2476423" cy="16916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9"/>
          <p:cNvSpPr/>
          <p:nvPr/>
        </p:nvSpPr>
        <p:spPr>
          <a:xfrm>
            <a:off x="731520" y="1947672"/>
            <a:ext cx="50292" cy="1362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9"/>
          <p:cNvSpPr txBox="1"/>
          <p:nvPr/>
        </p:nvSpPr>
        <p:spPr>
          <a:xfrm>
            <a:off x="987552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Rasm tekshirish</a:t>
            </a:r>
            <a:endParaRPr/>
          </a:p>
        </p:txBody>
      </p:sp>
      <p:sp>
        <p:nvSpPr>
          <p:cNvPr id="1050" name="Google Shape;1050;p19"/>
          <p:cNvSpPr txBox="1"/>
          <p:nvPr/>
        </p:nvSpPr>
        <p:spPr>
          <a:xfrm>
            <a:off x="987552" y="2313432"/>
            <a:ext cx="2019223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Bitta rasm talabga mos yoki yo'qligini aytadi: yuz bormi, o'lchami va foni to'g'rimi, yosh mos keladimi.</a:t>
            </a:r>
            <a:endParaRPr/>
          </a:p>
        </p:txBody>
      </p:sp>
      <p:sp>
        <p:nvSpPr>
          <p:cNvPr id="1051" name="Google Shape;1051;p19"/>
          <p:cNvSpPr/>
          <p:nvPr/>
        </p:nvSpPr>
        <p:spPr>
          <a:xfrm>
            <a:off x="3482263" y="1783080"/>
            <a:ext cx="2476423" cy="16916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9"/>
          <p:cNvSpPr/>
          <p:nvPr/>
        </p:nvSpPr>
        <p:spPr>
          <a:xfrm>
            <a:off x="3482263" y="1947672"/>
            <a:ext cx="50292" cy="1362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9"/>
          <p:cNvSpPr txBox="1"/>
          <p:nvPr/>
        </p:nvSpPr>
        <p:spPr>
          <a:xfrm>
            <a:off x="3738295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Yuzlarni solishtirish</a:t>
            </a:r>
            <a:endParaRPr/>
          </a:p>
        </p:txBody>
      </p:sp>
      <p:sp>
        <p:nvSpPr>
          <p:cNvPr id="1054" name="Google Shape;1054;p19"/>
          <p:cNvSpPr txBox="1"/>
          <p:nvPr/>
        </p:nvSpPr>
        <p:spPr>
          <a:xfrm>
            <a:off x="3738295" y="2313432"/>
            <a:ext cx="2019223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Ikkita rasmni solishtiradi va ular bir odammi degan savolga foiz bilan javob beradi.</a:t>
            </a:r>
            <a:endParaRPr/>
          </a:p>
        </p:txBody>
      </p:sp>
      <p:sp>
        <p:nvSpPr>
          <p:cNvPr id="1055" name="Google Shape;1055;p19"/>
          <p:cNvSpPr/>
          <p:nvPr/>
        </p:nvSpPr>
        <p:spPr>
          <a:xfrm>
            <a:off x="6233007" y="1783080"/>
            <a:ext cx="2476423" cy="16916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9"/>
          <p:cNvSpPr/>
          <p:nvPr/>
        </p:nvSpPr>
        <p:spPr>
          <a:xfrm>
            <a:off x="6233007" y="1947672"/>
            <a:ext cx="50292" cy="1362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9"/>
          <p:cNvSpPr txBox="1"/>
          <p:nvPr/>
        </p:nvSpPr>
        <p:spPr>
          <a:xfrm>
            <a:off x="6489039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Pasport info</a:t>
            </a:r>
            <a:endParaRPr/>
          </a:p>
        </p:txBody>
      </p:sp>
      <p:sp>
        <p:nvSpPr>
          <p:cNvPr id="1058" name="Google Shape;1058;p19"/>
          <p:cNvSpPr txBox="1"/>
          <p:nvPr/>
        </p:nvSpPr>
        <p:spPr>
          <a:xfrm>
            <a:off x="6489039" y="2313432"/>
            <a:ext cx="2019223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Pasport yoki JShShIR bo'yicha talabgorning ma'lumotini ko'rish.</a:t>
            </a:r>
            <a:endParaRPr/>
          </a:p>
        </p:txBody>
      </p:sp>
      <p:sp>
        <p:nvSpPr>
          <p:cNvPr id="1059" name="Google Shape;1059;p19"/>
          <p:cNvSpPr/>
          <p:nvPr/>
        </p:nvSpPr>
        <p:spPr>
          <a:xfrm>
            <a:off x="8983751" y="1783080"/>
            <a:ext cx="2476423" cy="169164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9"/>
          <p:cNvSpPr/>
          <p:nvPr/>
        </p:nvSpPr>
        <p:spPr>
          <a:xfrm>
            <a:off x="8983751" y="1947672"/>
            <a:ext cx="50292" cy="1362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9"/>
          <p:cNvSpPr txBox="1"/>
          <p:nvPr/>
        </p:nvSpPr>
        <p:spPr>
          <a:xfrm>
            <a:off x="9239783" y="1956816"/>
            <a:ext cx="20192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 olish / Qabul</a:t>
            </a:r>
            <a:endParaRPr/>
          </a:p>
        </p:txBody>
      </p:sp>
      <p:sp>
        <p:nvSpPr>
          <p:cNvPr id="1062" name="Google Shape;1062;p19"/>
          <p:cNvSpPr txBox="1"/>
          <p:nvPr/>
        </p:nvSpPr>
        <p:spPr>
          <a:xfrm>
            <a:off x="9239783" y="2313432"/>
            <a:ext cx="2019223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Maxsus texnik xizmatlar — faqat mas'ul xodimlar uchun.</a:t>
            </a:r>
            <a:endParaRPr/>
          </a:p>
        </p:txBody>
      </p:sp>
      <p:sp>
        <p:nvSpPr>
          <p:cNvPr id="1063" name="Google Shape;1063;p19"/>
          <p:cNvSpPr/>
          <p:nvPr/>
        </p:nvSpPr>
        <p:spPr>
          <a:xfrm>
            <a:off x="731520" y="3749039"/>
            <a:ext cx="10728655" cy="960120"/>
          </a:xfrm>
          <a:prstGeom prst="roundRect">
            <a:avLst>
              <a:gd fmla="val 9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9"/>
          <p:cNvSpPr/>
          <p:nvPr/>
        </p:nvSpPr>
        <p:spPr>
          <a:xfrm>
            <a:off x="731520" y="3749039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9"/>
          <p:cNvSpPr txBox="1"/>
          <p:nvPr/>
        </p:nvSpPr>
        <p:spPr>
          <a:xfrm>
            <a:off x="1005840" y="38862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QANDAY ISHLAYDI</a:t>
            </a:r>
            <a:endParaRPr/>
          </a:p>
        </p:txBody>
      </p:sp>
      <p:sp>
        <p:nvSpPr>
          <p:cNvPr id="1066" name="Google Shape;1066;p19"/>
          <p:cNvSpPr txBox="1"/>
          <p:nvPr/>
        </p:nvSpPr>
        <p:spPr>
          <a:xfrm>
            <a:off x="1005840" y="4142231"/>
            <a:ext cx="101800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Natija darhol chiqmasligi mumkin: so'rov navbatga qo'yiladi va odatda bir necha soniyada tayyor bo'ladi. Server band bo'lsa "keyinroq urinib ko'ring" degan xabar chiqadi — 10–20 soniyadan keyin qayta urinib ko'ring.</a:t>
            </a:r>
            <a:endParaRPr/>
          </a:p>
        </p:txBody>
      </p:sp>
      <p:sp>
        <p:nvSpPr>
          <p:cNvPr id="1067" name="Google Shape;1067;p19"/>
          <p:cNvSpPr/>
          <p:nvPr/>
        </p:nvSpPr>
        <p:spPr>
          <a:xfrm>
            <a:off x="731520" y="493776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9"/>
          <p:cNvSpPr/>
          <p:nvPr/>
        </p:nvSpPr>
        <p:spPr>
          <a:xfrm>
            <a:off x="731520" y="4937760"/>
            <a:ext cx="64008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19"/>
          <p:cNvSpPr txBox="1"/>
          <p:nvPr/>
        </p:nvSpPr>
        <p:spPr>
          <a:xfrm>
            <a:off x="1005840" y="507492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MASLAHAT</a:t>
            </a:r>
            <a:endParaRPr/>
          </a:p>
        </p:txBody>
      </p:sp>
      <p:sp>
        <p:nvSpPr>
          <p:cNvPr id="1070" name="Google Shape;1070;p19"/>
          <p:cNvSpPr txBox="1"/>
          <p:nvPr/>
        </p:nvSpPr>
        <p:spPr>
          <a:xfrm>
            <a:off x="1005840" y="5330952"/>
            <a:ext cx="1018001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Rasm sifati muhim: yorug' joyda, yuz to'liq ko'rinadigan, bosh kiyimsiz va ko'zoynaksiz surat eng yaxshi natija beradi.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3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0"/>
          <p:cNvSpPr txBox="1"/>
          <p:nvPr/>
        </p:nvSpPr>
        <p:spPr>
          <a:xfrm>
            <a:off x="731520" y="384048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YAKUN</a:t>
            </a:r>
            <a:endParaRPr/>
          </a:p>
        </p:txBody>
      </p:sp>
      <p:sp>
        <p:nvSpPr>
          <p:cNvPr id="1077" name="Google Shape;1077;p30"/>
          <p:cNvSpPr txBox="1"/>
          <p:nvPr/>
        </p:nvSpPr>
        <p:spPr>
          <a:xfrm>
            <a:off x="731520" y="603504"/>
            <a:ext cx="10728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Xavfsizlik qoidalari va yordam</a:t>
            </a:r>
            <a:endParaRPr/>
          </a:p>
        </p:txBody>
      </p:sp>
      <p:sp>
        <p:nvSpPr>
          <p:cNvPr id="1078" name="Google Shape;1078;p30"/>
          <p:cNvSpPr txBox="1"/>
          <p:nvPr/>
        </p:nvSpPr>
        <p:spPr>
          <a:xfrm>
            <a:off x="731520" y="1161288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Tizimda shaxsiy ma'lumotlar va davlat imtihoni natijalariga ta'sir qiluvchi yozuvlar saqlanadi.</a:t>
            </a:r>
            <a:endParaRPr/>
          </a:p>
        </p:txBody>
      </p:sp>
      <p:sp>
        <p:nvSpPr>
          <p:cNvPr id="1079" name="Google Shape;1079;p30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0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FaceID · Davomat platformasi — foydalanuvchi qo'llanmasi</a:t>
            </a:r>
            <a:endParaRPr/>
          </a:p>
        </p:txBody>
      </p:sp>
      <p:sp>
        <p:nvSpPr>
          <p:cNvPr id="1081" name="Google Shape;1081;p30"/>
          <p:cNvSpPr txBox="1"/>
          <p:nvPr/>
        </p:nvSpPr>
        <p:spPr>
          <a:xfrm>
            <a:off x="10362895" y="64373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1082" name="Google Shape;1082;p30"/>
          <p:cNvSpPr/>
          <p:nvPr/>
        </p:nvSpPr>
        <p:spPr>
          <a:xfrm>
            <a:off x="731520" y="18516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0"/>
          <p:cNvSpPr txBox="1"/>
          <p:nvPr/>
        </p:nvSpPr>
        <p:spPr>
          <a:xfrm>
            <a:off x="1024128" y="1755648"/>
            <a:ext cx="49651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Hisobingiz shaxsiy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login/parolni bo'lishmang, boshqaning hisobidan ishlamang.</a:t>
            </a:r>
            <a:endParaRPr/>
          </a:p>
        </p:txBody>
      </p:sp>
      <p:sp>
        <p:nvSpPr>
          <p:cNvPr id="1084" name="Google Shape;1084;p30"/>
          <p:cNvSpPr/>
          <p:nvPr/>
        </p:nvSpPr>
        <p:spPr>
          <a:xfrm>
            <a:off x="731520" y="247345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0"/>
          <p:cNvSpPr txBox="1"/>
          <p:nvPr/>
        </p:nvSpPr>
        <p:spPr>
          <a:xfrm>
            <a:off x="1024128" y="2377440"/>
            <a:ext cx="49651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Ish tugagach chiqing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umumiy kompyuterda "Chiqish" majburiy.</a:t>
            </a:r>
            <a:endParaRPr/>
          </a:p>
        </p:txBody>
      </p:sp>
      <p:sp>
        <p:nvSpPr>
          <p:cNvPr id="1086" name="Google Shape;1086;p30"/>
          <p:cNvSpPr/>
          <p:nvPr/>
        </p:nvSpPr>
        <p:spPr>
          <a:xfrm>
            <a:off x="731520" y="309524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0"/>
          <p:cNvSpPr txBox="1"/>
          <p:nvPr/>
        </p:nvSpPr>
        <p:spPr>
          <a:xfrm>
            <a:off x="1024128" y="2999232"/>
            <a:ext cx="49651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Ma'lumot maxfiy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ro'yxat, surat va hisobotlarni tashqariga tarqatmang.</a:t>
            </a:r>
            <a:endParaRPr/>
          </a:p>
        </p:txBody>
      </p:sp>
      <p:sp>
        <p:nvSpPr>
          <p:cNvPr id="1088" name="Google Shape;1088;p30"/>
          <p:cNvSpPr/>
          <p:nvPr/>
        </p:nvSpPr>
        <p:spPr>
          <a:xfrm>
            <a:off x="731520" y="371703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0"/>
          <p:cNvSpPr txBox="1"/>
          <p:nvPr/>
        </p:nvSpPr>
        <p:spPr>
          <a:xfrm>
            <a:off x="1024128" y="3621024"/>
            <a:ext cx="49651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bir amal loglanadi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kim, qachon, qaysi IP dan bajargani saqlanadi.</a:t>
            </a:r>
            <a:endParaRPr/>
          </a:p>
        </p:txBody>
      </p:sp>
      <p:sp>
        <p:nvSpPr>
          <p:cNvPr id="1090" name="Google Shape;1090;p30"/>
          <p:cNvSpPr/>
          <p:nvPr/>
        </p:nvSpPr>
        <p:spPr>
          <a:xfrm>
            <a:off x="6400800" y="1851660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0"/>
          <p:cNvSpPr txBox="1"/>
          <p:nvPr/>
        </p:nvSpPr>
        <p:spPr>
          <a:xfrm>
            <a:off x="6693408" y="1755648"/>
            <a:ext cx="4764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Qaytarilmas amallar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o'chirish va binoni ommaviy o'zgartirish qaytarilmaydi.</a:t>
            </a:r>
            <a:endParaRPr/>
          </a:p>
        </p:txBody>
      </p:sp>
      <p:sp>
        <p:nvSpPr>
          <p:cNvPr id="1092" name="Google Shape;1092;p30"/>
          <p:cNvSpPr/>
          <p:nvPr/>
        </p:nvSpPr>
        <p:spPr>
          <a:xfrm>
            <a:off x="6400800" y="2473452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0"/>
          <p:cNvSpPr txBox="1"/>
          <p:nvPr/>
        </p:nvSpPr>
        <p:spPr>
          <a:xfrm>
            <a:off x="6693408" y="2377440"/>
            <a:ext cx="4764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Shubha bo'lsa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amalni bajarmang, avval mas'ul xodim bilan maslahatlashing.</a:t>
            </a:r>
            <a:endParaRPr/>
          </a:p>
        </p:txBody>
      </p:sp>
      <p:sp>
        <p:nvSpPr>
          <p:cNvPr id="1094" name="Google Shape;1094;p30"/>
          <p:cNvSpPr/>
          <p:nvPr/>
        </p:nvSpPr>
        <p:spPr>
          <a:xfrm>
            <a:off x="6400800" y="3095244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0"/>
          <p:cNvSpPr txBox="1"/>
          <p:nvPr/>
        </p:nvSpPr>
        <p:spPr>
          <a:xfrm>
            <a:off x="6693408" y="2999232"/>
            <a:ext cx="4764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Muammoni qanday aytish kerak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ekran surati, aniq vaqt va nima qilganingizni yozing.</a:t>
            </a:r>
            <a:endParaRPr/>
          </a:p>
        </p:txBody>
      </p:sp>
      <p:sp>
        <p:nvSpPr>
          <p:cNvPr id="1096" name="Google Shape;1096;p30"/>
          <p:cNvSpPr/>
          <p:nvPr/>
        </p:nvSpPr>
        <p:spPr>
          <a:xfrm>
            <a:off x="6400800" y="3717036"/>
            <a:ext cx="100584" cy="100584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0"/>
          <p:cNvSpPr txBox="1"/>
          <p:nvPr/>
        </p:nvSpPr>
        <p:spPr>
          <a:xfrm>
            <a:off x="6693408" y="3621024"/>
            <a:ext cx="4764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Yangi ruxsat kerakmi —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administratorga qaysi sahifa va amal kerakligini ayting.</a:t>
            </a:r>
            <a:endParaRPr/>
          </a:p>
        </p:txBody>
      </p:sp>
      <p:sp>
        <p:nvSpPr>
          <p:cNvPr id="1098" name="Google Shape;1098;p30"/>
          <p:cNvSpPr/>
          <p:nvPr/>
        </p:nvSpPr>
        <p:spPr>
          <a:xfrm>
            <a:off x="731520" y="4434840"/>
            <a:ext cx="10728655" cy="914400"/>
          </a:xfrm>
          <a:prstGeom prst="roundRect">
            <a:avLst>
              <a:gd fmla="val 9000" name="adj"/>
            </a:avLst>
          </a:prstGeom>
          <a:solidFill>
            <a:srgbClr val="FFE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0"/>
          <p:cNvSpPr/>
          <p:nvPr/>
        </p:nvSpPr>
        <p:spPr>
          <a:xfrm>
            <a:off x="731520" y="4434840"/>
            <a:ext cx="6400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0"/>
          <p:cNvSpPr txBox="1"/>
          <p:nvPr/>
        </p:nvSpPr>
        <p:spPr>
          <a:xfrm>
            <a:off x="1005840" y="45720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XAVFSIZLIK</a:t>
            </a:r>
            <a:endParaRPr/>
          </a:p>
        </p:txBody>
      </p:sp>
      <p:sp>
        <p:nvSpPr>
          <p:cNvPr id="1101" name="Google Shape;1101;p30"/>
          <p:cNvSpPr txBox="1"/>
          <p:nvPr/>
        </p:nvSpPr>
        <p:spPr>
          <a:xfrm>
            <a:off x="1005840" y="4828031"/>
            <a:ext cx="1018001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 qanday shubhali holat (boshqa odamning hisobi ochiq qolgan, notanish qurilmadan kirish, ma'lumot mos kelmasligi) darhol administratorga xabar qilinishi shart.</a:t>
            </a:r>
            <a:endParaRPr/>
          </a:p>
        </p:txBody>
      </p:sp>
      <p:sp>
        <p:nvSpPr>
          <p:cNvPr id="1102" name="Google Shape;1102;p30"/>
          <p:cNvSpPr/>
          <p:nvPr/>
        </p:nvSpPr>
        <p:spPr>
          <a:xfrm>
            <a:off x="731520" y="5577840"/>
            <a:ext cx="10728655" cy="502920"/>
          </a:xfrm>
          <a:prstGeom prst="roundRect">
            <a:avLst>
              <a:gd fmla="val 8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0"/>
          <p:cNvSpPr txBox="1"/>
          <p:nvPr/>
        </p:nvSpPr>
        <p:spPr>
          <a:xfrm>
            <a:off x="731520" y="5705856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Savollar va texnik yordam uchun: mas'ul administrator yoki tizim muhandisiga murojaat qiling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